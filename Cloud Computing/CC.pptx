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3568" y="1244317"/>
            <a:ext cx="15227935" cy="3190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E84848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2254D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E84848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2254D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E84848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E84848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9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6481" y="1033574"/>
            <a:ext cx="14963140" cy="212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E84848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83328" y="3175675"/>
            <a:ext cx="7693659" cy="4987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2254D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10185" rIns="0" bIns="0" rtlCol="0" vert="horz">
            <a:spAutoFit/>
          </a:bodyPr>
          <a:lstStyle/>
          <a:p>
            <a:pPr marL="12700" marR="5080">
              <a:lnSpc>
                <a:spcPts val="7790"/>
              </a:lnSpc>
              <a:spcBef>
                <a:spcPts val="1655"/>
              </a:spcBef>
            </a:pPr>
            <a:r>
              <a:rPr dirty="0" sz="7750" spc="545">
                <a:solidFill>
                  <a:srgbClr val="F9F5EB"/>
                </a:solidFill>
              </a:rPr>
              <a:t>Impactul</a:t>
            </a:r>
            <a:r>
              <a:rPr dirty="0" sz="7750" spc="185">
                <a:solidFill>
                  <a:srgbClr val="F9F5EB"/>
                </a:solidFill>
              </a:rPr>
              <a:t> </a:t>
            </a:r>
            <a:r>
              <a:rPr dirty="0" sz="7750" spc="430">
                <a:solidFill>
                  <a:srgbClr val="F9F5EB"/>
                </a:solidFill>
              </a:rPr>
              <a:t>Protocolului</a:t>
            </a:r>
            <a:r>
              <a:rPr dirty="0" sz="7750" spc="190">
                <a:solidFill>
                  <a:srgbClr val="F9F5EB"/>
                </a:solidFill>
              </a:rPr>
              <a:t> </a:t>
            </a:r>
            <a:r>
              <a:rPr dirty="0" sz="7750" spc="890">
                <a:solidFill>
                  <a:srgbClr val="F9F5EB"/>
                </a:solidFill>
              </a:rPr>
              <a:t>MCP</a:t>
            </a:r>
            <a:r>
              <a:rPr dirty="0" sz="7750" spc="185">
                <a:solidFill>
                  <a:srgbClr val="F9F5EB"/>
                </a:solidFill>
              </a:rPr>
              <a:t> </a:t>
            </a:r>
            <a:r>
              <a:rPr dirty="0" sz="7750" spc="455">
                <a:solidFill>
                  <a:srgbClr val="F9F5EB"/>
                </a:solidFill>
              </a:rPr>
              <a:t>asupra </a:t>
            </a:r>
            <a:r>
              <a:rPr dirty="0" sz="7750" spc="440">
                <a:solidFill>
                  <a:srgbClr val="F9F5EB"/>
                </a:solidFill>
              </a:rPr>
              <a:t>Interoperabilității</a:t>
            </a:r>
            <a:r>
              <a:rPr dirty="0" sz="7750" spc="215">
                <a:solidFill>
                  <a:srgbClr val="F9F5EB"/>
                </a:solidFill>
              </a:rPr>
              <a:t> </a:t>
            </a:r>
            <a:r>
              <a:rPr dirty="0" sz="7750" spc="390">
                <a:solidFill>
                  <a:srgbClr val="F9F5EB"/>
                </a:solidFill>
              </a:rPr>
              <a:t>în</a:t>
            </a:r>
            <a:r>
              <a:rPr dirty="0" sz="7750" spc="220">
                <a:solidFill>
                  <a:srgbClr val="F9F5EB"/>
                </a:solidFill>
              </a:rPr>
              <a:t> </a:t>
            </a:r>
            <a:r>
              <a:rPr dirty="0" sz="7750" spc="620">
                <a:solidFill>
                  <a:srgbClr val="F9F5EB"/>
                </a:solidFill>
              </a:rPr>
              <a:t>Web-</a:t>
            </a:r>
            <a:r>
              <a:rPr dirty="0" sz="7750" spc="475">
                <a:solidFill>
                  <a:srgbClr val="F9F5EB"/>
                </a:solidFill>
              </a:rPr>
              <a:t>ul </a:t>
            </a:r>
            <a:r>
              <a:rPr dirty="0" sz="7750" spc="495">
                <a:solidFill>
                  <a:srgbClr val="F9F5EB"/>
                </a:solidFill>
              </a:rPr>
              <a:t>Agentic</a:t>
            </a:r>
            <a:r>
              <a:rPr dirty="0" sz="7750" spc="165">
                <a:solidFill>
                  <a:srgbClr val="F9F5EB"/>
                </a:solidFill>
              </a:rPr>
              <a:t> </a:t>
            </a:r>
            <a:r>
              <a:rPr dirty="0" sz="7750" spc="450">
                <a:solidFill>
                  <a:srgbClr val="F9F5EB"/>
                </a:solidFill>
              </a:rPr>
              <a:t>Deschis</a:t>
            </a:r>
            <a:endParaRPr sz="7750"/>
          </a:p>
        </p:txBody>
      </p:sp>
      <p:sp>
        <p:nvSpPr>
          <p:cNvPr id="3" name="object 3"/>
          <p:cNvSpPr txBox="1"/>
          <p:nvPr/>
        </p:nvSpPr>
        <p:spPr>
          <a:xfrm>
            <a:off x="5642316" y="5047862"/>
            <a:ext cx="7000875" cy="20916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635">
              <a:lnSpc>
                <a:spcPct val="100400"/>
              </a:lnSpc>
              <a:spcBef>
                <a:spcPts val="95"/>
              </a:spcBef>
            </a:pPr>
            <a:r>
              <a:rPr dirty="0" sz="4500" spc="415" b="1">
                <a:solidFill>
                  <a:srgbClr val="F9F5EB"/>
                </a:solidFill>
                <a:latin typeface="Arial Narrow"/>
                <a:cs typeface="Arial Narrow"/>
              </a:rPr>
              <a:t>Matei</a:t>
            </a:r>
            <a:r>
              <a:rPr dirty="0" sz="4500" spc="105" b="1">
                <a:solidFill>
                  <a:srgbClr val="F9F5EB"/>
                </a:solidFill>
                <a:latin typeface="Arial Narrow"/>
                <a:cs typeface="Arial Narrow"/>
              </a:rPr>
              <a:t> </a:t>
            </a:r>
            <a:r>
              <a:rPr dirty="0" sz="4500" spc="260" b="1">
                <a:solidFill>
                  <a:srgbClr val="F9F5EB"/>
                </a:solidFill>
                <a:latin typeface="Arial Narrow"/>
                <a:cs typeface="Arial Narrow"/>
              </a:rPr>
              <a:t>Daniel</a:t>
            </a:r>
            <a:r>
              <a:rPr dirty="0" sz="4500" spc="105" b="1">
                <a:solidFill>
                  <a:srgbClr val="F9F5EB"/>
                </a:solidFill>
                <a:latin typeface="Arial Narrow"/>
                <a:cs typeface="Arial Narrow"/>
              </a:rPr>
              <a:t> </a:t>
            </a:r>
            <a:r>
              <a:rPr dirty="0" sz="4500" spc="310" b="1">
                <a:solidFill>
                  <a:srgbClr val="F9F5EB"/>
                </a:solidFill>
                <a:latin typeface="Arial Narrow"/>
                <a:cs typeface="Arial Narrow"/>
              </a:rPr>
              <a:t>Mîndruleanu </a:t>
            </a:r>
            <a:r>
              <a:rPr dirty="0" sz="4500" spc="395" b="1">
                <a:solidFill>
                  <a:srgbClr val="F9F5EB"/>
                </a:solidFill>
                <a:latin typeface="Arial Narrow"/>
                <a:cs typeface="Arial Narrow"/>
              </a:rPr>
              <a:t>Master</a:t>
            </a:r>
            <a:r>
              <a:rPr dirty="0" sz="4500" spc="130" b="1">
                <a:solidFill>
                  <a:srgbClr val="F9F5EB"/>
                </a:solidFill>
                <a:latin typeface="Arial Narrow"/>
                <a:cs typeface="Arial Narrow"/>
              </a:rPr>
              <a:t> </a:t>
            </a:r>
            <a:r>
              <a:rPr dirty="0" sz="4500" spc="365" b="1">
                <a:solidFill>
                  <a:srgbClr val="F9F5EB"/>
                </a:solidFill>
                <a:latin typeface="Arial Narrow"/>
                <a:cs typeface="Arial Narrow"/>
              </a:rPr>
              <a:t>BDTS-</a:t>
            </a:r>
            <a:r>
              <a:rPr dirty="0" sz="4500" spc="200" b="1">
                <a:solidFill>
                  <a:srgbClr val="F9F5EB"/>
                </a:solidFill>
                <a:latin typeface="Arial Narrow"/>
                <a:cs typeface="Arial Narrow"/>
              </a:rPr>
              <a:t>IFR </a:t>
            </a:r>
            <a:r>
              <a:rPr dirty="0" sz="4500" spc="280" b="1">
                <a:solidFill>
                  <a:srgbClr val="F9F5EB"/>
                </a:solidFill>
                <a:latin typeface="Arial Narrow"/>
                <a:cs typeface="Arial Narrow"/>
              </a:rPr>
              <a:t>Universitatea</a:t>
            </a:r>
            <a:r>
              <a:rPr dirty="0" sz="4500" spc="100" b="1">
                <a:solidFill>
                  <a:srgbClr val="F9F5EB"/>
                </a:solidFill>
                <a:latin typeface="Arial Narrow"/>
                <a:cs typeface="Arial Narrow"/>
              </a:rPr>
              <a:t> </a:t>
            </a:r>
            <a:r>
              <a:rPr dirty="0" sz="4500" spc="235" b="1">
                <a:solidFill>
                  <a:srgbClr val="F9F5EB"/>
                </a:solidFill>
                <a:latin typeface="Arial Narrow"/>
                <a:cs typeface="Arial Narrow"/>
              </a:rPr>
              <a:t>din</a:t>
            </a:r>
            <a:r>
              <a:rPr dirty="0" sz="4500" spc="105" b="1">
                <a:solidFill>
                  <a:srgbClr val="F9F5EB"/>
                </a:solidFill>
                <a:latin typeface="Arial Narrow"/>
                <a:cs typeface="Arial Narrow"/>
              </a:rPr>
              <a:t> </a:t>
            </a:r>
            <a:r>
              <a:rPr dirty="0" sz="4500" spc="245" b="1">
                <a:solidFill>
                  <a:srgbClr val="F9F5EB"/>
                </a:solidFill>
                <a:latin typeface="Arial Narrow"/>
                <a:cs typeface="Arial Narrow"/>
              </a:rPr>
              <a:t>București</a:t>
            </a:r>
            <a:endParaRPr sz="45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94984" y="4758607"/>
            <a:ext cx="4262755" cy="2701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877569">
              <a:lnSpc>
                <a:spcPct val="100000"/>
              </a:lnSpc>
              <a:spcBef>
                <a:spcPts val="105"/>
              </a:spcBef>
            </a:pPr>
            <a:r>
              <a:rPr dirty="0" sz="2750" spc="200">
                <a:solidFill>
                  <a:srgbClr val="02254D"/>
                </a:solidFill>
                <a:latin typeface="Arial Narrow"/>
                <a:cs typeface="Arial Narrow"/>
              </a:rPr>
              <a:t>Evoluția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5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00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aplicații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clasice</a:t>
            </a:r>
            <a:r>
              <a:rPr dirty="0" sz="275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00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7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70">
                <a:solidFill>
                  <a:srgbClr val="02254D"/>
                </a:solidFill>
                <a:latin typeface="Arial Narrow"/>
                <a:cs typeface="Arial Narrow"/>
              </a:rPr>
              <a:t>sisteme </a:t>
            </a:r>
            <a:r>
              <a:rPr dirty="0" sz="2750" spc="260">
                <a:solidFill>
                  <a:srgbClr val="02254D"/>
                </a:solidFill>
                <a:latin typeface="Arial Narrow"/>
                <a:cs typeface="Arial Narrow"/>
              </a:rPr>
              <a:t>multi-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agent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Tranziția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aplicații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monolitice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20">
                <a:solidFill>
                  <a:srgbClr val="02254D"/>
                </a:solidFill>
                <a:latin typeface="Arial Narrow"/>
                <a:cs typeface="Arial Narrow"/>
              </a:rPr>
              <a:t>la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sisteme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multi-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agent</a:t>
            </a:r>
            <a:r>
              <a:rPr dirty="0" sz="21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distribuie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responsabilitățile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crește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flexibilitatea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14">
                <a:solidFill>
                  <a:srgbClr val="02254D"/>
                </a:solidFill>
                <a:latin typeface="Arial Narrow"/>
                <a:cs typeface="Arial Narrow"/>
              </a:rPr>
              <a:t>în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mediile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cloud.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99665" y="4758607"/>
            <a:ext cx="4240530" cy="1962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7785">
              <a:lnSpc>
                <a:spcPct val="100000"/>
              </a:lnSpc>
              <a:spcBef>
                <a:spcPts val="105"/>
              </a:spcBef>
            </a:pP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Interoperabilitatea</a:t>
            </a:r>
            <a:r>
              <a:rPr dirty="0" sz="2750" spc="10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550">
                <a:solidFill>
                  <a:srgbClr val="02254D"/>
                </a:solidFill>
                <a:latin typeface="Arial Narrow"/>
                <a:cs typeface="Arial Narrow"/>
              </a:rPr>
              <a:t>–</a:t>
            </a:r>
            <a:r>
              <a:rPr dirty="0" sz="2750" spc="9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60">
                <a:solidFill>
                  <a:srgbClr val="02254D"/>
                </a:solidFill>
                <a:latin typeface="Arial Narrow"/>
                <a:cs typeface="Arial Narrow"/>
              </a:rPr>
              <a:t>factor 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cheie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Permite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comunicarea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cooperarea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eficientă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0">
                <a:solidFill>
                  <a:srgbClr val="02254D"/>
                </a:solidFill>
                <a:latin typeface="Arial Narrow"/>
                <a:cs typeface="Arial Narrow"/>
              </a:rPr>
              <a:t>între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35">
                <a:solidFill>
                  <a:srgbClr val="02254D"/>
                </a:solidFill>
                <a:latin typeface="Arial Narrow"/>
                <a:cs typeface="Arial Narrow"/>
              </a:rPr>
              <a:t>agenți,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indiferent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de </a:t>
            </a:r>
            <a:r>
              <a:rPr dirty="0" sz="2100" spc="204">
                <a:solidFill>
                  <a:srgbClr val="02254D"/>
                </a:solidFill>
                <a:latin typeface="Arial Narrow"/>
                <a:cs typeface="Arial Narrow"/>
              </a:rPr>
              <a:t>platformă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sau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furnizorul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cloud.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4348" y="4758607"/>
            <a:ext cx="4182745" cy="2602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105"/>
              </a:spcBef>
            </a:pP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Web-</a:t>
            </a:r>
            <a:r>
              <a:rPr dirty="0" sz="2750" spc="145">
                <a:solidFill>
                  <a:srgbClr val="02254D"/>
                </a:solidFill>
                <a:latin typeface="Arial Narrow"/>
                <a:cs typeface="Arial Narrow"/>
              </a:rPr>
              <a:t>ul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50">
                <a:solidFill>
                  <a:srgbClr val="02254D"/>
                </a:solidFill>
                <a:latin typeface="Arial Narrow"/>
                <a:cs typeface="Arial Narrow"/>
              </a:rPr>
              <a:t>Agentic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0">
                <a:solidFill>
                  <a:srgbClr val="02254D"/>
                </a:solidFill>
                <a:latin typeface="Arial Narrow"/>
                <a:cs typeface="Arial Narrow"/>
              </a:rPr>
              <a:t>Deschis: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60">
                <a:solidFill>
                  <a:srgbClr val="02254D"/>
                </a:solidFill>
                <a:latin typeface="Arial Narrow"/>
                <a:cs typeface="Arial Narrow"/>
              </a:rPr>
              <a:t>o 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rețea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globală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5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agenți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Agenți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0">
                <a:solidFill>
                  <a:srgbClr val="02254D"/>
                </a:solidFill>
                <a:latin typeface="Arial Narrow"/>
                <a:cs typeface="Arial Narrow"/>
              </a:rPr>
              <a:t>software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4">
                <a:solidFill>
                  <a:srgbClr val="02254D"/>
                </a:solidFill>
                <a:latin typeface="Arial Narrow"/>
                <a:cs typeface="Arial Narrow"/>
              </a:rPr>
              <a:t>autonomi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colaborează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14">
                <a:solidFill>
                  <a:srgbClr val="02254D"/>
                </a:solidFill>
                <a:latin typeface="Arial Narrow"/>
                <a:cs typeface="Arial Narrow"/>
              </a:rPr>
              <a:t>într-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o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rețea</a:t>
            </a:r>
            <a:r>
              <a:rPr dirty="0" sz="21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25">
                <a:solidFill>
                  <a:srgbClr val="02254D"/>
                </a:solidFill>
                <a:latin typeface="Arial Narrow"/>
                <a:cs typeface="Arial Narrow"/>
              </a:rPr>
              <a:t>globală, 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folosind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protocoale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standarde </a:t>
            </a:r>
            <a:r>
              <a:rPr dirty="0" sz="2100" spc="235">
                <a:solidFill>
                  <a:srgbClr val="02254D"/>
                </a:solidFill>
                <a:latin typeface="Arial Narrow"/>
                <a:cs typeface="Arial Narrow"/>
              </a:rPr>
              <a:t>comune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pentru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0">
                <a:solidFill>
                  <a:srgbClr val="02254D"/>
                </a:solidFill>
                <a:latin typeface="Arial Narrow"/>
                <a:cs typeface="Arial Narrow"/>
              </a:rPr>
              <a:t>schimbul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date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0">
                <a:solidFill>
                  <a:srgbClr val="02254D"/>
                </a:solidFill>
                <a:latin typeface="Arial Narrow"/>
                <a:cs typeface="Arial Narrow"/>
              </a:rPr>
              <a:t>și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capabilități.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 h="0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34"/>
              <a:t>Introducere</a:t>
            </a:r>
            <a:r>
              <a:rPr dirty="0" spc="175"/>
              <a:t> </a:t>
            </a:r>
            <a:r>
              <a:rPr dirty="0" spc="380"/>
              <a:t>în</a:t>
            </a:r>
            <a:r>
              <a:rPr dirty="0" spc="170"/>
              <a:t> </a:t>
            </a:r>
            <a:r>
              <a:rPr dirty="0" spc="595"/>
              <a:t>Web-</a:t>
            </a:r>
            <a:r>
              <a:rPr dirty="0" spc="434"/>
              <a:t>ul</a:t>
            </a:r>
            <a:r>
              <a:rPr dirty="0" spc="175"/>
              <a:t> </a:t>
            </a:r>
            <a:r>
              <a:rPr dirty="0" spc="465"/>
              <a:t>Agentic</a:t>
            </a:r>
          </a:p>
        </p:txBody>
      </p:sp>
      <p:sp>
        <p:nvSpPr>
          <p:cNvPr id="7" name="object 7"/>
          <p:cNvSpPr/>
          <p:nvPr/>
        </p:nvSpPr>
        <p:spPr>
          <a:xfrm>
            <a:off x="12506796" y="4821921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11484" y="4821921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6161" y="4821921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94984" y="4790534"/>
            <a:ext cx="4328160" cy="1720214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Caracteristici</a:t>
            </a:r>
            <a:r>
              <a:rPr dirty="0" sz="275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cheie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70"/>
              </a:spcBef>
            </a:pP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Autonomie,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reactivitate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schimbări,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proactivitate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capacitatea</a:t>
            </a:r>
            <a:r>
              <a:rPr dirty="0" sz="21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20">
                <a:solidFill>
                  <a:srgbClr val="02254D"/>
                </a:solidFill>
                <a:latin typeface="Arial Narrow"/>
                <a:cs typeface="Arial Narrow"/>
              </a:rPr>
              <a:t>a </a:t>
            </a:r>
            <a:r>
              <a:rPr dirty="0" sz="2100" spc="220">
                <a:solidFill>
                  <a:srgbClr val="02254D"/>
                </a:solidFill>
                <a:latin typeface="Arial Narrow"/>
                <a:cs typeface="Arial Narrow"/>
              </a:rPr>
              <a:t>comunica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4">
                <a:solidFill>
                  <a:srgbClr val="02254D"/>
                </a:solidFill>
                <a:latin typeface="Arial Narrow"/>
                <a:cs typeface="Arial Narrow"/>
              </a:rPr>
              <a:t>cu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alți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agenți.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99665" y="4790534"/>
            <a:ext cx="4333875" cy="1720214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510"/>
              </a:spcBef>
            </a:pPr>
            <a:r>
              <a:rPr dirty="0" sz="2750" spc="190">
                <a:solidFill>
                  <a:srgbClr val="02254D"/>
                </a:solidFill>
                <a:latin typeface="Arial Narrow"/>
                <a:cs typeface="Arial Narrow"/>
              </a:rPr>
              <a:t>Percepție,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9">
                <a:solidFill>
                  <a:srgbClr val="02254D"/>
                </a:solidFill>
                <a:latin typeface="Arial Narrow"/>
                <a:cs typeface="Arial Narrow"/>
              </a:rPr>
              <a:t>decizie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acțiune</a:t>
            </a:r>
            <a:endParaRPr sz="2750">
              <a:latin typeface="Arial Narrow"/>
              <a:cs typeface="Arial Narrow"/>
            </a:endParaRPr>
          </a:p>
          <a:p>
            <a:pPr algn="just" marL="12700" marR="74930">
              <a:lnSpc>
                <a:spcPct val="100000"/>
              </a:lnSpc>
              <a:spcBef>
                <a:spcPts val="1070"/>
              </a:spcBef>
            </a:pP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Agenții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percep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mediul,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iau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decizii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pe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baza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obiectivelor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definite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execută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acțiuni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14">
                <a:solidFill>
                  <a:srgbClr val="02254D"/>
                </a:solidFill>
                <a:latin typeface="Arial Narrow"/>
                <a:cs typeface="Arial Narrow"/>
              </a:rPr>
              <a:t>în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80">
                <a:solidFill>
                  <a:srgbClr val="02254D"/>
                </a:solidFill>
                <a:latin typeface="Arial Narrow"/>
                <a:cs typeface="Arial Narrow"/>
              </a:rPr>
              <a:t>mod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autonom.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4348" y="4968714"/>
            <a:ext cx="3829050" cy="2282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750" spc="229">
                <a:solidFill>
                  <a:srgbClr val="02254D"/>
                </a:solidFill>
                <a:latin typeface="Arial Narrow"/>
                <a:cs typeface="Arial Narrow"/>
              </a:rPr>
              <a:t>Agenții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software: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entități </a:t>
            </a:r>
            <a:r>
              <a:rPr dirty="0" sz="2750" spc="290">
                <a:solidFill>
                  <a:srgbClr val="02254D"/>
                </a:solidFill>
                <a:latin typeface="Arial Narrow"/>
                <a:cs typeface="Arial Narrow"/>
              </a:rPr>
              <a:t>autonome</a:t>
            </a:r>
            <a:endParaRPr sz="2750">
              <a:latin typeface="Arial Narrow"/>
              <a:cs typeface="Arial Narrow"/>
            </a:endParaRPr>
          </a:p>
          <a:p>
            <a:pPr marL="12700" marR="81915">
              <a:lnSpc>
                <a:spcPct val="100000"/>
              </a:lnSpc>
              <a:spcBef>
                <a:spcPts val="1080"/>
              </a:spcBef>
            </a:pP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Agenții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0">
                <a:solidFill>
                  <a:srgbClr val="02254D"/>
                </a:solidFill>
                <a:latin typeface="Arial Narrow"/>
                <a:cs typeface="Arial Narrow"/>
              </a:rPr>
              <a:t>software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sunt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entități </a:t>
            </a:r>
            <a:r>
              <a:rPr dirty="0" sz="2100" spc="220">
                <a:solidFill>
                  <a:srgbClr val="02254D"/>
                </a:solidFill>
                <a:latin typeface="Arial Narrow"/>
                <a:cs typeface="Arial Narrow"/>
              </a:rPr>
              <a:t>autonome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care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funcționează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independent,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fără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supraveghere </a:t>
            </a:r>
            <a:r>
              <a:rPr dirty="0" sz="2100" spc="220">
                <a:solidFill>
                  <a:srgbClr val="02254D"/>
                </a:solidFill>
                <a:latin typeface="Arial Narrow"/>
                <a:cs typeface="Arial Narrow"/>
              </a:rPr>
              <a:t>umană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continuă.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 h="0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70"/>
              <a:t>Agenți</a:t>
            </a:r>
            <a:r>
              <a:rPr dirty="0" spc="165"/>
              <a:t> </a:t>
            </a:r>
            <a:r>
              <a:rPr dirty="0" spc="480"/>
              <a:t>software:</a:t>
            </a:r>
            <a:r>
              <a:rPr dirty="0" spc="170"/>
              <a:t> </a:t>
            </a:r>
            <a:r>
              <a:rPr dirty="0" spc="445"/>
              <a:t>definiție</a:t>
            </a:r>
            <a:r>
              <a:rPr dirty="0" spc="175"/>
              <a:t> </a:t>
            </a:r>
            <a:r>
              <a:rPr dirty="0" spc="330"/>
              <a:t>și</a:t>
            </a:r>
            <a:r>
              <a:rPr dirty="0" spc="170"/>
              <a:t> </a:t>
            </a:r>
            <a:r>
              <a:rPr dirty="0" spc="280"/>
              <a:t>rol</a:t>
            </a:r>
          </a:p>
        </p:txBody>
      </p:sp>
      <p:sp>
        <p:nvSpPr>
          <p:cNvPr id="7" name="object 7"/>
          <p:cNvSpPr/>
          <p:nvPr/>
        </p:nvSpPr>
        <p:spPr>
          <a:xfrm>
            <a:off x="12506790" y="5032029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11484" y="5032029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6161" y="5032029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9346" y="5780390"/>
            <a:ext cx="4591685" cy="19583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0"/>
              </a:spcBef>
            </a:pPr>
            <a:r>
              <a:rPr dirty="0" sz="2750" spc="210">
                <a:solidFill>
                  <a:srgbClr val="02254D"/>
                </a:solidFill>
                <a:latin typeface="Arial Narrow"/>
                <a:cs typeface="Arial Narrow"/>
              </a:rPr>
              <a:t>Flexibilitate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65">
                <a:solidFill>
                  <a:srgbClr val="02254D"/>
                </a:solidFill>
                <a:latin typeface="Arial Narrow"/>
                <a:cs typeface="Arial Narrow"/>
              </a:rPr>
              <a:t>crescută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165">
                <a:solidFill>
                  <a:srgbClr val="02254D"/>
                </a:solidFill>
                <a:latin typeface="Arial Narrow"/>
                <a:cs typeface="Arial Narrow"/>
              </a:rPr>
              <a:t>în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65">
                <a:solidFill>
                  <a:srgbClr val="02254D"/>
                </a:solidFill>
                <a:latin typeface="Arial Narrow"/>
                <a:cs typeface="Arial Narrow"/>
              </a:rPr>
              <a:t>medii cloud</a:t>
            </a:r>
            <a:endParaRPr sz="2750">
              <a:latin typeface="Arial Narrow"/>
              <a:cs typeface="Arial Narrow"/>
            </a:endParaRPr>
          </a:p>
          <a:p>
            <a:pPr marL="12700" marR="318135">
              <a:lnSpc>
                <a:spcPct val="101499"/>
              </a:lnSpc>
              <a:spcBef>
                <a:spcPts val="1060"/>
              </a:spcBef>
            </a:pPr>
            <a:r>
              <a:rPr dirty="0" sz="2050" spc="180">
                <a:solidFill>
                  <a:srgbClr val="02254D"/>
                </a:solidFill>
                <a:latin typeface="Arial Narrow"/>
                <a:cs typeface="Arial Narrow"/>
              </a:rPr>
              <a:t>Cloud</a:t>
            </a:r>
            <a:r>
              <a:rPr dirty="0" sz="20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220">
                <a:solidFill>
                  <a:srgbClr val="02254D"/>
                </a:solidFill>
                <a:latin typeface="Arial Narrow"/>
                <a:cs typeface="Arial Narrow"/>
              </a:rPr>
              <a:t>Computing</a:t>
            </a:r>
            <a:r>
              <a:rPr dirty="0" sz="20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200">
                <a:solidFill>
                  <a:srgbClr val="02254D"/>
                </a:solidFill>
                <a:latin typeface="Arial Narrow"/>
                <a:cs typeface="Arial Narrow"/>
              </a:rPr>
              <a:t>permite</a:t>
            </a:r>
            <a:r>
              <a:rPr dirty="0" sz="20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55">
                <a:solidFill>
                  <a:srgbClr val="02254D"/>
                </a:solidFill>
                <a:latin typeface="Arial Narrow"/>
                <a:cs typeface="Arial Narrow"/>
              </a:rPr>
              <a:t>rularea </a:t>
            </a:r>
            <a:r>
              <a:rPr dirty="0" sz="2050" spc="175">
                <a:solidFill>
                  <a:srgbClr val="02254D"/>
                </a:solidFill>
                <a:latin typeface="Arial Narrow"/>
                <a:cs typeface="Arial Narrow"/>
              </a:rPr>
              <a:t>agenților</a:t>
            </a:r>
            <a:r>
              <a:rPr dirty="0" sz="205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85">
                <a:solidFill>
                  <a:srgbClr val="02254D"/>
                </a:solidFill>
                <a:latin typeface="Arial Narrow"/>
                <a:cs typeface="Arial Narrow"/>
              </a:rPr>
              <a:t>pe</a:t>
            </a:r>
            <a:r>
              <a:rPr dirty="0" sz="205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85">
                <a:solidFill>
                  <a:srgbClr val="02254D"/>
                </a:solidFill>
                <a:latin typeface="Arial Narrow"/>
                <a:cs typeface="Arial Narrow"/>
              </a:rPr>
              <a:t>infrastructuri</a:t>
            </a:r>
            <a:r>
              <a:rPr dirty="0" sz="205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45">
                <a:solidFill>
                  <a:srgbClr val="02254D"/>
                </a:solidFill>
                <a:latin typeface="Arial Narrow"/>
                <a:cs typeface="Arial Narrow"/>
              </a:rPr>
              <a:t>distribuite, </a:t>
            </a:r>
            <a:r>
              <a:rPr dirty="0" sz="2050" spc="190">
                <a:solidFill>
                  <a:srgbClr val="02254D"/>
                </a:solidFill>
                <a:latin typeface="Arial Narrow"/>
                <a:cs typeface="Arial Narrow"/>
              </a:rPr>
              <a:t>facilitând</a:t>
            </a:r>
            <a:r>
              <a:rPr dirty="0" sz="205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65">
                <a:solidFill>
                  <a:srgbClr val="02254D"/>
                </a:solidFill>
                <a:latin typeface="Arial Narrow"/>
                <a:cs typeface="Arial Narrow"/>
              </a:rPr>
              <a:t>colaborarea.</a:t>
            </a:r>
            <a:endParaRPr sz="20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6416" y="5780390"/>
            <a:ext cx="4702810" cy="16414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33045">
              <a:lnSpc>
                <a:spcPct val="101099"/>
              </a:lnSpc>
              <a:spcBef>
                <a:spcPts val="90"/>
              </a:spcBef>
            </a:pP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Scalare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eficientă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toleranță </a:t>
            </a:r>
            <a:r>
              <a:rPr dirty="0" sz="2750" spc="210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7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00">
                <a:solidFill>
                  <a:srgbClr val="02254D"/>
                </a:solidFill>
                <a:latin typeface="Arial Narrow"/>
                <a:cs typeface="Arial Narrow"/>
              </a:rPr>
              <a:t>erori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1499"/>
              </a:lnSpc>
              <a:spcBef>
                <a:spcPts val="1060"/>
              </a:spcBef>
            </a:pPr>
            <a:r>
              <a:rPr dirty="0" sz="2050" spc="180">
                <a:solidFill>
                  <a:srgbClr val="02254D"/>
                </a:solidFill>
                <a:latin typeface="Arial Narrow"/>
                <a:cs typeface="Arial Narrow"/>
              </a:rPr>
              <a:t>Agenții</a:t>
            </a:r>
            <a:r>
              <a:rPr dirty="0" sz="205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225">
                <a:solidFill>
                  <a:srgbClr val="02254D"/>
                </a:solidFill>
                <a:latin typeface="Arial Narrow"/>
                <a:cs typeface="Arial Narrow"/>
              </a:rPr>
              <a:t>pot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90">
                <a:solidFill>
                  <a:srgbClr val="02254D"/>
                </a:solidFill>
                <a:latin typeface="Arial Narrow"/>
                <a:cs typeface="Arial Narrow"/>
              </a:rPr>
              <a:t>fi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90">
                <a:solidFill>
                  <a:srgbClr val="02254D"/>
                </a:solidFill>
                <a:latin typeface="Arial Narrow"/>
                <a:cs typeface="Arial Narrow"/>
              </a:rPr>
              <a:t>adăugați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200">
                <a:solidFill>
                  <a:srgbClr val="02254D"/>
                </a:solidFill>
                <a:latin typeface="Arial Narrow"/>
                <a:cs typeface="Arial Narrow"/>
              </a:rPr>
              <a:t>sau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85">
                <a:solidFill>
                  <a:srgbClr val="02254D"/>
                </a:solidFill>
                <a:latin typeface="Arial Narrow"/>
                <a:cs typeface="Arial Narrow"/>
              </a:rPr>
              <a:t>eliminați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75">
                <a:solidFill>
                  <a:srgbClr val="02254D"/>
                </a:solidFill>
                <a:latin typeface="Arial Narrow"/>
                <a:cs typeface="Arial Narrow"/>
              </a:rPr>
              <a:t>fără </a:t>
            </a:r>
            <a:r>
              <a:rPr dirty="0" sz="2050" spc="185">
                <a:solidFill>
                  <a:srgbClr val="02254D"/>
                </a:solidFill>
                <a:latin typeface="Arial Narrow"/>
                <a:cs typeface="Arial Narrow"/>
              </a:rPr>
              <a:t>a</a:t>
            </a:r>
            <a:r>
              <a:rPr dirty="0" sz="205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204">
                <a:solidFill>
                  <a:srgbClr val="02254D"/>
                </a:solidFill>
                <a:latin typeface="Arial Narrow"/>
                <a:cs typeface="Arial Narrow"/>
              </a:rPr>
              <a:t>afecta</a:t>
            </a:r>
            <a:r>
              <a:rPr dirty="0" sz="205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200">
                <a:solidFill>
                  <a:srgbClr val="02254D"/>
                </a:solidFill>
                <a:latin typeface="Arial Narrow"/>
                <a:cs typeface="Arial Narrow"/>
              </a:rPr>
              <a:t>funcționarea</a:t>
            </a:r>
            <a:r>
              <a:rPr dirty="0" sz="205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60">
                <a:solidFill>
                  <a:srgbClr val="02254D"/>
                </a:solidFill>
                <a:latin typeface="Arial Narrow"/>
                <a:cs typeface="Arial Narrow"/>
              </a:rPr>
              <a:t>globală.</a:t>
            </a:r>
            <a:endParaRPr sz="2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485" y="5780390"/>
            <a:ext cx="4385945" cy="19583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29539">
              <a:lnSpc>
                <a:spcPct val="101099"/>
              </a:lnSpc>
              <a:spcBef>
                <a:spcPts val="90"/>
              </a:spcBef>
            </a:pP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Sistemele</a:t>
            </a:r>
            <a:r>
              <a:rPr dirty="0" sz="2750" spc="10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0">
                <a:solidFill>
                  <a:srgbClr val="02254D"/>
                </a:solidFill>
                <a:latin typeface="Arial Narrow"/>
                <a:cs typeface="Arial Narrow"/>
              </a:rPr>
              <a:t>multi-</a:t>
            </a:r>
            <a:r>
              <a:rPr dirty="0" sz="2750" spc="260">
                <a:solidFill>
                  <a:srgbClr val="02254D"/>
                </a:solidFill>
                <a:latin typeface="Arial Narrow"/>
                <a:cs typeface="Arial Narrow"/>
              </a:rPr>
              <a:t>agent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distribuie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9">
                <a:solidFill>
                  <a:srgbClr val="02254D"/>
                </a:solidFill>
                <a:latin typeface="Arial Narrow"/>
                <a:cs typeface="Arial Narrow"/>
              </a:rPr>
              <a:t>responsabilitățile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1499"/>
              </a:lnSpc>
              <a:spcBef>
                <a:spcPts val="1060"/>
              </a:spcBef>
            </a:pPr>
            <a:r>
              <a:rPr dirty="0" sz="2050" spc="155">
                <a:solidFill>
                  <a:srgbClr val="02254D"/>
                </a:solidFill>
                <a:latin typeface="Arial Narrow"/>
                <a:cs typeface="Arial Narrow"/>
              </a:rPr>
              <a:t>Fiecare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200">
                <a:solidFill>
                  <a:srgbClr val="02254D"/>
                </a:solidFill>
                <a:latin typeface="Arial Narrow"/>
                <a:cs typeface="Arial Narrow"/>
              </a:rPr>
              <a:t>agent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60">
                <a:solidFill>
                  <a:srgbClr val="02254D"/>
                </a:solidFill>
                <a:latin typeface="Arial Narrow"/>
                <a:cs typeface="Arial Narrow"/>
              </a:rPr>
              <a:t>are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55">
                <a:solidFill>
                  <a:srgbClr val="02254D"/>
                </a:solidFill>
                <a:latin typeface="Arial Narrow"/>
                <a:cs typeface="Arial Narrow"/>
              </a:rPr>
              <a:t>roluri</a:t>
            </a:r>
            <a:r>
              <a:rPr dirty="0" sz="20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60">
                <a:solidFill>
                  <a:srgbClr val="02254D"/>
                </a:solidFill>
                <a:latin typeface="Arial Narrow"/>
                <a:cs typeface="Arial Narrow"/>
              </a:rPr>
              <a:t>specifice, </a:t>
            </a:r>
            <a:r>
              <a:rPr dirty="0" sz="2050" spc="200">
                <a:solidFill>
                  <a:srgbClr val="02254D"/>
                </a:solidFill>
                <a:latin typeface="Arial Narrow"/>
                <a:cs typeface="Arial Narrow"/>
              </a:rPr>
              <a:t>contribuind</a:t>
            </a:r>
            <a:r>
              <a:rPr dirty="0" sz="205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55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05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65">
                <a:solidFill>
                  <a:srgbClr val="02254D"/>
                </a:solidFill>
                <a:latin typeface="Arial Narrow"/>
                <a:cs typeface="Arial Narrow"/>
              </a:rPr>
              <a:t>rezolvarea</a:t>
            </a:r>
            <a:r>
              <a:rPr dirty="0" sz="205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050" spc="185">
                <a:solidFill>
                  <a:srgbClr val="02254D"/>
                </a:solidFill>
                <a:latin typeface="Arial Narrow"/>
                <a:cs typeface="Arial Narrow"/>
              </a:rPr>
              <a:t>problemelor </a:t>
            </a:r>
            <a:r>
              <a:rPr dirty="0" sz="2050" spc="190">
                <a:solidFill>
                  <a:srgbClr val="02254D"/>
                </a:solidFill>
                <a:latin typeface="Arial Narrow"/>
                <a:cs typeface="Arial Narrow"/>
              </a:rPr>
              <a:t>complexe.</a:t>
            </a:r>
            <a:endParaRPr sz="2050">
              <a:latin typeface="Arial Narrow"/>
              <a:cs typeface="Arial Narro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3485" y="1029898"/>
            <a:ext cx="13747750" cy="2131060"/>
          </a:xfrm>
          <a:prstGeom prst="rect"/>
        </p:spPr>
        <p:txBody>
          <a:bodyPr wrap="square" lIns="0" tIns="204470" rIns="0" bIns="0" rtlCol="0" vert="horz">
            <a:spAutoFit/>
          </a:bodyPr>
          <a:lstStyle/>
          <a:p>
            <a:pPr marL="12700" marR="5080">
              <a:lnSpc>
                <a:spcPts val="7530"/>
              </a:lnSpc>
              <a:spcBef>
                <a:spcPts val="1610"/>
              </a:spcBef>
            </a:pPr>
            <a:r>
              <a:rPr dirty="0" spc="550"/>
              <a:t>De</a:t>
            </a:r>
            <a:r>
              <a:rPr dirty="0" spc="180"/>
              <a:t> </a:t>
            </a:r>
            <a:r>
              <a:rPr dirty="0" spc="430"/>
              <a:t>la</a:t>
            </a:r>
            <a:r>
              <a:rPr dirty="0" spc="180"/>
              <a:t> </a:t>
            </a:r>
            <a:r>
              <a:rPr dirty="0" spc="400"/>
              <a:t>aplicații</a:t>
            </a:r>
            <a:r>
              <a:rPr dirty="0" spc="180"/>
              <a:t> </a:t>
            </a:r>
            <a:r>
              <a:rPr dirty="0" spc="465"/>
              <a:t>clasice</a:t>
            </a:r>
            <a:r>
              <a:rPr dirty="0" spc="180"/>
              <a:t> </a:t>
            </a:r>
            <a:r>
              <a:rPr dirty="0" spc="430"/>
              <a:t>la</a:t>
            </a:r>
            <a:r>
              <a:rPr dirty="0" spc="185"/>
              <a:t> </a:t>
            </a:r>
            <a:r>
              <a:rPr dirty="0" spc="550"/>
              <a:t>sisteme </a:t>
            </a:r>
            <a:r>
              <a:rPr dirty="0" spc="490"/>
              <a:t>multi-</a:t>
            </a:r>
            <a:r>
              <a:rPr dirty="0" spc="620"/>
              <a:t>agent</a:t>
            </a:r>
          </a:p>
        </p:txBody>
      </p:sp>
      <p:sp>
        <p:nvSpPr>
          <p:cNvPr id="6" name="object 6"/>
          <p:cNvSpPr/>
          <p:nvPr/>
        </p:nvSpPr>
        <p:spPr>
          <a:xfrm>
            <a:off x="12602019" y="4293641"/>
            <a:ext cx="1179195" cy="1177925"/>
          </a:xfrm>
          <a:custGeom>
            <a:avLst/>
            <a:gdLst/>
            <a:ahLst/>
            <a:cxnLst/>
            <a:rect l="l" t="t" r="r" b="b"/>
            <a:pathLst>
              <a:path w="1179194" h="1177925">
                <a:moveTo>
                  <a:pt x="1178648" y="786866"/>
                </a:moveTo>
                <a:lnTo>
                  <a:pt x="1172768" y="774344"/>
                </a:lnTo>
                <a:lnTo>
                  <a:pt x="1166482" y="770331"/>
                </a:lnTo>
                <a:lnTo>
                  <a:pt x="1141806" y="770331"/>
                </a:lnTo>
                <a:lnTo>
                  <a:pt x="1141806" y="885405"/>
                </a:lnTo>
                <a:lnTo>
                  <a:pt x="1141806" y="1141768"/>
                </a:lnTo>
                <a:lnTo>
                  <a:pt x="986777" y="1141768"/>
                </a:lnTo>
                <a:lnTo>
                  <a:pt x="986777" y="885405"/>
                </a:lnTo>
                <a:lnTo>
                  <a:pt x="1141806" y="885405"/>
                </a:lnTo>
                <a:lnTo>
                  <a:pt x="1141806" y="770331"/>
                </a:lnTo>
                <a:lnTo>
                  <a:pt x="1128953" y="770331"/>
                </a:lnTo>
                <a:lnTo>
                  <a:pt x="1128953" y="806018"/>
                </a:lnTo>
                <a:lnTo>
                  <a:pt x="1126312" y="816546"/>
                </a:lnTo>
                <a:lnTo>
                  <a:pt x="1126210" y="816914"/>
                </a:lnTo>
                <a:lnTo>
                  <a:pt x="1125296" y="827862"/>
                </a:lnTo>
                <a:lnTo>
                  <a:pt x="1126210" y="838822"/>
                </a:lnTo>
                <a:lnTo>
                  <a:pt x="1128953" y="849731"/>
                </a:lnTo>
                <a:lnTo>
                  <a:pt x="959091" y="849731"/>
                </a:lnTo>
                <a:lnTo>
                  <a:pt x="951103" y="849731"/>
                </a:lnTo>
                <a:lnTo>
                  <a:pt x="951103" y="885405"/>
                </a:lnTo>
                <a:lnTo>
                  <a:pt x="951103" y="1141768"/>
                </a:lnTo>
                <a:lnTo>
                  <a:pt x="914120" y="1141768"/>
                </a:lnTo>
                <a:lnTo>
                  <a:pt x="909713" y="1137361"/>
                </a:lnTo>
                <a:lnTo>
                  <a:pt x="909713" y="880986"/>
                </a:lnTo>
                <a:lnTo>
                  <a:pt x="931570" y="885405"/>
                </a:lnTo>
                <a:lnTo>
                  <a:pt x="951103" y="885405"/>
                </a:lnTo>
                <a:lnTo>
                  <a:pt x="951103" y="849731"/>
                </a:lnTo>
                <a:lnTo>
                  <a:pt x="931570" y="849731"/>
                </a:lnTo>
                <a:lnTo>
                  <a:pt x="923036" y="848004"/>
                </a:lnTo>
                <a:lnTo>
                  <a:pt x="916063" y="843292"/>
                </a:lnTo>
                <a:lnTo>
                  <a:pt x="911352" y="836307"/>
                </a:lnTo>
                <a:lnTo>
                  <a:pt x="909713" y="828179"/>
                </a:lnTo>
                <a:lnTo>
                  <a:pt x="909713" y="821842"/>
                </a:lnTo>
                <a:lnTo>
                  <a:pt x="925741" y="806018"/>
                </a:lnTo>
                <a:lnTo>
                  <a:pt x="1007706" y="806018"/>
                </a:lnTo>
                <a:lnTo>
                  <a:pt x="1017562" y="806018"/>
                </a:lnTo>
                <a:lnTo>
                  <a:pt x="1027417" y="806018"/>
                </a:lnTo>
                <a:lnTo>
                  <a:pt x="1128953" y="806018"/>
                </a:lnTo>
                <a:lnTo>
                  <a:pt x="1128953" y="770331"/>
                </a:lnTo>
                <a:lnTo>
                  <a:pt x="1035405" y="770331"/>
                </a:lnTo>
                <a:lnTo>
                  <a:pt x="1035405" y="722033"/>
                </a:lnTo>
                <a:lnTo>
                  <a:pt x="1029284" y="691807"/>
                </a:lnTo>
                <a:lnTo>
                  <a:pt x="1012609" y="667092"/>
                </a:lnTo>
                <a:lnTo>
                  <a:pt x="987894" y="650417"/>
                </a:lnTo>
                <a:lnTo>
                  <a:pt x="957668" y="644296"/>
                </a:lnTo>
                <a:lnTo>
                  <a:pt x="606628" y="644296"/>
                </a:lnTo>
                <a:lnTo>
                  <a:pt x="606628" y="553948"/>
                </a:lnTo>
                <a:lnTo>
                  <a:pt x="896747" y="553948"/>
                </a:lnTo>
                <a:lnTo>
                  <a:pt x="941120" y="547966"/>
                </a:lnTo>
                <a:lnTo>
                  <a:pt x="981024" y="531101"/>
                </a:lnTo>
                <a:lnTo>
                  <a:pt x="1014844" y="504939"/>
                </a:lnTo>
                <a:lnTo>
                  <a:pt x="1040993" y="471106"/>
                </a:lnTo>
                <a:lnTo>
                  <a:pt x="1057859" y="431203"/>
                </a:lnTo>
                <a:lnTo>
                  <a:pt x="1063840" y="386842"/>
                </a:lnTo>
                <a:lnTo>
                  <a:pt x="1059713" y="349732"/>
                </a:lnTo>
                <a:lnTo>
                  <a:pt x="1047673" y="314985"/>
                </a:lnTo>
                <a:lnTo>
                  <a:pt x="1028268" y="283718"/>
                </a:lnTo>
                <a:lnTo>
                  <a:pt x="1028166" y="386842"/>
                </a:lnTo>
                <a:lnTo>
                  <a:pt x="1017828" y="437946"/>
                </a:lnTo>
                <a:lnTo>
                  <a:pt x="989634" y="479729"/>
                </a:lnTo>
                <a:lnTo>
                  <a:pt x="947851" y="507923"/>
                </a:lnTo>
                <a:lnTo>
                  <a:pt x="896747" y="518274"/>
                </a:lnTo>
                <a:lnTo>
                  <a:pt x="598652" y="518274"/>
                </a:lnTo>
                <a:lnTo>
                  <a:pt x="578929" y="518261"/>
                </a:lnTo>
                <a:lnTo>
                  <a:pt x="289090" y="518274"/>
                </a:lnTo>
                <a:lnTo>
                  <a:pt x="244983" y="511136"/>
                </a:lnTo>
                <a:lnTo>
                  <a:pt x="206629" y="491274"/>
                </a:lnTo>
                <a:lnTo>
                  <a:pt x="176364" y="461010"/>
                </a:lnTo>
                <a:lnTo>
                  <a:pt x="156514" y="422656"/>
                </a:lnTo>
                <a:lnTo>
                  <a:pt x="149377" y="378548"/>
                </a:lnTo>
                <a:lnTo>
                  <a:pt x="156476" y="334657"/>
                </a:lnTo>
                <a:lnTo>
                  <a:pt x="176364" y="296075"/>
                </a:lnTo>
                <a:lnTo>
                  <a:pt x="206629" y="265811"/>
                </a:lnTo>
                <a:lnTo>
                  <a:pt x="244983" y="245960"/>
                </a:lnTo>
                <a:lnTo>
                  <a:pt x="289090" y="238823"/>
                </a:lnTo>
                <a:lnTo>
                  <a:pt x="298945" y="238823"/>
                </a:lnTo>
                <a:lnTo>
                  <a:pt x="306933" y="230847"/>
                </a:lnTo>
                <a:lnTo>
                  <a:pt x="313563" y="171780"/>
                </a:lnTo>
                <a:lnTo>
                  <a:pt x="332270" y="127533"/>
                </a:lnTo>
                <a:lnTo>
                  <a:pt x="361238" y="90055"/>
                </a:lnTo>
                <a:lnTo>
                  <a:pt x="398792" y="61010"/>
                </a:lnTo>
                <a:lnTo>
                  <a:pt x="443052" y="42303"/>
                </a:lnTo>
                <a:lnTo>
                  <a:pt x="492264" y="35674"/>
                </a:lnTo>
                <a:lnTo>
                  <a:pt x="539648" y="41732"/>
                </a:lnTo>
                <a:lnTo>
                  <a:pt x="582777" y="59042"/>
                </a:lnTo>
                <a:lnTo>
                  <a:pt x="619899" y="86334"/>
                </a:lnTo>
                <a:lnTo>
                  <a:pt x="649287" y="122326"/>
                </a:lnTo>
                <a:lnTo>
                  <a:pt x="667981" y="163118"/>
                </a:lnTo>
                <a:lnTo>
                  <a:pt x="670814" y="170954"/>
                </a:lnTo>
                <a:lnTo>
                  <a:pt x="674751" y="175158"/>
                </a:lnTo>
                <a:lnTo>
                  <a:pt x="684974" y="179044"/>
                </a:lnTo>
                <a:lnTo>
                  <a:pt x="690714" y="178511"/>
                </a:lnTo>
                <a:lnTo>
                  <a:pt x="695413" y="175691"/>
                </a:lnTo>
                <a:lnTo>
                  <a:pt x="717575" y="165836"/>
                </a:lnTo>
                <a:lnTo>
                  <a:pt x="741362" y="161620"/>
                </a:lnTo>
                <a:lnTo>
                  <a:pt x="765683" y="163118"/>
                </a:lnTo>
                <a:lnTo>
                  <a:pt x="789495" y="170395"/>
                </a:lnTo>
                <a:lnTo>
                  <a:pt x="828408" y="199923"/>
                </a:lnTo>
                <a:lnTo>
                  <a:pt x="849096" y="244144"/>
                </a:lnTo>
                <a:lnTo>
                  <a:pt x="850036" y="248793"/>
                </a:lnTo>
                <a:lnTo>
                  <a:pt x="852805" y="252869"/>
                </a:lnTo>
                <a:lnTo>
                  <a:pt x="860742" y="258064"/>
                </a:lnTo>
                <a:lnTo>
                  <a:pt x="865568" y="259016"/>
                </a:lnTo>
                <a:lnTo>
                  <a:pt x="870051" y="258064"/>
                </a:lnTo>
                <a:lnTo>
                  <a:pt x="869823" y="258064"/>
                </a:lnTo>
                <a:lnTo>
                  <a:pt x="899248" y="255282"/>
                </a:lnTo>
                <a:lnTo>
                  <a:pt x="928027" y="259016"/>
                </a:lnTo>
                <a:lnTo>
                  <a:pt x="927862" y="259016"/>
                </a:lnTo>
                <a:lnTo>
                  <a:pt x="954849" y="268897"/>
                </a:lnTo>
                <a:lnTo>
                  <a:pt x="1000175" y="305752"/>
                </a:lnTo>
                <a:lnTo>
                  <a:pt x="1024915" y="357657"/>
                </a:lnTo>
                <a:lnTo>
                  <a:pt x="1028166" y="386842"/>
                </a:lnTo>
                <a:lnTo>
                  <a:pt x="1028166" y="283616"/>
                </a:lnTo>
                <a:lnTo>
                  <a:pt x="999286" y="255282"/>
                </a:lnTo>
                <a:lnTo>
                  <a:pt x="944206" y="226453"/>
                </a:lnTo>
                <a:lnTo>
                  <a:pt x="912342" y="220281"/>
                </a:lnTo>
                <a:lnTo>
                  <a:pt x="879640" y="220484"/>
                </a:lnTo>
                <a:lnTo>
                  <a:pt x="867752" y="194170"/>
                </a:lnTo>
                <a:lnTo>
                  <a:pt x="850836" y="171221"/>
                </a:lnTo>
                <a:lnTo>
                  <a:pt x="839990" y="161620"/>
                </a:lnTo>
                <a:lnTo>
                  <a:pt x="829373" y="152209"/>
                </a:lnTo>
                <a:lnTo>
                  <a:pt x="803833" y="137731"/>
                </a:lnTo>
                <a:lnTo>
                  <a:pt x="797318" y="135610"/>
                </a:lnTo>
                <a:lnTo>
                  <a:pt x="777125" y="129032"/>
                </a:lnTo>
                <a:lnTo>
                  <a:pt x="749706" y="125818"/>
                </a:lnTo>
                <a:lnTo>
                  <a:pt x="722426" y="128028"/>
                </a:lnTo>
                <a:lnTo>
                  <a:pt x="696150" y="135610"/>
                </a:lnTo>
                <a:lnTo>
                  <a:pt x="670521" y="90055"/>
                </a:lnTo>
                <a:lnTo>
                  <a:pt x="635647" y="52489"/>
                </a:lnTo>
                <a:lnTo>
                  <a:pt x="610463" y="35674"/>
                </a:lnTo>
                <a:lnTo>
                  <a:pt x="593204" y="24142"/>
                </a:lnTo>
                <a:lnTo>
                  <a:pt x="544855" y="6235"/>
                </a:lnTo>
                <a:lnTo>
                  <a:pt x="492264" y="0"/>
                </a:lnTo>
                <a:lnTo>
                  <a:pt x="443941" y="5321"/>
                </a:lnTo>
                <a:lnTo>
                  <a:pt x="399300" y="20510"/>
                </a:lnTo>
                <a:lnTo>
                  <a:pt x="359511" y="44399"/>
                </a:lnTo>
                <a:lnTo>
                  <a:pt x="325716" y="75857"/>
                </a:lnTo>
                <a:lnTo>
                  <a:pt x="299072" y="113715"/>
                </a:lnTo>
                <a:lnTo>
                  <a:pt x="280746" y="156806"/>
                </a:lnTo>
                <a:lnTo>
                  <a:pt x="271894" y="203987"/>
                </a:lnTo>
                <a:lnTo>
                  <a:pt x="229387" y="213614"/>
                </a:lnTo>
                <a:lnTo>
                  <a:pt x="191477" y="232892"/>
                </a:lnTo>
                <a:lnTo>
                  <a:pt x="159550" y="260426"/>
                </a:lnTo>
                <a:lnTo>
                  <a:pt x="135013" y="294817"/>
                </a:lnTo>
                <a:lnTo>
                  <a:pt x="119354" y="334429"/>
                </a:lnTo>
                <a:lnTo>
                  <a:pt x="113703" y="378548"/>
                </a:lnTo>
                <a:lnTo>
                  <a:pt x="119976" y="425119"/>
                </a:lnTo>
                <a:lnTo>
                  <a:pt x="137680" y="467004"/>
                </a:lnTo>
                <a:lnTo>
                  <a:pt x="165138" y="502513"/>
                </a:lnTo>
                <a:lnTo>
                  <a:pt x="200647" y="529971"/>
                </a:lnTo>
                <a:lnTo>
                  <a:pt x="242519" y="547674"/>
                </a:lnTo>
                <a:lnTo>
                  <a:pt x="289090" y="553948"/>
                </a:lnTo>
                <a:lnTo>
                  <a:pt x="570852" y="553948"/>
                </a:lnTo>
                <a:lnTo>
                  <a:pt x="570852" y="644296"/>
                </a:lnTo>
                <a:lnTo>
                  <a:pt x="219913" y="644296"/>
                </a:lnTo>
                <a:lnTo>
                  <a:pt x="189674" y="650417"/>
                </a:lnTo>
                <a:lnTo>
                  <a:pt x="164960" y="667092"/>
                </a:lnTo>
                <a:lnTo>
                  <a:pt x="148285" y="691807"/>
                </a:lnTo>
                <a:lnTo>
                  <a:pt x="142163" y="722033"/>
                </a:lnTo>
                <a:lnTo>
                  <a:pt x="142163" y="770331"/>
                </a:lnTo>
                <a:lnTo>
                  <a:pt x="57607" y="770331"/>
                </a:lnTo>
                <a:lnTo>
                  <a:pt x="16814" y="787146"/>
                </a:lnTo>
                <a:lnTo>
                  <a:pt x="1054" y="817029"/>
                </a:lnTo>
                <a:lnTo>
                  <a:pt x="76" y="818007"/>
                </a:lnTo>
                <a:lnTo>
                  <a:pt x="76" y="827074"/>
                </a:lnTo>
                <a:lnTo>
                  <a:pt x="0" y="827862"/>
                </a:lnTo>
                <a:lnTo>
                  <a:pt x="76" y="828243"/>
                </a:lnTo>
                <a:lnTo>
                  <a:pt x="76" y="1131938"/>
                </a:lnTo>
                <a:lnTo>
                  <a:pt x="3644" y="1149629"/>
                </a:lnTo>
                <a:lnTo>
                  <a:pt x="13411" y="1164094"/>
                </a:lnTo>
                <a:lnTo>
                  <a:pt x="27876" y="1173861"/>
                </a:lnTo>
                <a:lnTo>
                  <a:pt x="45567" y="1177442"/>
                </a:lnTo>
                <a:lnTo>
                  <a:pt x="85128" y="1177442"/>
                </a:lnTo>
                <a:lnTo>
                  <a:pt x="94983" y="1177442"/>
                </a:lnTo>
                <a:lnTo>
                  <a:pt x="104838" y="1177442"/>
                </a:lnTo>
                <a:lnTo>
                  <a:pt x="295541" y="1177442"/>
                </a:lnTo>
                <a:lnTo>
                  <a:pt x="303530" y="1169466"/>
                </a:lnTo>
                <a:lnTo>
                  <a:pt x="303530" y="1141768"/>
                </a:lnTo>
                <a:lnTo>
                  <a:pt x="303530" y="885405"/>
                </a:lnTo>
                <a:lnTo>
                  <a:pt x="303530" y="871359"/>
                </a:lnTo>
                <a:lnTo>
                  <a:pt x="304685" y="868895"/>
                </a:lnTo>
                <a:lnTo>
                  <a:pt x="303745" y="861479"/>
                </a:lnTo>
                <a:lnTo>
                  <a:pt x="303530" y="861225"/>
                </a:lnTo>
                <a:lnTo>
                  <a:pt x="303530" y="857707"/>
                </a:lnTo>
                <a:lnTo>
                  <a:pt x="295541" y="849731"/>
                </a:lnTo>
                <a:lnTo>
                  <a:pt x="295173" y="849731"/>
                </a:lnTo>
                <a:lnTo>
                  <a:pt x="290042" y="841743"/>
                </a:lnTo>
                <a:lnTo>
                  <a:pt x="286956" y="827862"/>
                </a:lnTo>
                <a:lnTo>
                  <a:pt x="290042" y="813993"/>
                </a:lnTo>
                <a:lnTo>
                  <a:pt x="295173" y="806018"/>
                </a:lnTo>
                <a:lnTo>
                  <a:pt x="299313" y="799592"/>
                </a:lnTo>
                <a:lnTo>
                  <a:pt x="303745" y="794258"/>
                </a:lnTo>
                <a:lnTo>
                  <a:pt x="304647" y="787146"/>
                </a:lnTo>
                <a:lnTo>
                  <a:pt x="304685" y="786866"/>
                </a:lnTo>
                <a:lnTo>
                  <a:pt x="298805" y="774344"/>
                </a:lnTo>
                <a:lnTo>
                  <a:pt x="292519" y="770331"/>
                </a:lnTo>
                <a:lnTo>
                  <a:pt x="267855" y="770331"/>
                </a:lnTo>
                <a:lnTo>
                  <a:pt x="267855" y="885405"/>
                </a:lnTo>
                <a:lnTo>
                  <a:pt x="267855" y="1141768"/>
                </a:lnTo>
                <a:lnTo>
                  <a:pt x="112826" y="1141768"/>
                </a:lnTo>
                <a:lnTo>
                  <a:pt x="112826" y="885405"/>
                </a:lnTo>
                <a:lnTo>
                  <a:pt x="267855" y="885405"/>
                </a:lnTo>
                <a:lnTo>
                  <a:pt x="267855" y="770331"/>
                </a:lnTo>
                <a:lnTo>
                  <a:pt x="255003" y="770331"/>
                </a:lnTo>
                <a:lnTo>
                  <a:pt x="255003" y="806018"/>
                </a:lnTo>
                <a:lnTo>
                  <a:pt x="252349" y="816546"/>
                </a:lnTo>
                <a:lnTo>
                  <a:pt x="252260" y="816914"/>
                </a:lnTo>
                <a:lnTo>
                  <a:pt x="251345" y="827862"/>
                </a:lnTo>
                <a:lnTo>
                  <a:pt x="252260" y="838822"/>
                </a:lnTo>
                <a:lnTo>
                  <a:pt x="255003" y="849731"/>
                </a:lnTo>
                <a:lnTo>
                  <a:pt x="85128" y="849731"/>
                </a:lnTo>
                <a:lnTo>
                  <a:pt x="77139" y="849731"/>
                </a:lnTo>
                <a:lnTo>
                  <a:pt x="77139" y="885405"/>
                </a:lnTo>
                <a:lnTo>
                  <a:pt x="77139" y="1141768"/>
                </a:lnTo>
                <a:lnTo>
                  <a:pt x="40157" y="1141768"/>
                </a:lnTo>
                <a:lnTo>
                  <a:pt x="35763" y="1137361"/>
                </a:lnTo>
                <a:lnTo>
                  <a:pt x="35763" y="880999"/>
                </a:lnTo>
                <a:lnTo>
                  <a:pt x="57607" y="885405"/>
                </a:lnTo>
                <a:lnTo>
                  <a:pt x="77139" y="885405"/>
                </a:lnTo>
                <a:lnTo>
                  <a:pt x="77139" y="849731"/>
                </a:lnTo>
                <a:lnTo>
                  <a:pt x="57607" y="849731"/>
                </a:lnTo>
                <a:lnTo>
                  <a:pt x="49072" y="848004"/>
                </a:lnTo>
                <a:lnTo>
                  <a:pt x="42100" y="843292"/>
                </a:lnTo>
                <a:lnTo>
                  <a:pt x="37401" y="836307"/>
                </a:lnTo>
                <a:lnTo>
                  <a:pt x="35763" y="828243"/>
                </a:lnTo>
                <a:lnTo>
                  <a:pt x="35763" y="821829"/>
                </a:lnTo>
                <a:lnTo>
                  <a:pt x="51790" y="806018"/>
                </a:lnTo>
                <a:lnTo>
                  <a:pt x="150152" y="806018"/>
                </a:lnTo>
                <a:lnTo>
                  <a:pt x="169862" y="806018"/>
                </a:lnTo>
                <a:lnTo>
                  <a:pt x="255003" y="806018"/>
                </a:lnTo>
                <a:lnTo>
                  <a:pt x="255003" y="770331"/>
                </a:lnTo>
                <a:lnTo>
                  <a:pt x="177850" y="770331"/>
                </a:lnTo>
                <a:lnTo>
                  <a:pt x="177850" y="722033"/>
                </a:lnTo>
                <a:lnTo>
                  <a:pt x="181152" y="705675"/>
                </a:lnTo>
                <a:lnTo>
                  <a:pt x="190182" y="692302"/>
                </a:lnTo>
                <a:lnTo>
                  <a:pt x="203542" y="683285"/>
                </a:lnTo>
                <a:lnTo>
                  <a:pt x="219913" y="679970"/>
                </a:lnTo>
                <a:lnTo>
                  <a:pt x="570852" y="679970"/>
                </a:lnTo>
                <a:lnTo>
                  <a:pt x="570852" y="705980"/>
                </a:lnTo>
                <a:lnTo>
                  <a:pt x="570941" y="770331"/>
                </a:lnTo>
                <a:lnTo>
                  <a:pt x="494588" y="770331"/>
                </a:lnTo>
                <a:lnTo>
                  <a:pt x="483374" y="771423"/>
                </a:lnTo>
                <a:lnTo>
                  <a:pt x="446659" y="795883"/>
                </a:lnTo>
                <a:lnTo>
                  <a:pt x="438048" y="817003"/>
                </a:lnTo>
                <a:lnTo>
                  <a:pt x="437045" y="818007"/>
                </a:lnTo>
                <a:lnTo>
                  <a:pt x="437045" y="827201"/>
                </a:lnTo>
                <a:lnTo>
                  <a:pt x="436981" y="827862"/>
                </a:lnTo>
                <a:lnTo>
                  <a:pt x="437045" y="828179"/>
                </a:lnTo>
                <a:lnTo>
                  <a:pt x="437045" y="1131938"/>
                </a:lnTo>
                <a:lnTo>
                  <a:pt x="440626" y="1149629"/>
                </a:lnTo>
                <a:lnTo>
                  <a:pt x="450392" y="1164094"/>
                </a:lnTo>
                <a:lnTo>
                  <a:pt x="464858" y="1173861"/>
                </a:lnTo>
                <a:lnTo>
                  <a:pt x="482549" y="1177442"/>
                </a:lnTo>
                <a:lnTo>
                  <a:pt x="522109" y="1177442"/>
                </a:lnTo>
                <a:lnTo>
                  <a:pt x="531964" y="1177442"/>
                </a:lnTo>
                <a:lnTo>
                  <a:pt x="541820" y="1177442"/>
                </a:lnTo>
                <a:lnTo>
                  <a:pt x="732523" y="1177442"/>
                </a:lnTo>
                <a:lnTo>
                  <a:pt x="740511" y="1169466"/>
                </a:lnTo>
                <a:lnTo>
                  <a:pt x="740511" y="1141768"/>
                </a:lnTo>
                <a:lnTo>
                  <a:pt x="740511" y="885405"/>
                </a:lnTo>
                <a:lnTo>
                  <a:pt x="740511" y="871359"/>
                </a:lnTo>
                <a:lnTo>
                  <a:pt x="741667" y="868895"/>
                </a:lnTo>
                <a:lnTo>
                  <a:pt x="740727" y="861479"/>
                </a:lnTo>
                <a:lnTo>
                  <a:pt x="740511" y="861225"/>
                </a:lnTo>
                <a:lnTo>
                  <a:pt x="740511" y="857707"/>
                </a:lnTo>
                <a:lnTo>
                  <a:pt x="732523" y="849731"/>
                </a:lnTo>
                <a:lnTo>
                  <a:pt x="732155" y="849731"/>
                </a:lnTo>
                <a:lnTo>
                  <a:pt x="727024" y="841743"/>
                </a:lnTo>
                <a:lnTo>
                  <a:pt x="723938" y="827862"/>
                </a:lnTo>
                <a:lnTo>
                  <a:pt x="727024" y="813993"/>
                </a:lnTo>
                <a:lnTo>
                  <a:pt x="732155" y="806018"/>
                </a:lnTo>
                <a:lnTo>
                  <a:pt x="736295" y="799592"/>
                </a:lnTo>
                <a:lnTo>
                  <a:pt x="740727" y="794258"/>
                </a:lnTo>
                <a:lnTo>
                  <a:pt x="741629" y="787146"/>
                </a:lnTo>
                <a:lnTo>
                  <a:pt x="741667" y="786866"/>
                </a:lnTo>
                <a:lnTo>
                  <a:pt x="735799" y="774344"/>
                </a:lnTo>
                <a:lnTo>
                  <a:pt x="729500" y="770331"/>
                </a:lnTo>
                <a:lnTo>
                  <a:pt x="704837" y="770331"/>
                </a:lnTo>
                <a:lnTo>
                  <a:pt x="704837" y="885405"/>
                </a:lnTo>
                <a:lnTo>
                  <a:pt x="704837" y="1141768"/>
                </a:lnTo>
                <a:lnTo>
                  <a:pt x="549808" y="1141768"/>
                </a:lnTo>
                <a:lnTo>
                  <a:pt x="549808" y="885405"/>
                </a:lnTo>
                <a:lnTo>
                  <a:pt x="704837" y="885405"/>
                </a:lnTo>
                <a:lnTo>
                  <a:pt x="704837" y="770331"/>
                </a:lnTo>
                <a:lnTo>
                  <a:pt x="691972" y="770331"/>
                </a:lnTo>
                <a:lnTo>
                  <a:pt x="691972" y="806018"/>
                </a:lnTo>
                <a:lnTo>
                  <a:pt x="689317" y="816546"/>
                </a:lnTo>
                <a:lnTo>
                  <a:pt x="689229" y="816914"/>
                </a:lnTo>
                <a:lnTo>
                  <a:pt x="688314" y="827862"/>
                </a:lnTo>
                <a:lnTo>
                  <a:pt x="689229" y="838822"/>
                </a:lnTo>
                <a:lnTo>
                  <a:pt x="691972" y="849731"/>
                </a:lnTo>
                <a:lnTo>
                  <a:pt x="522109" y="849731"/>
                </a:lnTo>
                <a:lnTo>
                  <a:pt x="514121" y="849731"/>
                </a:lnTo>
                <a:lnTo>
                  <a:pt x="514121" y="885405"/>
                </a:lnTo>
                <a:lnTo>
                  <a:pt x="514121" y="1141768"/>
                </a:lnTo>
                <a:lnTo>
                  <a:pt x="477139" y="1141768"/>
                </a:lnTo>
                <a:lnTo>
                  <a:pt x="472732" y="1137361"/>
                </a:lnTo>
                <a:lnTo>
                  <a:pt x="472732" y="880986"/>
                </a:lnTo>
                <a:lnTo>
                  <a:pt x="494588" y="885405"/>
                </a:lnTo>
                <a:lnTo>
                  <a:pt x="514121" y="885405"/>
                </a:lnTo>
                <a:lnTo>
                  <a:pt x="514121" y="849731"/>
                </a:lnTo>
                <a:lnTo>
                  <a:pt x="494588" y="849731"/>
                </a:lnTo>
                <a:lnTo>
                  <a:pt x="486054" y="848004"/>
                </a:lnTo>
                <a:lnTo>
                  <a:pt x="479082" y="843292"/>
                </a:lnTo>
                <a:lnTo>
                  <a:pt x="474383" y="836307"/>
                </a:lnTo>
                <a:lnTo>
                  <a:pt x="472732" y="828179"/>
                </a:lnTo>
                <a:lnTo>
                  <a:pt x="472732" y="821867"/>
                </a:lnTo>
                <a:lnTo>
                  <a:pt x="488759" y="806018"/>
                </a:lnTo>
                <a:lnTo>
                  <a:pt x="578929" y="806018"/>
                </a:lnTo>
                <a:lnTo>
                  <a:pt x="588784" y="806018"/>
                </a:lnTo>
                <a:lnTo>
                  <a:pt x="598639" y="806018"/>
                </a:lnTo>
                <a:lnTo>
                  <a:pt x="691972" y="806018"/>
                </a:lnTo>
                <a:lnTo>
                  <a:pt x="691972" y="770331"/>
                </a:lnTo>
                <a:lnTo>
                  <a:pt x="606628" y="770331"/>
                </a:lnTo>
                <a:lnTo>
                  <a:pt x="606628" y="679970"/>
                </a:lnTo>
                <a:lnTo>
                  <a:pt x="957668" y="679970"/>
                </a:lnTo>
                <a:lnTo>
                  <a:pt x="974013" y="683285"/>
                </a:lnTo>
                <a:lnTo>
                  <a:pt x="987386" y="692302"/>
                </a:lnTo>
                <a:lnTo>
                  <a:pt x="996403" y="705675"/>
                </a:lnTo>
                <a:lnTo>
                  <a:pt x="999718" y="722033"/>
                </a:lnTo>
                <a:lnTo>
                  <a:pt x="999718" y="770331"/>
                </a:lnTo>
                <a:lnTo>
                  <a:pt x="931570" y="770331"/>
                </a:lnTo>
                <a:lnTo>
                  <a:pt x="920356" y="771423"/>
                </a:lnTo>
                <a:lnTo>
                  <a:pt x="883640" y="795870"/>
                </a:lnTo>
                <a:lnTo>
                  <a:pt x="875017" y="817016"/>
                </a:lnTo>
                <a:lnTo>
                  <a:pt x="874026" y="818007"/>
                </a:lnTo>
                <a:lnTo>
                  <a:pt x="874026" y="827189"/>
                </a:lnTo>
                <a:lnTo>
                  <a:pt x="873963" y="827862"/>
                </a:lnTo>
                <a:lnTo>
                  <a:pt x="874026" y="828179"/>
                </a:lnTo>
                <a:lnTo>
                  <a:pt x="874026" y="1131938"/>
                </a:lnTo>
                <a:lnTo>
                  <a:pt x="877608" y="1149629"/>
                </a:lnTo>
                <a:lnTo>
                  <a:pt x="887374" y="1164094"/>
                </a:lnTo>
                <a:lnTo>
                  <a:pt x="901839" y="1173861"/>
                </a:lnTo>
                <a:lnTo>
                  <a:pt x="919530" y="1177442"/>
                </a:lnTo>
                <a:lnTo>
                  <a:pt x="959091" y="1177442"/>
                </a:lnTo>
                <a:lnTo>
                  <a:pt x="968933" y="1177442"/>
                </a:lnTo>
                <a:lnTo>
                  <a:pt x="978789" y="1177442"/>
                </a:lnTo>
                <a:lnTo>
                  <a:pt x="1169504" y="1177442"/>
                </a:lnTo>
                <a:lnTo>
                  <a:pt x="1177493" y="1169466"/>
                </a:lnTo>
                <a:lnTo>
                  <a:pt x="1177493" y="1141768"/>
                </a:lnTo>
                <a:lnTo>
                  <a:pt x="1177493" y="885405"/>
                </a:lnTo>
                <a:lnTo>
                  <a:pt x="1177493" y="871359"/>
                </a:lnTo>
                <a:lnTo>
                  <a:pt x="1178648" y="868895"/>
                </a:lnTo>
                <a:lnTo>
                  <a:pt x="1177709" y="861479"/>
                </a:lnTo>
                <a:lnTo>
                  <a:pt x="1177493" y="861225"/>
                </a:lnTo>
                <a:lnTo>
                  <a:pt x="1177493" y="857707"/>
                </a:lnTo>
                <a:lnTo>
                  <a:pt x="1169504" y="849731"/>
                </a:lnTo>
                <a:lnTo>
                  <a:pt x="1169136" y="849731"/>
                </a:lnTo>
                <a:lnTo>
                  <a:pt x="1164005" y="841743"/>
                </a:lnTo>
                <a:lnTo>
                  <a:pt x="1160919" y="827862"/>
                </a:lnTo>
                <a:lnTo>
                  <a:pt x="1164005" y="813993"/>
                </a:lnTo>
                <a:lnTo>
                  <a:pt x="1169136" y="806018"/>
                </a:lnTo>
                <a:lnTo>
                  <a:pt x="1173276" y="799592"/>
                </a:lnTo>
                <a:lnTo>
                  <a:pt x="1177709" y="794258"/>
                </a:lnTo>
                <a:lnTo>
                  <a:pt x="1178610" y="787146"/>
                </a:lnTo>
                <a:lnTo>
                  <a:pt x="1178648" y="786866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9315" y="4295057"/>
            <a:ext cx="1176899" cy="11760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222" y="4294320"/>
            <a:ext cx="1182713" cy="1182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120" y="2982429"/>
            <a:ext cx="7775778" cy="51842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83328" y="4025140"/>
            <a:ext cx="7689215" cy="3797300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400" spc="190">
                <a:solidFill>
                  <a:srgbClr val="02254D"/>
                </a:solidFill>
                <a:latin typeface="Arial Narrow"/>
                <a:cs typeface="Arial Narrow"/>
              </a:rPr>
              <a:t>Interoperabilitatea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20">
                <a:solidFill>
                  <a:srgbClr val="02254D"/>
                </a:solidFill>
                <a:latin typeface="Arial Narrow"/>
                <a:cs typeface="Arial Narrow"/>
              </a:rPr>
              <a:t>depinde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2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20">
                <a:solidFill>
                  <a:srgbClr val="02254D"/>
                </a:solidFill>
                <a:latin typeface="Arial Narrow"/>
                <a:cs typeface="Arial Narrow"/>
              </a:rPr>
              <a:t>standarde</a:t>
            </a:r>
            <a:r>
              <a:rPr dirty="0" sz="240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70">
                <a:solidFill>
                  <a:srgbClr val="02254D"/>
                </a:solidFill>
                <a:latin typeface="Arial Narrow"/>
                <a:cs typeface="Arial Narrow"/>
              </a:rPr>
              <a:t>comune</a:t>
            </a:r>
            <a:endParaRPr sz="2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dirty="0" sz="1800" spc="135">
                <a:solidFill>
                  <a:srgbClr val="02254D"/>
                </a:solidFill>
                <a:latin typeface="Arial Narrow"/>
                <a:cs typeface="Arial Narrow"/>
              </a:rPr>
              <a:t>Fără</a:t>
            </a:r>
            <a:r>
              <a:rPr dirty="0" sz="18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70">
                <a:solidFill>
                  <a:srgbClr val="02254D"/>
                </a:solidFill>
                <a:latin typeface="Arial Narrow"/>
                <a:cs typeface="Arial Narrow"/>
              </a:rPr>
              <a:t>protocoale</a:t>
            </a:r>
            <a:r>
              <a:rPr dirty="0" sz="18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25">
                <a:solidFill>
                  <a:srgbClr val="02254D"/>
                </a:solidFill>
                <a:latin typeface="Arial Narrow"/>
                <a:cs typeface="Arial Narrow"/>
              </a:rPr>
              <a:t>universale,</a:t>
            </a:r>
            <a:r>
              <a:rPr dirty="0" sz="18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55">
                <a:solidFill>
                  <a:srgbClr val="02254D"/>
                </a:solidFill>
                <a:latin typeface="Arial Narrow"/>
                <a:cs typeface="Arial Narrow"/>
              </a:rPr>
              <a:t>agenții</a:t>
            </a:r>
            <a:r>
              <a:rPr dirty="0" sz="18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85">
                <a:solidFill>
                  <a:srgbClr val="02254D"/>
                </a:solidFill>
                <a:latin typeface="Arial Narrow"/>
                <a:cs typeface="Arial Narrow"/>
              </a:rPr>
              <a:t>software</a:t>
            </a:r>
            <a:r>
              <a:rPr dirty="0" sz="18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70">
                <a:solidFill>
                  <a:srgbClr val="02254D"/>
                </a:solidFill>
                <a:latin typeface="Arial Narrow"/>
                <a:cs typeface="Arial Narrow"/>
              </a:rPr>
              <a:t>nu</a:t>
            </a:r>
            <a:r>
              <a:rPr dirty="0" sz="18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90">
                <a:solidFill>
                  <a:srgbClr val="02254D"/>
                </a:solidFill>
                <a:latin typeface="Arial Narrow"/>
                <a:cs typeface="Arial Narrow"/>
              </a:rPr>
              <a:t>pot</a:t>
            </a:r>
            <a:r>
              <a:rPr dirty="0" sz="18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204">
                <a:solidFill>
                  <a:srgbClr val="02254D"/>
                </a:solidFill>
                <a:latin typeface="Arial Narrow"/>
                <a:cs typeface="Arial Narrow"/>
              </a:rPr>
              <a:t>comunica</a:t>
            </a:r>
            <a:r>
              <a:rPr dirty="0" sz="18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30">
                <a:solidFill>
                  <a:srgbClr val="02254D"/>
                </a:solidFill>
                <a:latin typeface="Arial Narrow"/>
                <a:cs typeface="Arial Narrow"/>
              </a:rPr>
              <a:t>eficient.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400" spc="220">
                <a:solidFill>
                  <a:srgbClr val="02254D"/>
                </a:solidFill>
                <a:latin typeface="Arial Narrow"/>
                <a:cs typeface="Arial Narrow"/>
              </a:rPr>
              <a:t>Fragmentarea</a:t>
            </a:r>
            <a:r>
              <a:rPr dirty="0" sz="24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25">
                <a:solidFill>
                  <a:srgbClr val="02254D"/>
                </a:solidFill>
                <a:latin typeface="Arial Narrow"/>
                <a:cs typeface="Arial Narrow"/>
              </a:rPr>
              <a:t>sistemelor</a:t>
            </a:r>
            <a:r>
              <a:rPr dirty="0" sz="24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20">
                <a:solidFill>
                  <a:srgbClr val="02254D"/>
                </a:solidFill>
                <a:latin typeface="Arial Narrow"/>
                <a:cs typeface="Arial Narrow"/>
              </a:rPr>
              <a:t>fără</a:t>
            </a:r>
            <a:r>
              <a:rPr dirty="0" sz="24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00">
                <a:solidFill>
                  <a:srgbClr val="02254D"/>
                </a:solidFill>
                <a:latin typeface="Arial Narrow"/>
                <a:cs typeface="Arial Narrow"/>
              </a:rPr>
              <a:t>standardizare</a:t>
            </a:r>
            <a:endParaRPr sz="2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800" spc="160">
                <a:solidFill>
                  <a:srgbClr val="02254D"/>
                </a:solidFill>
                <a:latin typeface="Arial Narrow"/>
                <a:cs typeface="Arial Narrow"/>
              </a:rPr>
              <a:t>Lipsa</a:t>
            </a:r>
            <a:r>
              <a:rPr dirty="0" sz="18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60">
                <a:solidFill>
                  <a:srgbClr val="02254D"/>
                </a:solidFill>
                <a:latin typeface="Arial Narrow"/>
                <a:cs typeface="Arial Narrow"/>
              </a:rPr>
              <a:t>unui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70">
                <a:solidFill>
                  <a:srgbClr val="02254D"/>
                </a:solidFill>
                <a:latin typeface="Arial Narrow"/>
                <a:cs typeface="Arial Narrow"/>
              </a:rPr>
              <a:t>limbaj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229">
                <a:solidFill>
                  <a:srgbClr val="02254D"/>
                </a:solidFill>
                <a:latin typeface="Arial Narrow"/>
                <a:cs typeface="Arial Narrow"/>
              </a:rPr>
              <a:t>comun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75">
                <a:solidFill>
                  <a:srgbClr val="02254D"/>
                </a:solidFill>
                <a:latin typeface="Arial Narrow"/>
                <a:cs typeface="Arial Narrow"/>
              </a:rPr>
              <a:t>duce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35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70">
                <a:solidFill>
                  <a:srgbClr val="02254D"/>
                </a:solidFill>
                <a:latin typeface="Arial Narrow"/>
                <a:cs typeface="Arial Narrow"/>
              </a:rPr>
              <a:t>incompatibilități</a:t>
            </a:r>
            <a:r>
              <a:rPr dirty="0" sz="18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50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40">
                <a:solidFill>
                  <a:srgbClr val="02254D"/>
                </a:solidFill>
                <a:latin typeface="Arial Narrow"/>
                <a:cs typeface="Arial Narrow"/>
              </a:rPr>
              <a:t>integrare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30">
                <a:solidFill>
                  <a:srgbClr val="02254D"/>
                </a:solidFill>
                <a:latin typeface="Arial Narrow"/>
                <a:cs typeface="Arial Narrow"/>
              </a:rPr>
              <a:t>dificilă.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400" spc="275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04">
                <a:solidFill>
                  <a:srgbClr val="02254D"/>
                </a:solidFill>
                <a:latin typeface="Arial Narrow"/>
                <a:cs typeface="Arial Narrow"/>
              </a:rPr>
              <a:t>facilitează</a:t>
            </a:r>
            <a:r>
              <a:rPr dirty="0" sz="240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190">
                <a:solidFill>
                  <a:srgbClr val="02254D"/>
                </a:solidFill>
                <a:latin typeface="Arial Narrow"/>
                <a:cs typeface="Arial Narrow"/>
              </a:rPr>
              <a:t>integrarea</a:t>
            </a:r>
            <a:r>
              <a:rPr dirty="0" sz="240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04">
                <a:solidFill>
                  <a:srgbClr val="02254D"/>
                </a:solidFill>
                <a:latin typeface="Arial Narrow"/>
                <a:cs typeface="Arial Narrow"/>
              </a:rPr>
              <a:t>agenților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04">
                <a:solidFill>
                  <a:srgbClr val="02254D"/>
                </a:solidFill>
                <a:latin typeface="Arial Narrow"/>
                <a:cs typeface="Arial Narrow"/>
              </a:rPr>
              <a:t>independenți</a:t>
            </a:r>
            <a:endParaRPr sz="2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800" spc="165">
                <a:solidFill>
                  <a:srgbClr val="02254D"/>
                </a:solidFill>
                <a:latin typeface="Arial Narrow"/>
                <a:cs typeface="Arial Narrow"/>
              </a:rPr>
              <a:t>Protocolul</a:t>
            </a:r>
            <a:r>
              <a:rPr dirty="0" sz="1800" spc="4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204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75">
                <a:solidFill>
                  <a:srgbClr val="02254D"/>
                </a:solidFill>
                <a:latin typeface="Arial Narrow"/>
                <a:cs typeface="Arial Narrow"/>
              </a:rPr>
              <a:t>permite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65">
                <a:solidFill>
                  <a:srgbClr val="02254D"/>
                </a:solidFill>
                <a:latin typeface="Arial Narrow"/>
                <a:cs typeface="Arial Narrow"/>
              </a:rPr>
              <a:t>conectarea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50">
                <a:solidFill>
                  <a:srgbClr val="02254D"/>
                </a:solidFill>
                <a:latin typeface="Arial Narrow"/>
                <a:cs typeface="Arial Narrow"/>
              </a:rPr>
              <a:t>agenților</a:t>
            </a:r>
            <a:r>
              <a:rPr dirty="0" sz="18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55">
                <a:solidFill>
                  <a:srgbClr val="02254D"/>
                </a:solidFill>
                <a:latin typeface="Arial Narrow"/>
                <a:cs typeface="Arial Narrow"/>
              </a:rPr>
              <a:t>dezvoltați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65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55">
                <a:solidFill>
                  <a:srgbClr val="02254D"/>
                </a:solidFill>
                <a:latin typeface="Arial Narrow"/>
                <a:cs typeface="Arial Narrow"/>
              </a:rPr>
              <a:t>furnizori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25">
                <a:solidFill>
                  <a:srgbClr val="02254D"/>
                </a:solidFill>
                <a:latin typeface="Arial Narrow"/>
                <a:cs typeface="Arial Narrow"/>
              </a:rPr>
              <a:t>diferiți.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400" spc="190">
                <a:solidFill>
                  <a:srgbClr val="02254D"/>
                </a:solidFill>
                <a:latin typeface="Arial Narrow"/>
                <a:cs typeface="Arial Narrow"/>
              </a:rPr>
              <a:t>Reducerea</a:t>
            </a:r>
            <a:r>
              <a:rPr dirty="0" sz="24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15">
                <a:solidFill>
                  <a:srgbClr val="02254D"/>
                </a:solidFill>
                <a:latin typeface="Arial Narrow"/>
                <a:cs typeface="Arial Narrow"/>
              </a:rPr>
              <a:t>dependenței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2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245">
                <a:solidFill>
                  <a:srgbClr val="02254D"/>
                </a:solidFill>
                <a:latin typeface="Arial Narrow"/>
                <a:cs typeface="Arial Narrow"/>
              </a:rPr>
              <a:t>platforme</a:t>
            </a:r>
            <a:r>
              <a:rPr dirty="0" sz="24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400" spc="195">
                <a:solidFill>
                  <a:srgbClr val="02254D"/>
                </a:solidFill>
                <a:latin typeface="Arial Narrow"/>
                <a:cs typeface="Arial Narrow"/>
              </a:rPr>
              <a:t>proprietare</a:t>
            </a:r>
            <a:endParaRPr sz="2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800" spc="150">
                <a:solidFill>
                  <a:srgbClr val="02254D"/>
                </a:solidFill>
                <a:latin typeface="Arial Narrow"/>
                <a:cs typeface="Arial Narrow"/>
              </a:rPr>
              <a:t>Standardizarea</a:t>
            </a:r>
            <a:r>
              <a:rPr dirty="0" sz="18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50">
                <a:solidFill>
                  <a:srgbClr val="02254D"/>
                </a:solidFill>
                <a:latin typeface="Arial Narrow"/>
                <a:cs typeface="Arial Narrow"/>
              </a:rPr>
              <a:t>prin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204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65">
                <a:solidFill>
                  <a:srgbClr val="02254D"/>
                </a:solidFill>
                <a:latin typeface="Arial Narrow"/>
                <a:cs typeface="Arial Narrow"/>
              </a:rPr>
              <a:t>susține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55">
                <a:solidFill>
                  <a:srgbClr val="02254D"/>
                </a:solidFill>
                <a:latin typeface="Arial Narrow"/>
                <a:cs typeface="Arial Narrow"/>
              </a:rPr>
              <a:t>colaborarea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35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70">
                <a:solidFill>
                  <a:srgbClr val="02254D"/>
                </a:solidFill>
                <a:latin typeface="Arial Narrow"/>
                <a:cs typeface="Arial Narrow"/>
              </a:rPr>
              <a:t>scară</a:t>
            </a:r>
            <a:r>
              <a:rPr dirty="0" sz="18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1800" spc="130">
                <a:solidFill>
                  <a:srgbClr val="02254D"/>
                </a:solidFill>
                <a:latin typeface="Arial Narrow"/>
                <a:cs typeface="Arial Narrow"/>
              </a:rPr>
              <a:t>globală.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89392" y="1044501"/>
            <a:ext cx="6241415" cy="2764790"/>
          </a:xfrm>
          <a:prstGeom prst="rect"/>
        </p:spPr>
        <p:txBody>
          <a:bodyPr wrap="square" lIns="0" tIns="183515" rIns="0" bIns="0" rtlCol="0" vert="horz">
            <a:spAutoFit/>
          </a:bodyPr>
          <a:lstStyle/>
          <a:p>
            <a:pPr marL="12700" marR="5080">
              <a:lnSpc>
                <a:spcPts val="6740"/>
              </a:lnSpc>
              <a:spcBef>
                <a:spcPts val="1445"/>
              </a:spcBef>
            </a:pPr>
            <a:r>
              <a:rPr dirty="0" sz="6700" spc="480"/>
              <a:t>Necesitatea </a:t>
            </a:r>
            <a:r>
              <a:rPr dirty="0" sz="6700" spc="400"/>
              <a:t>standardizării</a:t>
            </a:r>
            <a:r>
              <a:rPr dirty="0" sz="6700" spc="190"/>
              <a:t> </a:t>
            </a:r>
            <a:r>
              <a:rPr dirty="0" sz="6700" spc="335"/>
              <a:t>în </a:t>
            </a:r>
            <a:r>
              <a:rPr dirty="0" sz="6700" spc="500"/>
              <a:t>Web-</a:t>
            </a:r>
            <a:r>
              <a:rPr dirty="0" sz="6700" spc="509"/>
              <a:t>ul</a:t>
            </a:r>
            <a:r>
              <a:rPr dirty="0" sz="6700" spc="150"/>
              <a:t> </a:t>
            </a:r>
            <a:r>
              <a:rPr dirty="0" sz="6700" spc="445"/>
              <a:t>Agentic</a:t>
            </a:r>
            <a:endParaRPr sz="6700"/>
          </a:p>
        </p:txBody>
      </p:sp>
      <p:sp>
        <p:nvSpPr>
          <p:cNvPr id="5" name="object 5"/>
          <p:cNvSpPr/>
          <p:nvPr/>
        </p:nvSpPr>
        <p:spPr>
          <a:xfrm>
            <a:off x="910121" y="1171383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0121" y="1580958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0121" y="2036097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0121" y="2491235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43812" y="4548499"/>
            <a:ext cx="2795905" cy="280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Interfață</a:t>
            </a:r>
            <a:r>
              <a:rPr dirty="0" sz="2750" spc="8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0">
                <a:solidFill>
                  <a:srgbClr val="02254D"/>
                </a:solidFill>
                <a:latin typeface="Arial Narrow"/>
                <a:cs typeface="Arial Narrow"/>
              </a:rPr>
              <a:t>unificată </a:t>
            </a: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pentru colaborarea </a:t>
            </a: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agenților</a:t>
            </a:r>
            <a:endParaRPr sz="2750">
              <a:latin typeface="Arial Narrow"/>
              <a:cs typeface="Arial Narrow"/>
            </a:endParaRPr>
          </a:p>
          <a:p>
            <a:pPr marL="12700" marR="140335">
              <a:lnSpc>
                <a:spcPct val="100000"/>
              </a:lnSpc>
              <a:spcBef>
                <a:spcPts val="1095"/>
              </a:spcBef>
            </a:pP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Reduce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complexitatea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integrării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crește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flexibilitatea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97323" y="4548499"/>
            <a:ext cx="2875915" cy="2381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Arhitectura</a:t>
            </a:r>
            <a:r>
              <a:rPr dirty="0" sz="2750" spc="10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0">
                <a:solidFill>
                  <a:srgbClr val="02254D"/>
                </a:solidFill>
                <a:latin typeface="Arial Narrow"/>
                <a:cs typeface="Arial Narrow"/>
              </a:rPr>
              <a:t>MCP: </a:t>
            </a:r>
            <a:r>
              <a:rPr dirty="0" sz="2750" spc="190">
                <a:solidFill>
                  <a:srgbClr val="02254D"/>
                </a:solidFill>
                <a:latin typeface="Arial Narrow"/>
                <a:cs typeface="Arial Narrow"/>
              </a:rPr>
              <a:t>agent,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0">
                <a:solidFill>
                  <a:srgbClr val="02254D"/>
                </a:solidFill>
                <a:latin typeface="Arial Narrow"/>
                <a:cs typeface="Arial Narrow"/>
              </a:rPr>
              <a:t>server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MCP,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resurse</a:t>
            </a:r>
            <a:r>
              <a:rPr dirty="0" sz="27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externe</a:t>
            </a:r>
            <a:endParaRPr sz="2750">
              <a:latin typeface="Arial Narrow"/>
              <a:cs typeface="Arial Narrow"/>
            </a:endParaRPr>
          </a:p>
          <a:p>
            <a:pPr marL="12700" marR="234950">
              <a:lnSpc>
                <a:spcPct val="100000"/>
              </a:lnSpc>
              <a:spcBef>
                <a:spcPts val="1090"/>
              </a:spcBef>
            </a:pP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Separă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agentul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de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detaliile</a:t>
            </a:r>
            <a:r>
              <a:rPr dirty="0" sz="2100" spc="4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implementării </a:t>
            </a:r>
            <a:r>
              <a:rPr dirty="0" sz="2100" spc="140">
                <a:solidFill>
                  <a:srgbClr val="02254D"/>
                </a:solidFill>
                <a:latin typeface="Arial Narrow"/>
                <a:cs typeface="Arial Narrow"/>
              </a:rPr>
              <a:t>serviciilor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0836" y="4548499"/>
            <a:ext cx="2653665" cy="280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44830">
              <a:lnSpc>
                <a:spcPct val="100000"/>
              </a:lnSpc>
              <a:spcBef>
                <a:spcPts val="105"/>
              </a:spcBef>
            </a:pPr>
            <a:r>
              <a:rPr dirty="0" sz="2750" spc="210">
                <a:solidFill>
                  <a:srgbClr val="02254D"/>
                </a:solidFill>
                <a:latin typeface="Arial Narrow"/>
                <a:cs typeface="Arial Narrow"/>
              </a:rPr>
              <a:t>Păstrarea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contextului</a:t>
            </a:r>
            <a:r>
              <a:rPr dirty="0" sz="2750" spc="9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130">
                <a:solidFill>
                  <a:srgbClr val="02254D"/>
                </a:solidFill>
                <a:latin typeface="Arial Narrow"/>
                <a:cs typeface="Arial Narrow"/>
              </a:rPr>
              <a:t>în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procesarea </a:t>
            </a:r>
            <a:r>
              <a:rPr dirty="0" sz="2750" spc="190">
                <a:solidFill>
                  <a:srgbClr val="02254D"/>
                </a:solidFill>
                <a:latin typeface="Arial Narrow"/>
                <a:cs typeface="Arial Narrow"/>
              </a:rPr>
              <a:t>cererilor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95"/>
              </a:spcBef>
            </a:pP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Asigură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coerența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deciziilor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agenților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90">
                <a:solidFill>
                  <a:srgbClr val="02254D"/>
                </a:solidFill>
                <a:latin typeface="Arial Narrow"/>
                <a:cs typeface="Arial Narrow"/>
              </a:rPr>
              <a:t>în </a:t>
            </a:r>
            <a:r>
              <a:rPr dirty="0" sz="2100" spc="204">
                <a:solidFill>
                  <a:srgbClr val="02254D"/>
                </a:solidFill>
                <a:latin typeface="Arial Narrow"/>
                <a:cs typeface="Arial Narrow"/>
              </a:rPr>
              <a:t>ecosisteme</a:t>
            </a:r>
            <a:r>
              <a:rPr dirty="0" sz="2100" spc="8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distribuite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4348" y="4548499"/>
            <a:ext cx="2849880" cy="2701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750" spc="240">
                <a:solidFill>
                  <a:srgbClr val="02254D"/>
                </a:solidFill>
                <a:latin typeface="Arial Narrow"/>
                <a:cs typeface="Arial Narrow"/>
              </a:rPr>
              <a:t>Protocolul</a:t>
            </a:r>
            <a:r>
              <a:rPr dirty="0" sz="2750" spc="10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75">
                <a:solidFill>
                  <a:srgbClr val="02254D"/>
                </a:solidFill>
                <a:latin typeface="Arial Narrow"/>
                <a:cs typeface="Arial Narrow"/>
              </a:rPr>
              <a:t>MCP </a:t>
            </a: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facilitează </a:t>
            </a:r>
            <a:r>
              <a:rPr dirty="0" sz="2750" spc="210">
                <a:solidFill>
                  <a:srgbClr val="02254D"/>
                </a:solidFill>
                <a:latin typeface="Arial Narrow"/>
                <a:cs typeface="Arial Narrow"/>
              </a:rPr>
              <a:t>interoperabilitatea</a:t>
            </a:r>
            <a:endParaRPr sz="2750">
              <a:latin typeface="Arial Narrow"/>
              <a:cs typeface="Arial Narrow"/>
            </a:endParaRPr>
          </a:p>
          <a:p>
            <a:pPr marL="12700" marR="234950">
              <a:lnSpc>
                <a:spcPct val="100000"/>
              </a:lnSpc>
              <a:spcBef>
                <a:spcPts val="1090"/>
              </a:spcBef>
            </a:pP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Permite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accesul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controlat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20">
                <a:solidFill>
                  <a:srgbClr val="02254D"/>
                </a:solidFill>
                <a:latin typeface="Arial Narrow"/>
                <a:cs typeface="Arial Narrow"/>
              </a:rPr>
              <a:t>date, 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instrumente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servicii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externe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3200" rIns="0" bIns="0" rtlCol="0" vert="horz">
            <a:spAutoFit/>
          </a:bodyPr>
          <a:lstStyle/>
          <a:p>
            <a:pPr marL="12700" marR="5080">
              <a:lnSpc>
                <a:spcPts val="7500"/>
              </a:lnSpc>
              <a:spcBef>
                <a:spcPts val="1600"/>
              </a:spcBef>
            </a:pPr>
            <a:r>
              <a:rPr dirty="0" spc="635"/>
              <a:t>Model</a:t>
            </a:r>
            <a:r>
              <a:rPr dirty="0" spc="170"/>
              <a:t> </a:t>
            </a:r>
            <a:r>
              <a:rPr dirty="0" spc="455"/>
              <a:t>Context</a:t>
            </a:r>
            <a:r>
              <a:rPr dirty="0" spc="175"/>
              <a:t> </a:t>
            </a:r>
            <a:r>
              <a:rPr dirty="0" spc="409"/>
              <a:t>Protocol</a:t>
            </a:r>
            <a:r>
              <a:rPr dirty="0" spc="175"/>
              <a:t> </a:t>
            </a:r>
            <a:r>
              <a:rPr dirty="0" spc="610"/>
              <a:t>(MCP): </a:t>
            </a:r>
            <a:r>
              <a:rPr dirty="0" spc="455"/>
              <a:t>Concept</a:t>
            </a:r>
            <a:r>
              <a:rPr dirty="0" spc="160"/>
              <a:t> </a:t>
            </a:r>
            <a:r>
              <a:rPr dirty="0" spc="330"/>
              <a:t>și</a:t>
            </a:r>
            <a:r>
              <a:rPr dirty="0" spc="165"/>
              <a:t> </a:t>
            </a:r>
            <a:r>
              <a:rPr dirty="0" spc="445"/>
              <a:t>arhitectură</a:t>
            </a:r>
          </a:p>
        </p:txBody>
      </p:sp>
      <p:sp>
        <p:nvSpPr>
          <p:cNvPr id="7" name="object 7"/>
          <p:cNvSpPr/>
          <p:nvPr/>
        </p:nvSpPr>
        <p:spPr>
          <a:xfrm>
            <a:off x="13955625" y="4611815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609137" y="4611815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62661" y="4611815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85" y="0"/>
                </a:moveTo>
                <a:lnTo>
                  <a:pt x="96012" y="7156"/>
                </a:lnTo>
                <a:lnTo>
                  <a:pt x="57475" y="27086"/>
                </a:lnTo>
                <a:lnTo>
                  <a:pt x="27086" y="57475"/>
                </a:lnTo>
                <a:lnTo>
                  <a:pt x="7156" y="96012"/>
                </a:lnTo>
                <a:lnTo>
                  <a:pt x="0" y="140385"/>
                </a:lnTo>
                <a:lnTo>
                  <a:pt x="7156" y="184758"/>
                </a:lnTo>
                <a:lnTo>
                  <a:pt x="27086" y="223296"/>
                </a:lnTo>
                <a:lnTo>
                  <a:pt x="57475" y="253685"/>
                </a:lnTo>
                <a:lnTo>
                  <a:pt x="96012" y="273614"/>
                </a:lnTo>
                <a:lnTo>
                  <a:pt x="140385" y="280771"/>
                </a:lnTo>
                <a:lnTo>
                  <a:pt x="184758" y="273614"/>
                </a:lnTo>
                <a:lnTo>
                  <a:pt x="223296" y="253685"/>
                </a:lnTo>
                <a:lnTo>
                  <a:pt x="253685" y="223296"/>
                </a:lnTo>
                <a:lnTo>
                  <a:pt x="273614" y="184758"/>
                </a:lnTo>
                <a:lnTo>
                  <a:pt x="280771" y="140385"/>
                </a:lnTo>
                <a:lnTo>
                  <a:pt x="273614" y="96012"/>
                </a:lnTo>
                <a:lnTo>
                  <a:pt x="253685" y="57475"/>
                </a:lnTo>
                <a:lnTo>
                  <a:pt x="223296" y="27086"/>
                </a:lnTo>
                <a:lnTo>
                  <a:pt x="184758" y="7156"/>
                </a:lnTo>
                <a:lnTo>
                  <a:pt x="140385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6161" y="4611815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97323" y="4269515"/>
            <a:ext cx="7000875" cy="3181985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750" spc="229">
                <a:solidFill>
                  <a:srgbClr val="02254D"/>
                </a:solidFill>
                <a:latin typeface="Arial Narrow"/>
                <a:cs typeface="Arial Narrow"/>
              </a:rPr>
              <a:t>Descoperire</a:t>
            </a:r>
            <a:r>
              <a:rPr dirty="0" sz="275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80">
                <a:solidFill>
                  <a:srgbClr val="02254D"/>
                </a:solidFill>
                <a:latin typeface="Arial Narrow"/>
                <a:cs typeface="Arial Narrow"/>
              </a:rPr>
              <a:t>dinamică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a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capabilităților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70"/>
              </a:spcBef>
            </a:pPr>
            <a:r>
              <a:rPr dirty="0" sz="2100" spc="225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permite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identificarea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5">
                <a:solidFill>
                  <a:srgbClr val="02254D"/>
                </a:solidFill>
                <a:latin typeface="Arial Narrow"/>
                <a:cs typeface="Arial Narrow"/>
              </a:rPr>
              <a:t>automată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a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funcțiilor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disponibile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pentru</a:t>
            </a:r>
            <a:r>
              <a:rPr dirty="0" sz="2100" spc="4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fiecare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agent.</a:t>
            </a:r>
            <a:endParaRPr sz="21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21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spc="229">
                <a:solidFill>
                  <a:srgbClr val="02254D"/>
                </a:solidFill>
                <a:latin typeface="Arial Narrow"/>
                <a:cs typeface="Arial Narrow"/>
              </a:rPr>
              <a:t>Limitările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integrării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clasice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prin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195">
                <a:solidFill>
                  <a:srgbClr val="02254D"/>
                </a:solidFill>
                <a:latin typeface="Arial Narrow"/>
                <a:cs typeface="Arial Narrow"/>
              </a:rPr>
              <a:t>API-</a:t>
            </a:r>
            <a:r>
              <a:rPr dirty="0" sz="2750" spc="125">
                <a:solidFill>
                  <a:srgbClr val="02254D"/>
                </a:solidFill>
                <a:latin typeface="Arial Narrow"/>
                <a:cs typeface="Arial Narrow"/>
              </a:rPr>
              <a:t>uri</a:t>
            </a:r>
            <a:endParaRPr sz="2750">
              <a:latin typeface="Arial Narrow"/>
              <a:cs typeface="Arial Narrow"/>
            </a:endParaRPr>
          </a:p>
          <a:p>
            <a:pPr marL="12700" marR="146685">
              <a:lnSpc>
                <a:spcPct val="100000"/>
              </a:lnSpc>
              <a:spcBef>
                <a:spcPts val="1070"/>
              </a:spcBef>
            </a:pP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Codul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rigid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mentenanța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dificilă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reduc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interoperabilitatea </a:t>
            </a:r>
            <a:r>
              <a:rPr dirty="0" sz="2100" spc="140">
                <a:solidFill>
                  <a:srgbClr val="02254D"/>
                </a:solidFill>
                <a:latin typeface="Arial Narrow"/>
                <a:cs typeface="Arial Narrow"/>
              </a:rPr>
              <a:t>între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sisteme.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4348" y="4269515"/>
            <a:ext cx="6267450" cy="3181985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750" spc="300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0">
                <a:solidFill>
                  <a:srgbClr val="02254D"/>
                </a:solidFill>
                <a:latin typeface="Arial Narrow"/>
                <a:cs typeface="Arial Narrow"/>
              </a:rPr>
              <a:t>asigură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310">
                <a:solidFill>
                  <a:srgbClr val="02254D"/>
                </a:solidFill>
                <a:latin typeface="Arial Narrow"/>
                <a:cs typeface="Arial Narrow"/>
              </a:rPr>
              <a:t>o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0">
                <a:solidFill>
                  <a:srgbClr val="02254D"/>
                </a:solidFill>
                <a:latin typeface="Arial Narrow"/>
                <a:cs typeface="Arial Narrow"/>
              </a:rPr>
              <a:t>interfață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0">
                <a:solidFill>
                  <a:srgbClr val="02254D"/>
                </a:solidFill>
                <a:latin typeface="Arial Narrow"/>
                <a:cs typeface="Arial Narrow"/>
              </a:rPr>
              <a:t>unificată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70"/>
              </a:spcBef>
            </a:pP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Agenții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5">
                <a:solidFill>
                  <a:srgbClr val="02254D"/>
                </a:solidFill>
                <a:latin typeface="Arial Narrow"/>
                <a:cs typeface="Arial Narrow"/>
              </a:rPr>
              <a:t>pot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accesa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diverse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resurse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fără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implementări </a:t>
            </a:r>
            <a:r>
              <a:rPr dirty="0" sz="2100" spc="155">
                <a:solidFill>
                  <a:srgbClr val="02254D"/>
                </a:solidFill>
                <a:latin typeface="Arial Narrow"/>
                <a:cs typeface="Arial Narrow"/>
              </a:rPr>
              <a:t>specifice.</a:t>
            </a:r>
            <a:endParaRPr sz="21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21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spc="195">
                <a:solidFill>
                  <a:srgbClr val="02254D"/>
                </a:solidFill>
                <a:latin typeface="Arial Narrow"/>
                <a:cs typeface="Arial Narrow"/>
              </a:rPr>
              <a:t>Reutilizare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facilă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a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instrumentelor</a:t>
            </a:r>
            <a:endParaRPr sz="2750">
              <a:latin typeface="Arial Narrow"/>
              <a:cs typeface="Arial Narrow"/>
            </a:endParaRPr>
          </a:p>
          <a:p>
            <a:pPr marL="12700" marR="97155">
              <a:lnSpc>
                <a:spcPct val="100000"/>
              </a:lnSpc>
              <a:spcBef>
                <a:spcPts val="1070"/>
              </a:spcBef>
            </a:pP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Instrumentele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5">
                <a:solidFill>
                  <a:srgbClr val="02254D"/>
                </a:solidFill>
                <a:latin typeface="Arial Narrow"/>
                <a:cs typeface="Arial Narrow"/>
              </a:rPr>
              <a:t>pot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fi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folosite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29">
                <a:solidFill>
                  <a:srgbClr val="02254D"/>
                </a:solidFill>
                <a:latin typeface="Arial Narrow"/>
                <a:cs typeface="Arial Narrow"/>
              </a:rPr>
              <a:t>mai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mulți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agenți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fără 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modificări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majore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cod.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3200" rIns="0" bIns="0" rtlCol="0" vert="horz">
            <a:spAutoFit/>
          </a:bodyPr>
          <a:lstStyle/>
          <a:p>
            <a:pPr marL="12700" marR="5080">
              <a:lnSpc>
                <a:spcPts val="7500"/>
              </a:lnSpc>
              <a:spcBef>
                <a:spcPts val="1600"/>
              </a:spcBef>
            </a:pPr>
            <a:r>
              <a:rPr dirty="0" spc="860"/>
              <a:t>MCP</a:t>
            </a:r>
            <a:r>
              <a:rPr dirty="0" spc="160"/>
              <a:t> </a:t>
            </a:r>
            <a:r>
              <a:rPr dirty="0" spc="425"/>
              <a:t>versus</a:t>
            </a:r>
            <a:r>
              <a:rPr dirty="0" spc="160"/>
              <a:t> </a:t>
            </a:r>
            <a:r>
              <a:rPr dirty="0" spc="455"/>
              <a:t>integrarea</a:t>
            </a:r>
            <a:r>
              <a:rPr dirty="0" spc="165"/>
              <a:t> </a:t>
            </a:r>
            <a:r>
              <a:rPr dirty="0" spc="434"/>
              <a:t>clasică</a:t>
            </a:r>
            <a:r>
              <a:rPr dirty="0" spc="160"/>
              <a:t> </a:t>
            </a:r>
            <a:r>
              <a:rPr dirty="0" spc="350"/>
              <a:t>prin </a:t>
            </a:r>
            <a:r>
              <a:rPr dirty="0" spc="545"/>
              <a:t>API-</a:t>
            </a:r>
            <a:r>
              <a:rPr dirty="0" spc="440"/>
              <a:t>uri</a:t>
            </a:r>
          </a:p>
        </p:txBody>
      </p:sp>
      <p:sp>
        <p:nvSpPr>
          <p:cNvPr id="5" name="object 5"/>
          <p:cNvSpPr/>
          <p:nvPr/>
        </p:nvSpPr>
        <p:spPr>
          <a:xfrm>
            <a:off x="9609137" y="6293300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6161" y="6293300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09137" y="4511012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6161" y="4511012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120" y="2982429"/>
            <a:ext cx="7775778" cy="51842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8715" rIns="0" bIns="0" rtlCol="0" vert="horz">
            <a:spAutoFit/>
          </a:bodyPr>
          <a:lstStyle/>
          <a:p>
            <a:pPr marL="12700" marR="662940">
              <a:lnSpc>
                <a:spcPct val="100000"/>
              </a:lnSpc>
              <a:spcBef>
                <a:spcPts val="105"/>
              </a:spcBef>
            </a:pPr>
            <a:r>
              <a:rPr dirty="0" spc="270"/>
              <a:t>MCP</a:t>
            </a:r>
            <a:r>
              <a:rPr dirty="0" spc="60"/>
              <a:t> </a:t>
            </a:r>
            <a:r>
              <a:rPr dirty="0" spc="220"/>
              <a:t>oferă</a:t>
            </a:r>
            <a:r>
              <a:rPr dirty="0" spc="60"/>
              <a:t> </a:t>
            </a:r>
            <a:r>
              <a:rPr dirty="0" spc="235"/>
              <a:t>un</a:t>
            </a:r>
            <a:r>
              <a:rPr dirty="0" spc="60"/>
              <a:t> </a:t>
            </a:r>
            <a:r>
              <a:rPr dirty="0" spc="229"/>
              <a:t>cadru</a:t>
            </a:r>
            <a:r>
              <a:rPr dirty="0" spc="55"/>
              <a:t> </a:t>
            </a:r>
            <a:r>
              <a:rPr dirty="0" spc="225"/>
              <a:t>unificat</a:t>
            </a:r>
            <a:r>
              <a:rPr dirty="0" spc="60"/>
              <a:t> </a:t>
            </a:r>
            <a:r>
              <a:rPr dirty="0" spc="225"/>
              <a:t>de</a:t>
            </a:r>
            <a:r>
              <a:rPr dirty="0" spc="60"/>
              <a:t> </a:t>
            </a:r>
            <a:r>
              <a:rPr dirty="0" spc="240"/>
              <a:t>acces</a:t>
            </a:r>
            <a:r>
              <a:rPr dirty="0" spc="60"/>
              <a:t> </a:t>
            </a:r>
            <a:r>
              <a:rPr dirty="0" spc="190"/>
              <a:t>la</a:t>
            </a:r>
            <a:r>
              <a:rPr dirty="0" spc="55"/>
              <a:t> </a:t>
            </a:r>
            <a:r>
              <a:rPr dirty="0" spc="225"/>
              <a:t>date</a:t>
            </a:r>
            <a:r>
              <a:rPr dirty="0" spc="60"/>
              <a:t> </a:t>
            </a:r>
            <a:r>
              <a:rPr dirty="0" spc="180"/>
              <a:t>și </a:t>
            </a:r>
            <a:r>
              <a:rPr dirty="0" spc="220"/>
              <a:t>instrumente</a:t>
            </a: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850" spc="170"/>
              <a:t>Agenții</a:t>
            </a:r>
            <a:r>
              <a:rPr dirty="0" sz="1850" spc="45"/>
              <a:t> </a:t>
            </a:r>
            <a:r>
              <a:rPr dirty="0" sz="1850" spc="210"/>
              <a:t>pot</a:t>
            </a:r>
            <a:r>
              <a:rPr dirty="0" sz="1850" spc="50"/>
              <a:t> </a:t>
            </a:r>
            <a:r>
              <a:rPr dirty="0" sz="1850" spc="155"/>
              <a:t>utiliza</a:t>
            </a:r>
            <a:r>
              <a:rPr dirty="0" sz="1850" spc="50"/>
              <a:t> </a:t>
            </a:r>
            <a:r>
              <a:rPr dirty="0" sz="1850" spc="165"/>
              <a:t>resurse</a:t>
            </a:r>
            <a:r>
              <a:rPr dirty="0" sz="1850" spc="50"/>
              <a:t> </a:t>
            </a:r>
            <a:r>
              <a:rPr dirty="0" sz="1850" spc="160"/>
              <a:t>externe</a:t>
            </a:r>
            <a:r>
              <a:rPr dirty="0" sz="1850" spc="45"/>
              <a:t> </a:t>
            </a:r>
            <a:r>
              <a:rPr dirty="0" sz="1850" spc="180"/>
              <a:t>fără</a:t>
            </a:r>
            <a:r>
              <a:rPr dirty="0" sz="1850" spc="50"/>
              <a:t> </a:t>
            </a:r>
            <a:r>
              <a:rPr dirty="0" sz="1850" spc="150"/>
              <a:t>integrare</a:t>
            </a:r>
            <a:r>
              <a:rPr dirty="0" sz="1850" spc="50"/>
              <a:t> </a:t>
            </a:r>
            <a:r>
              <a:rPr dirty="0" sz="1850" spc="170"/>
              <a:t>specifică</a:t>
            </a:r>
            <a:endParaRPr sz="1850"/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pc="195"/>
              <a:t>Colaborare</a:t>
            </a:r>
            <a:r>
              <a:rPr dirty="0" spc="65"/>
              <a:t> </a:t>
            </a:r>
            <a:r>
              <a:rPr dirty="0" spc="220"/>
              <a:t>eficientă</a:t>
            </a:r>
            <a:r>
              <a:rPr dirty="0" spc="65"/>
              <a:t> </a:t>
            </a:r>
            <a:r>
              <a:rPr dirty="0" spc="170"/>
              <a:t>între</a:t>
            </a:r>
            <a:r>
              <a:rPr dirty="0" spc="65"/>
              <a:t> </a:t>
            </a:r>
            <a:r>
              <a:rPr dirty="0" spc="200"/>
              <a:t>agenți</a:t>
            </a: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850" spc="165"/>
              <a:t>Standardizarea</a:t>
            </a:r>
            <a:r>
              <a:rPr dirty="0" sz="1850" spc="60"/>
              <a:t> </a:t>
            </a:r>
            <a:r>
              <a:rPr dirty="0" sz="1850" spc="165"/>
              <a:t>facilitează</a:t>
            </a:r>
            <a:r>
              <a:rPr dirty="0" sz="1850" spc="60"/>
              <a:t> </a:t>
            </a:r>
            <a:r>
              <a:rPr dirty="0" sz="1850" spc="160"/>
              <a:t>interoperabilitatea</a:t>
            </a:r>
            <a:r>
              <a:rPr dirty="0" sz="1850" spc="60"/>
              <a:t> </a:t>
            </a:r>
            <a:r>
              <a:rPr dirty="0" sz="1850" spc="170"/>
              <a:t>globală</a:t>
            </a:r>
            <a:endParaRPr sz="1850"/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pc="240"/>
              <a:t>Schimbul</a:t>
            </a:r>
            <a:r>
              <a:rPr dirty="0" spc="65"/>
              <a:t> </a:t>
            </a:r>
            <a:r>
              <a:rPr dirty="0" spc="225"/>
              <a:t>de</a:t>
            </a:r>
            <a:r>
              <a:rPr dirty="0" spc="65"/>
              <a:t> </a:t>
            </a:r>
            <a:r>
              <a:rPr dirty="0" spc="235"/>
              <a:t>context</a:t>
            </a:r>
            <a:r>
              <a:rPr dirty="0" spc="65"/>
              <a:t> </a:t>
            </a:r>
            <a:r>
              <a:rPr dirty="0" spc="170"/>
              <a:t>între</a:t>
            </a:r>
            <a:r>
              <a:rPr dirty="0" spc="65"/>
              <a:t> </a:t>
            </a:r>
            <a:r>
              <a:rPr dirty="0" spc="210"/>
              <a:t>agenți</a:t>
            </a:r>
            <a:r>
              <a:rPr dirty="0" spc="65"/>
              <a:t> </a:t>
            </a:r>
            <a:r>
              <a:rPr dirty="0" spc="210"/>
              <a:t>este</a:t>
            </a:r>
            <a:r>
              <a:rPr dirty="0" spc="65"/>
              <a:t> </a:t>
            </a:r>
            <a:r>
              <a:rPr dirty="0" spc="225"/>
              <a:t>simplificat</a:t>
            </a: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850" spc="170"/>
              <a:t>Contextul</a:t>
            </a:r>
            <a:r>
              <a:rPr dirty="0" sz="1850" spc="55"/>
              <a:t> </a:t>
            </a:r>
            <a:r>
              <a:rPr dirty="0" sz="1850" spc="170"/>
              <a:t>este</a:t>
            </a:r>
            <a:r>
              <a:rPr dirty="0" sz="1850" spc="55"/>
              <a:t> </a:t>
            </a:r>
            <a:r>
              <a:rPr dirty="0" sz="1850" spc="170"/>
              <a:t>păstrat</a:t>
            </a:r>
            <a:r>
              <a:rPr dirty="0" sz="1850" spc="60"/>
              <a:t> </a:t>
            </a:r>
            <a:r>
              <a:rPr dirty="0" sz="1850" spc="155"/>
              <a:t>și</a:t>
            </a:r>
            <a:r>
              <a:rPr dirty="0" sz="1850" spc="55"/>
              <a:t> </a:t>
            </a:r>
            <a:r>
              <a:rPr dirty="0" sz="1850" spc="165"/>
              <a:t>transferat</a:t>
            </a:r>
            <a:r>
              <a:rPr dirty="0" sz="1850" spc="55"/>
              <a:t> </a:t>
            </a:r>
            <a:r>
              <a:rPr dirty="0" sz="1850" spc="215"/>
              <a:t>automat</a:t>
            </a:r>
            <a:r>
              <a:rPr dirty="0" sz="1850" spc="60"/>
              <a:t> </a:t>
            </a:r>
            <a:r>
              <a:rPr dirty="0" sz="1850" spc="160"/>
              <a:t>prin</a:t>
            </a:r>
            <a:r>
              <a:rPr dirty="0" sz="1850" spc="55"/>
              <a:t> </a:t>
            </a:r>
            <a:r>
              <a:rPr dirty="0" sz="1850" spc="185"/>
              <a:t>MCP</a:t>
            </a:r>
            <a:endParaRPr sz="1850"/>
          </a:p>
          <a:p>
            <a:pPr marL="12700" marR="5080">
              <a:lnSpc>
                <a:spcPct val="100000"/>
              </a:lnSpc>
              <a:spcBef>
                <a:spcPts val="1530"/>
              </a:spcBef>
            </a:pPr>
            <a:r>
              <a:rPr dirty="0" spc="204"/>
              <a:t>Descoperirea</a:t>
            </a:r>
            <a:r>
              <a:rPr dirty="0" spc="65"/>
              <a:t> </a:t>
            </a:r>
            <a:r>
              <a:rPr dirty="0" spc="254"/>
              <a:t>dinamică</a:t>
            </a:r>
            <a:r>
              <a:rPr dirty="0" spc="65"/>
              <a:t> </a:t>
            </a:r>
            <a:r>
              <a:rPr dirty="0" spc="215"/>
              <a:t>a</a:t>
            </a:r>
            <a:r>
              <a:rPr dirty="0" spc="65"/>
              <a:t> </a:t>
            </a:r>
            <a:r>
              <a:rPr dirty="0" spc="200"/>
              <a:t>capabilităților</a:t>
            </a:r>
            <a:r>
              <a:rPr dirty="0" spc="65"/>
              <a:t> </a:t>
            </a:r>
            <a:r>
              <a:rPr dirty="0" spc="220"/>
              <a:t>optimizează </a:t>
            </a:r>
            <a:r>
              <a:rPr dirty="0" spc="180"/>
              <a:t>integrarea</a:t>
            </a: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850" spc="170"/>
              <a:t>Agenții</a:t>
            </a:r>
            <a:r>
              <a:rPr dirty="0" sz="1850" spc="50"/>
              <a:t> </a:t>
            </a:r>
            <a:r>
              <a:rPr dirty="0" sz="1850" spc="170"/>
              <a:t>identifică</a:t>
            </a:r>
            <a:r>
              <a:rPr dirty="0" sz="1850" spc="55"/>
              <a:t> </a:t>
            </a:r>
            <a:r>
              <a:rPr dirty="0" sz="1850" spc="160"/>
              <a:t>rapid</a:t>
            </a:r>
            <a:r>
              <a:rPr dirty="0" sz="1850" spc="55"/>
              <a:t> </a:t>
            </a:r>
            <a:r>
              <a:rPr dirty="0" sz="1850" spc="180"/>
              <a:t>instrumentele</a:t>
            </a:r>
            <a:r>
              <a:rPr dirty="0" sz="1850" spc="55"/>
              <a:t> </a:t>
            </a:r>
            <a:r>
              <a:rPr dirty="0" sz="1850" spc="155"/>
              <a:t>și</a:t>
            </a:r>
            <a:r>
              <a:rPr dirty="0" sz="1850" spc="55"/>
              <a:t> </a:t>
            </a:r>
            <a:r>
              <a:rPr dirty="0" sz="1850" spc="145"/>
              <a:t>serviciile</a:t>
            </a:r>
            <a:r>
              <a:rPr dirty="0" sz="1850" spc="50"/>
              <a:t> </a:t>
            </a:r>
            <a:r>
              <a:rPr dirty="0" sz="1850" spc="155"/>
              <a:t>disponibile</a:t>
            </a:r>
            <a:endParaRPr sz="185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89392" y="1044501"/>
            <a:ext cx="7111365" cy="1908810"/>
          </a:xfrm>
          <a:prstGeom prst="rect"/>
        </p:spPr>
        <p:txBody>
          <a:bodyPr wrap="square" lIns="0" tIns="183515" rIns="0" bIns="0" rtlCol="0" vert="horz">
            <a:spAutoFit/>
          </a:bodyPr>
          <a:lstStyle/>
          <a:p>
            <a:pPr marL="12700" marR="5080">
              <a:lnSpc>
                <a:spcPts val="6740"/>
              </a:lnSpc>
              <a:spcBef>
                <a:spcPts val="1445"/>
              </a:spcBef>
            </a:pPr>
            <a:r>
              <a:rPr dirty="0" sz="6700" spc="400"/>
              <a:t>Interoperabilitatea </a:t>
            </a:r>
            <a:r>
              <a:rPr dirty="0" sz="6700" spc="415"/>
              <a:t>facilitată</a:t>
            </a:r>
            <a:r>
              <a:rPr dirty="0" sz="6700" spc="160"/>
              <a:t> </a:t>
            </a:r>
            <a:r>
              <a:rPr dirty="0" sz="6700" spc="509"/>
              <a:t>de</a:t>
            </a:r>
            <a:r>
              <a:rPr dirty="0" sz="6700" spc="170"/>
              <a:t> </a:t>
            </a:r>
            <a:r>
              <a:rPr dirty="0" sz="6700" spc="780"/>
              <a:t>MCP</a:t>
            </a:r>
            <a:endParaRPr sz="6700"/>
          </a:p>
        </p:txBody>
      </p:sp>
      <p:sp>
        <p:nvSpPr>
          <p:cNvPr id="5" name="object 5"/>
          <p:cNvSpPr/>
          <p:nvPr/>
        </p:nvSpPr>
        <p:spPr>
          <a:xfrm>
            <a:off x="910121" y="1171383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0121" y="1580958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0121" y="2036097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0121" y="2491235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120" y="2982429"/>
            <a:ext cx="7775778" cy="51842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2350" spc="190"/>
              <a:t>Gestionarea</a:t>
            </a:r>
            <a:r>
              <a:rPr dirty="0" sz="2350" spc="65"/>
              <a:t> </a:t>
            </a:r>
            <a:r>
              <a:rPr dirty="0" sz="2350" spc="170"/>
              <a:t>cererilor</a:t>
            </a:r>
            <a:r>
              <a:rPr dirty="0" sz="2350" spc="60"/>
              <a:t> </a:t>
            </a:r>
            <a:r>
              <a:rPr dirty="0" sz="2350" spc="210"/>
              <a:t>simultane</a:t>
            </a:r>
            <a:endParaRPr sz="235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750" spc="120"/>
              <a:t>Serverele</a:t>
            </a:r>
            <a:r>
              <a:rPr dirty="0" sz="1750" spc="40"/>
              <a:t> </a:t>
            </a:r>
            <a:r>
              <a:rPr dirty="0" sz="1750" spc="190"/>
              <a:t>MCP</a:t>
            </a:r>
            <a:r>
              <a:rPr dirty="0" sz="1750" spc="45"/>
              <a:t> </a:t>
            </a:r>
            <a:r>
              <a:rPr dirty="0" sz="1750" spc="160"/>
              <a:t>procesează</a:t>
            </a:r>
            <a:r>
              <a:rPr dirty="0" sz="1750" spc="40"/>
              <a:t> </a:t>
            </a:r>
            <a:r>
              <a:rPr dirty="0" sz="1750" spc="175"/>
              <a:t>volume</a:t>
            </a:r>
            <a:r>
              <a:rPr dirty="0" sz="1750" spc="45"/>
              <a:t> </a:t>
            </a:r>
            <a:r>
              <a:rPr dirty="0" sz="1750" spc="180"/>
              <a:t>mari</a:t>
            </a:r>
            <a:r>
              <a:rPr dirty="0" sz="1750" spc="45"/>
              <a:t> </a:t>
            </a:r>
            <a:r>
              <a:rPr dirty="0" sz="1750" spc="160"/>
              <a:t>de</a:t>
            </a:r>
            <a:r>
              <a:rPr dirty="0" sz="1750" spc="40"/>
              <a:t> </a:t>
            </a:r>
            <a:r>
              <a:rPr dirty="0" sz="1750" spc="135"/>
              <a:t>cereri</a:t>
            </a:r>
            <a:r>
              <a:rPr dirty="0" sz="1750" spc="45"/>
              <a:t> </a:t>
            </a:r>
            <a:r>
              <a:rPr dirty="0" sz="1750" spc="160"/>
              <a:t>de</a:t>
            </a:r>
            <a:r>
              <a:rPr dirty="0" sz="1750" spc="45"/>
              <a:t> </a:t>
            </a:r>
            <a:r>
              <a:rPr dirty="0" sz="1750" spc="130"/>
              <a:t>la</a:t>
            </a:r>
            <a:r>
              <a:rPr dirty="0" sz="1750" spc="40"/>
              <a:t> </a:t>
            </a:r>
            <a:r>
              <a:rPr dirty="0" sz="1750" spc="155"/>
              <a:t>agenți</a:t>
            </a:r>
            <a:r>
              <a:rPr dirty="0" sz="1750" spc="45"/>
              <a:t> </a:t>
            </a:r>
            <a:r>
              <a:rPr dirty="0" sz="1750" spc="114"/>
              <a:t>diverși.</a:t>
            </a:r>
            <a:endParaRPr sz="1750"/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350" spc="210"/>
              <a:t>Schimburi</a:t>
            </a:r>
            <a:r>
              <a:rPr dirty="0" sz="2350" spc="55"/>
              <a:t> </a:t>
            </a:r>
            <a:r>
              <a:rPr dirty="0" sz="2350" spc="235"/>
              <a:t>complexe</a:t>
            </a:r>
            <a:r>
              <a:rPr dirty="0" sz="2350" spc="55"/>
              <a:t> </a:t>
            </a:r>
            <a:r>
              <a:rPr dirty="0" sz="2350" spc="200"/>
              <a:t>de</a:t>
            </a:r>
            <a:r>
              <a:rPr dirty="0" sz="2350" spc="60"/>
              <a:t> </a:t>
            </a:r>
            <a:r>
              <a:rPr dirty="0" sz="2350" spc="210"/>
              <a:t>context</a:t>
            </a:r>
            <a:endParaRPr sz="235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750" spc="155"/>
              <a:t>Menținerea</a:t>
            </a:r>
            <a:r>
              <a:rPr dirty="0" sz="1750" spc="55"/>
              <a:t> </a:t>
            </a:r>
            <a:r>
              <a:rPr dirty="0" sz="1750" spc="160"/>
              <a:t>contextului</a:t>
            </a:r>
            <a:r>
              <a:rPr dirty="0" sz="1750" spc="55"/>
              <a:t> </a:t>
            </a:r>
            <a:r>
              <a:rPr dirty="0" sz="1750" spc="140"/>
              <a:t>individual</a:t>
            </a:r>
            <a:r>
              <a:rPr dirty="0" sz="1750" spc="55"/>
              <a:t> </a:t>
            </a:r>
            <a:r>
              <a:rPr dirty="0" sz="1750" spc="150"/>
              <a:t>pentru</a:t>
            </a:r>
            <a:r>
              <a:rPr dirty="0" sz="1750" spc="55"/>
              <a:t> </a:t>
            </a:r>
            <a:r>
              <a:rPr dirty="0" sz="1750" spc="150"/>
              <a:t>fiecare</a:t>
            </a:r>
            <a:r>
              <a:rPr dirty="0" sz="1750" spc="55"/>
              <a:t> </a:t>
            </a:r>
            <a:r>
              <a:rPr dirty="0" sz="1750" spc="155"/>
              <a:t>agent</a:t>
            </a:r>
            <a:r>
              <a:rPr dirty="0" sz="1750" spc="55"/>
              <a:t> </a:t>
            </a:r>
            <a:r>
              <a:rPr dirty="0" sz="1750" spc="155"/>
              <a:t>este</a:t>
            </a:r>
            <a:r>
              <a:rPr dirty="0" sz="1750" spc="55"/>
              <a:t> </a:t>
            </a:r>
            <a:r>
              <a:rPr dirty="0" sz="1750" spc="125"/>
              <a:t>esențială.</a:t>
            </a:r>
            <a:endParaRPr sz="1750"/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350" spc="229"/>
              <a:t>Acces</a:t>
            </a:r>
            <a:r>
              <a:rPr dirty="0" sz="2350" spc="45"/>
              <a:t> </a:t>
            </a:r>
            <a:r>
              <a:rPr dirty="0" sz="2350" spc="220"/>
              <a:t>concurent</a:t>
            </a:r>
            <a:r>
              <a:rPr dirty="0" sz="2350" spc="45"/>
              <a:t> </a:t>
            </a:r>
            <a:r>
              <a:rPr dirty="0" sz="2350" spc="170"/>
              <a:t>la</a:t>
            </a:r>
            <a:r>
              <a:rPr dirty="0" sz="2350" spc="50"/>
              <a:t> </a:t>
            </a:r>
            <a:r>
              <a:rPr dirty="0" sz="2350" spc="175"/>
              <a:t>resurse</a:t>
            </a:r>
            <a:endParaRPr sz="235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750" spc="135"/>
              <a:t>Izolarea</a:t>
            </a:r>
            <a:r>
              <a:rPr dirty="0" sz="1750" spc="40"/>
              <a:t> </a:t>
            </a:r>
            <a:r>
              <a:rPr dirty="0" sz="1750" spc="150"/>
              <a:t>și</a:t>
            </a:r>
            <a:r>
              <a:rPr dirty="0" sz="1750" spc="45"/>
              <a:t> </a:t>
            </a:r>
            <a:r>
              <a:rPr dirty="0" sz="1750" spc="150"/>
              <a:t>sincronizarea</a:t>
            </a:r>
            <a:r>
              <a:rPr dirty="0" sz="1750" spc="45"/>
              <a:t> </a:t>
            </a:r>
            <a:r>
              <a:rPr dirty="0" sz="1750" spc="155"/>
              <a:t>accesului</a:t>
            </a:r>
            <a:r>
              <a:rPr dirty="0" sz="1750" spc="45"/>
              <a:t> </a:t>
            </a:r>
            <a:r>
              <a:rPr dirty="0" sz="1750" spc="130"/>
              <a:t>la</a:t>
            </a:r>
            <a:r>
              <a:rPr dirty="0" sz="1750" spc="45"/>
              <a:t> </a:t>
            </a:r>
            <a:r>
              <a:rPr dirty="0" sz="1750" spc="160"/>
              <a:t>date</a:t>
            </a:r>
            <a:r>
              <a:rPr dirty="0" sz="1750" spc="45"/>
              <a:t> </a:t>
            </a:r>
            <a:r>
              <a:rPr dirty="0" sz="1750" spc="150"/>
              <a:t>și</a:t>
            </a:r>
            <a:r>
              <a:rPr dirty="0" sz="1750" spc="45"/>
              <a:t> </a:t>
            </a:r>
            <a:r>
              <a:rPr dirty="0" sz="1750" spc="170"/>
              <a:t>instrumente</a:t>
            </a:r>
            <a:r>
              <a:rPr dirty="0" sz="1750" spc="45"/>
              <a:t> </a:t>
            </a:r>
            <a:r>
              <a:rPr dirty="0" sz="1750" spc="140"/>
              <a:t>previn</a:t>
            </a:r>
            <a:r>
              <a:rPr dirty="0" sz="1750" spc="45"/>
              <a:t> </a:t>
            </a:r>
            <a:r>
              <a:rPr dirty="0" sz="1750" spc="135"/>
              <a:t>conflictele.</a:t>
            </a:r>
            <a:endParaRPr sz="1750"/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350" spc="175"/>
              <a:t>Scalare</a:t>
            </a:r>
            <a:r>
              <a:rPr dirty="0" sz="2350" spc="60"/>
              <a:t> </a:t>
            </a:r>
            <a:r>
              <a:rPr dirty="0" sz="2350" spc="190"/>
              <a:t>orizontală</a:t>
            </a:r>
            <a:r>
              <a:rPr dirty="0" sz="2350" spc="65"/>
              <a:t> </a:t>
            </a:r>
            <a:r>
              <a:rPr dirty="0" sz="2350" spc="190"/>
              <a:t>și</a:t>
            </a:r>
            <a:r>
              <a:rPr dirty="0" sz="2350" spc="65"/>
              <a:t> </a:t>
            </a:r>
            <a:r>
              <a:rPr dirty="0" sz="2350" spc="204"/>
              <a:t>load</a:t>
            </a:r>
            <a:r>
              <a:rPr dirty="0" sz="2350" spc="65"/>
              <a:t> </a:t>
            </a:r>
            <a:r>
              <a:rPr dirty="0" sz="2350" spc="185"/>
              <a:t>balancing</a:t>
            </a:r>
            <a:endParaRPr sz="235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750" spc="155"/>
              <a:t>Adăugarea</a:t>
            </a:r>
            <a:r>
              <a:rPr dirty="0" sz="1750" spc="50"/>
              <a:t> </a:t>
            </a:r>
            <a:r>
              <a:rPr dirty="0" sz="1750" spc="160"/>
              <a:t>de</a:t>
            </a:r>
            <a:r>
              <a:rPr dirty="0" sz="1750" spc="50"/>
              <a:t> </a:t>
            </a:r>
            <a:r>
              <a:rPr dirty="0" sz="1750" spc="155"/>
              <a:t>instanțe</a:t>
            </a:r>
            <a:r>
              <a:rPr dirty="0" sz="1750" spc="50"/>
              <a:t> </a:t>
            </a:r>
            <a:r>
              <a:rPr dirty="0" sz="1750" spc="190"/>
              <a:t>MCP</a:t>
            </a:r>
            <a:r>
              <a:rPr dirty="0" sz="1750" spc="50"/>
              <a:t> </a:t>
            </a:r>
            <a:r>
              <a:rPr dirty="0" sz="1750" spc="150"/>
              <a:t>și</a:t>
            </a:r>
            <a:r>
              <a:rPr dirty="0" sz="1750" spc="50"/>
              <a:t> </a:t>
            </a:r>
            <a:r>
              <a:rPr dirty="0" sz="1750" spc="145"/>
              <a:t>distribuirea</a:t>
            </a:r>
            <a:r>
              <a:rPr dirty="0" sz="1750" spc="50"/>
              <a:t> </a:t>
            </a:r>
            <a:r>
              <a:rPr dirty="0" sz="1750" spc="130"/>
              <a:t>cererilor</a:t>
            </a:r>
            <a:r>
              <a:rPr dirty="0" sz="1750" spc="55"/>
              <a:t> </a:t>
            </a:r>
            <a:r>
              <a:rPr dirty="0" sz="1750" spc="165"/>
              <a:t>optimizează</a:t>
            </a:r>
            <a:r>
              <a:rPr dirty="0" sz="1750" spc="50"/>
              <a:t> </a:t>
            </a:r>
            <a:r>
              <a:rPr dirty="0" sz="1750" spc="150"/>
              <a:t>performanța.</a:t>
            </a:r>
            <a:endParaRPr sz="1750"/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350" spc="185"/>
              <a:t>Arhitecturi</a:t>
            </a:r>
            <a:r>
              <a:rPr dirty="0" sz="2350" spc="65"/>
              <a:t> </a:t>
            </a:r>
            <a:r>
              <a:rPr dirty="0" sz="2350" spc="200"/>
              <a:t>pe</a:t>
            </a:r>
            <a:r>
              <a:rPr dirty="0" sz="2350" spc="65"/>
              <a:t> </a:t>
            </a:r>
            <a:r>
              <a:rPr dirty="0" sz="2350" spc="195"/>
              <a:t>microservicii</a:t>
            </a:r>
            <a:endParaRPr sz="235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750" spc="125"/>
              <a:t>Separarea</a:t>
            </a:r>
            <a:r>
              <a:rPr dirty="0" sz="1750" spc="60"/>
              <a:t> </a:t>
            </a:r>
            <a:r>
              <a:rPr dirty="0" sz="1750" spc="150"/>
              <a:t>funcționalităților</a:t>
            </a:r>
            <a:r>
              <a:rPr dirty="0" sz="1750" spc="60"/>
              <a:t> </a:t>
            </a:r>
            <a:r>
              <a:rPr dirty="0" sz="1750" spc="155"/>
              <a:t>crește</a:t>
            </a:r>
            <a:r>
              <a:rPr dirty="0" sz="1750" spc="60"/>
              <a:t> </a:t>
            </a:r>
            <a:r>
              <a:rPr dirty="0" sz="1750" spc="150"/>
              <a:t>disponibilitatea</a:t>
            </a:r>
            <a:r>
              <a:rPr dirty="0" sz="1750" spc="60"/>
              <a:t> </a:t>
            </a:r>
            <a:r>
              <a:rPr dirty="0" sz="1750" spc="150"/>
              <a:t>și</a:t>
            </a:r>
            <a:r>
              <a:rPr dirty="0" sz="1750" spc="60"/>
              <a:t> </a:t>
            </a:r>
            <a:r>
              <a:rPr dirty="0" sz="1750" spc="140"/>
              <a:t>flexibilitatea</a:t>
            </a:r>
            <a:r>
              <a:rPr dirty="0" sz="1750" spc="60"/>
              <a:t> </a:t>
            </a:r>
            <a:r>
              <a:rPr dirty="0" sz="1750" spc="140"/>
              <a:t>sistemului.</a:t>
            </a:r>
            <a:endParaRPr sz="175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3515" rIns="0" bIns="0" rtlCol="0" vert="horz">
            <a:spAutoFit/>
          </a:bodyPr>
          <a:lstStyle/>
          <a:p>
            <a:pPr marL="8695055" marR="5080">
              <a:lnSpc>
                <a:spcPts val="6740"/>
              </a:lnSpc>
              <a:spcBef>
                <a:spcPts val="1445"/>
              </a:spcBef>
            </a:pPr>
            <a:r>
              <a:rPr dirty="0" sz="6700" spc="409"/>
              <a:t>Scalabilitatea serverelor</a:t>
            </a:r>
            <a:r>
              <a:rPr dirty="0" sz="6700" spc="165"/>
              <a:t> </a:t>
            </a:r>
            <a:r>
              <a:rPr dirty="0" sz="6700" spc="780"/>
              <a:t>MCP</a:t>
            </a:r>
            <a:endParaRPr sz="6700"/>
          </a:p>
        </p:txBody>
      </p:sp>
      <p:sp>
        <p:nvSpPr>
          <p:cNvPr id="5" name="object 5"/>
          <p:cNvSpPr/>
          <p:nvPr/>
        </p:nvSpPr>
        <p:spPr>
          <a:xfrm>
            <a:off x="910121" y="1171383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0121" y="1580958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0121" y="2036097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0121" y="2491235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120" y="2982429"/>
            <a:ext cx="7775778" cy="51842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690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pc="185"/>
              <a:t>Rutarea</a:t>
            </a:r>
            <a:r>
              <a:rPr dirty="0" spc="65"/>
              <a:t> </a:t>
            </a:r>
            <a:r>
              <a:rPr dirty="0" spc="180"/>
              <a:t>cererilor</a:t>
            </a:r>
            <a:r>
              <a:rPr dirty="0" spc="65"/>
              <a:t> </a:t>
            </a:r>
            <a:r>
              <a:rPr dirty="0" spc="225"/>
              <a:t>pe</a:t>
            </a:r>
            <a:r>
              <a:rPr dirty="0" spc="70"/>
              <a:t> </a:t>
            </a:r>
            <a:r>
              <a:rPr dirty="0" spc="229"/>
              <a:t>baza</a:t>
            </a:r>
            <a:r>
              <a:rPr dirty="0" spc="70"/>
              <a:t> </a:t>
            </a:r>
            <a:r>
              <a:rPr dirty="0" spc="190"/>
              <a:t>capabilităților</a:t>
            </a: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850" spc="210"/>
              <a:t>MCP</a:t>
            </a:r>
            <a:r>
              <a:rPr dirty="0" sz="1850" spc="65"/>
              <a:t> </a:t>
            </a:r>
            <a:r>
              <a:rPr dirty="0" sz="1850" spc="185"/>
              <a:t>permite</a:t>
            </a:r>
            <a:r>
              <a:rPr dirty="0" sz="1850" spc="65"/>
              <a:t> </a:t>
            </a:r>
            <a:r>
              <a:rPr dirty="0" sz="1850" spc="165"/>
              <a:t>identificarea</a:t>
            </a:r>
            <a:r>
              <a:rPr dirty="0" sz="1850" spc="70"/>
              <a:t> </a:t>
            </a:r>
            <a:r>
              <a:rPr dirty="0" sz="1850" spc="195"/>
              <a:t>dinamică</a:t>
            </a:r>
            <a:r>
              <a:rPr dirty="0" sz="1850" spc="65"/>
              <a:t> </a:t>
            </a:r>
            <a:r>
              <a:rPr dirty="0" sz="1850" spc="175"/>
              <a:t>a</a:t>
            </a:r>
            <a:r>
              <a:rPr dirty="0" sz="1850" spc="65"/>
              <a:t> </a:t>
            </a:r>
            <a:r>
              <a:rPr dirty="0" sz="1850" spc="190"/>
              <a:t>competențelor</a:t>
            </a:r>
            <a:r>
              <a:rPr dirty="0" sz="1850" spc="70"/>
              <a:t> </a:t>
            </a:r>
            <a:r>
              <a:rPr dirty="0" sz="1850" spc="160"/>
              <a:t>fiecărui</a:t>
            </a:r>
            <a:r>
              <a:rPr dirty="0" sz="1850" spc="65"/>
              <a:t> </a:t>
            </a:r>
            <a:r>
              <a:rPr dirty="0" sz="1850" spc="150"/>
              <a:t>agent.</a:t>
            </a:r>
            <a:endParaRPr sz="1850"/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pc="215"/>
              <a:t>Optimizarea</a:t>
            </a:r>
            <a:r>
              <a:rPr dirty="0" spc="70"/>
              <a:t> </a:t>
            </a:r>
            <a:r>
              <a:rPr dirty="0" spc="180"/>
              <a:t>utilizării</a:t>
            </a:r>
            <a:r>
              <a:rPr dirty="0" spc="75"/>
              <a:t> </a:t>
            </a:r>
            <a:r>
              <a:rPr dirty="0" spc="185"/>
              <a:t>resurselor</a:t>
            </a:r>
          </a:p>
          <a:p>
            <a:pPr marL="12700" marR="840105">
              <a:lnSpc>
                <a:spcPct val="101499"/>
              </a:lnSpc>
              <a:spcBef>
                <a:spcPts val="944"/>
              </a:spcBef>
            </a:pPr>
            <a:r>
              <a:rPr dirty="0" sz="1850" spc="145"/>
              <a:t>Cererea</a:t>
            </a:r>
            <a:r>
              <a:rPr dirty="0" sz="1850" spc="50"/>
              <a:t> </a:t>
            </a:r>
            <a:r>
              <a:rPr dirty="0" sz="1850" spc="170"/>
              <a:t>este</a:t>
            </a:r>
            <a:r>
              <a:rPr dirty="0" sz="1850" spc="55"/>
              <a:t> </a:t>
            </a:r>
            <a:r>
              <a:rPr dirty="0" sz="1850" spc="175"/>
              <a:t>direcționată</a:t>
            </a:r>
            <a:r>
              <a:rPr dirty="0" sz="1850" spc="50"/>
              <a:t> </a:t>
            </a:r>
            <a:r>
              <a:rPr dirty="0" sz="1850" spc="170"/>
              <a:t>către</a:t>
            </a:r>
            <a:r>
              <a:rPr dirty="0" sz="1850" spc="55"/>
              <a:t> </a:t>
            </a:r>
            <a:r>
              <a:rPr dirty="0" sz="1850" spc="175"/>
              <a:t>agentul</a:t>
            </a:r>
            <a:r>
              <a:rPr dirty="0" sz="1850" spc="50"/>
              <a:t> </a:t>
            </a:r>
            <a:r>
              <a:rPr dirty="0" sz="1850" spc="160"/>
              <a:t>cel</a:t>
            </a:r>
            <a:r>
              <a:rPr dirty="0" sz="1850" spc="55"/>
              <a:t> </a:t>
            </a:r>
            <a:r>
              <a:rPr dirty="0" sz="1850" spc="225"/>
              <a:t>mai</a:t>
            </a:r>
            <a:r>
              <a:rPr dirty="0" sz="1850" spc="50"/>
              <a:t> </a:t>
            </a:r>
            <a:r>
              <a:rPr dirty="0" sz="1850" spc="135"/>
              <a:t>potrivit,</a:t>
            </a:r>
            <a:r>
              <a:rPr dirty="0" sz="1850" spc="55"/>
              <a:t> </a:t>
            </a:r>
            <a:r>
              <a:rPr dirty="0" sz="1850" spc="155"/>
              <a:t>evitând </a:t>
            </a:r>
            <a:r>
              <a:rPr dirty="0" sz="1850" spc="145"/>
              <a:t>suprasolicitarea.</a:t>
            </a:r>
            <a:endParaRPr sz="1850"/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pc="200"/>
              <a:t>Reducerea</a:t>
            </a:r>
            <a:r>
              <a:rPr dirty="0" spc="55"/>
              <a:t> </a:t>
            </a:r>
            <a:r>
              <a:rPr dirty="0" spc="195"/>
              <a:t>latenței</a:t>
            </a:r>
            <a:r>
              <a:rPr dirty="0" spc="60"/>
              <a:t> </a:t>
            </a:r>
            <a:r>
              <a:rPr dirty="0" spc="204"/>
              <a:t>și</a:t>
            </a:r>
            <a:r>
              <a:rPr dirty="0" spc="60"/>
              <a:t> </a:t>
            </a:r>
            <a:r>
              <a:rPr dirty="0" spc="204"/>
              <a:t>creșterea</a:t>
            </a:r>
            <a:r>
              <a:rPr dirty="0" spc="60"/>
              <a:t> </a:t>
            </a:r>
            <a:r>
              <a:rPr dirty="0" spc="195"/>
              <a:t>toleranței</a:t>
            </a:r>
            <a:r>
              <a:rPr dirty="0" spc="60"/>
              <a:t> </a:t>
            </a:r>
            <a:r>
              <a:rPr dirty="0" spc="190"/>
              <a:t>la</a:t>
            </a:r>
            <a:r>
              <a:rPr dirty="0" spc="60"/>
              <a:t> </a:t>
            </a:r>
            <a:r>
              <a:rPr dirty="0" spc="170"/>
              <a:t>erori</a:t>
            </a:r>
          </a:p>
          <a:p>
            <a:pPr marL="12700" marR="153670">
              <a:lnSpc>
                <a:spcPct val="101499"/>
              </a:lnSpc>
              <a:spcBef>
                <a:spcPts val="945"/>
              </a:spcBef>
            </a:pPr>
            <a:r>
              <a:rPr dirty="0" sz="1850" spc="150"/>
              <a:t>Rutarea</a:t>
            </a:r>
            <a:r>
              <a:rPr dirty="0" sz="1850" spc="50"/>
              <a:t> </a:t>
            </a:r>
            <a:r>
              <a:rPr dirty="0" sz="1850" spc="160"/>
              <a:t>inteligentă</a:t>
            </a:r>
            <a:r>
              <a:rPr dirty="0" sz="1850" spc="55"/>
              <a:t> </a:t>
            </a:r>
            <a:r>
              <a:rPr dirty="0" sz="1850" spc="195"/>
              <a:t>minimizează</a:t>
            </a:r>
            <a:r>
              <a:rPr dirty="0" sz="1850" spc="55"/>
              <a:t> </a:t>
            </a:r>
            <a:r>
              <a:rPr dirty="0" sz="1850" spc="200"/>
              <a:t>timpul</a:t>
            </a:r>
            <a:r>
              <a:rPr dirty="0" sz="1850" spc="55"/>
              <a:t> </a:t>
            </a:r>
            <a:r>
              <a:rPr dirty="0" sz="1850" spc="180"/>
              <a:t>de</a:t>
            </a:r>
            <a:r>
              <a:rPr dirty="0" sz="1850" spc="50"/>
              <a:t> </a:t>
            </a:r>
            <a:r>
              <a:rPr dirty="0" sz="1850" spc="190"/>
              <a:t>răspuns</a:t>
            </a:r>
            <a:r>
              <a:rPr dirty="0" sz="1850" spc="55"/>
              <a:t> </a:t>
            </a:r>
            <a:r>
              <a:rPr dirty="0" sz="1850" spc="155"/>
              <a:t>și</a:t>
            </a:r>
            <a:r>
              <a:rPr dirty="0" sz="1850" spc="55"/>
              <a:t> </a:t>
            </a:r>
            <a:r>
              <a:rPr dirty="0" sz="1850" spc="155"/>
              <a:t>redirecționează </a:t>
            </a:r>
            <a:r>
              <a:rPr dirty="0" sz="1850" spc="145"/>
              <a:t>cererile</a:t>
            </a:r>
            <a:r>
              <a:rPr dirty="0" sz="1850" spc="50"/>
              <a:t> </a:t>
            </a:r>
            <a:r>
              <a:rPr dirty="0" sz="1850" spc="110"/>
              <a:t>în</a:t>
            </a:r>
            <a:r>
              <a:rPr dirty="0" sz="1850" spc="55"/>
              <a:t> </a:t>
            </a:r>
            <a:r>
              <a:rPr dirty="0" sz="1850" spc="185"/>
              <a:t>caz</a:t>
            </a:r>
            <a:r>
              <a:rPr dirty="0" sz="1850" spc="55"/>
              <a:t> </a:t>
            </a:r>
            <a:r>
              <a:rPr dirty="0" sz="1850" spc="180"/>
              <a:t>de</a:t>
            </a:r>
            <a:r>
              <a:rPr dirty="0" sz="1850" spc="55"/>
              <a:t> </a:t>
            </a:r>
            <a:r>
              <a:rPr dirty="0" sz="1850" spc="145"/>
              <a:t>indisponibilitate.</a:t>
            </a:r>
            <a:endParaRPr sz="1850"/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pc="220"/>
              <a:t>Adaptabilitate</a:t>
            </a:r>
            <a:r>
              <a:rPr dirty="0" spc="60"/>
              <a:t> </a:t>
            </a:r>
            <a:r>
              <a:rPr dirty="0" spc="190"/>
              <a:t>la</a:t>
            </a:r>
            <a:r>
              <a:rPr dirty="0" spc="60"/>
              <a:t> </a:t>
            </a:r>
            <a:r>
              <a:rPr dirty="0" spc="240"/>
              <a:t>schimbări</a:t>
            </a:r>
            <a:r>
              <a:rPr dirty="0" spc="65"/>
              <a:t> </a:t>
            </a:r>
            <a:r>
              <a:rPr dirty="0" spc="135"/>
              <a:t>în</a:t>
            </a:r>
            <a:r>
              <a:rPr dirty="0" spc="65"/>
              <a:t> </a:t>
            </a:r>
            <a:r>
              <a:rPr dirty="0" spc="245"/>
              <a:t>ecosistem</a:t>
            </a: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850" spc="170"/>
              <a:t>Agenții</a:t>
            </a:r>
            <a:r>
              <a:rPr dirty="0" sz="1850" spc="50"/>
              <a:t> </a:t>
            </a:r>
            <a:r>
              <a:rPr dirty="0" sz="1850" spc="210"/>
              <a:t>pot</a:t>
            </a:r>
            <a:r>
              <a:rPr dirty="0" sz="1850" spc="45"/>
              <a:t> </a:t>
            </a:r>
            <a:r>
              <a:rPr dirty="0" sz="1850" spc="170"/>
              <a:t>fi</a:t>
            </a:r>
            <a:r>
              <a:rPr dirty="0" sz="1850" spc="50"/>
              <a:t> </a:t>
            </a:r>
            <a:r>
              <a:rPr dirty="0" sz="1850" spc="180"/>
              <a:t>adăugați</a:t>
            </a:r>
            <a:r>
              <a:rPr dirty="0" sz="1850" spc="50"/>
              <a:t> </a:t>
            </a:r>
            <a:r>
              <a:rPr dirty="0" sz="1850" spc="190"/>
              <a:t>sau</a:t>
            </a:r>
            <a:r>
              <a:rPr dirty="0" sz="1850" spc="50"/>
              <a:t> </a:t>
            </a:r>
            <a:r>
              <a:rPr dirty="0" sz="1850" spc="170"/>
              <a:t>eliminați</a:t>
            </a:r>
            <a:r>
              <a:rPr dirty="0" sz="1850" spc="50"/>
              <a:t> </a:t>
            </a:r>
            <a:r>
              <a:rPr dirty="0" sz="1850" spc="180"/>
              <a:t>fără</a:t>
            </a:r>
            <a:r>
              <a:rPr dirty="0" sz="1850" spc="50"/>
              <a:t> </a:t>
            </a:r>
            <a:r>
              <a:rPr dirty="0" sz="1850" spc="175"/>
              <a:t>a</a:t>
            </a:r>
            <a:r>
              <a:rPr dirty="0" sz="1850" spc="50"/>
              <a:t> </a:t>
            </a:r>
            <a:r>
              <a:rPr dirty="0" sz="1850" spc="190"/>
              <a:t>afecta</a:t>
            </a:r>
            <a:r>
              <a:rPr dirty="0" sz="1850" spc="50"/>
              <a:t> </a:t>
            </a:r>
            <a:r>
              <a:rPr dirty="0" sz="1850" spc="185"/>
              <a:t>funcționarea</a:t>
            </a:r>
            <a:r>
              <a:rPr dirty="0" sz="1850" spc="50"/>
              <a:t> </a:t>
            </a:r>
            <a:r>
              <a:rPr dirty="0" sz="1850" spc="150"/>
              <a:t>globală.</a:t>
            </a:r>
            <a:endParaRPr sz="185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89392" y="1044501"/>
            <a:ext cx="7334250" cy="1908810"/>
          </a:xfrm>
          <a:prstGeom prst="rect"/>
        </p:spPr>
        <p:txBody>
          <a:bodyPr wrap="square" lIns="0" tIns="183515" rIns="0" bIns="0" rtlCol="0" vert="horz">
            <a:spAutoFit/>
          </a:bodyPr>
          <a:lstStyle/>
          <a:p>
            <a:pPr marL="12700" marR="5080">
              <a:lnSpc>
                <a:spcPts val="6740"/>
              </a:lnSpc>
              <a:spcBef>
                <a:spcPts val="1445"/>
              </a:spcBef>
            </a:pPr>
            <a:r>
              <a:rPr dirty="0" sz="6700" spc="430"/>
              <a:t>Rutarea</a:t>
            </a:r>
            <a:r>
              <a:rPr dirty="0" sz="6700" spc="170"/>
              <a:t> </a:t>
            </a:r>
            <a:r>
              <a:rPr dirty="0" sz="6700" spc="405"/>
              <a:t>inteligentă </a:t>
            </a:r>
            <a:r>
              <a:rPr dirty="0" sz="6700" spc="545"/>
              <a:t>a</a:t>
            </a:r>
            <a:r>
              <a:rPr dirty="0" sz="6700" spc="145"/>
              <a:t> </a:t>
            </a:r>
            <a:r>
              <a:rPr dirty="0" sz="6700" spc="375"/>
              <a:t>cererilor</a:t>
            </a:r>
            <a:endParaRPr sz="6700"/>
          </a:p>
        </p:txBody>
      </p:sp>
      <p:sp>
        <p:nvSpPr>
          <p:cNvPr id="5" name="object 5"/>
          <p:cNvSpPr/>
          <p:nvPr/>
        </p:nvSpPr>
        <p:spPr>
          <a:xfrm>
            <a:off x="910121" y="1171383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0121" y="1580958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0121" y="2036097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0121" y="2491235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 h="0">
                <a:moveTo>
                  <a:pt x="0" y="0"/>
                </a:moveTo>
                <a:lnTo>
                  <a:pt x="7775790" y="0"/>
                </a:lnTo>
              </a:path>
            </a:pathLst>
          </a:custGeom>
          <a:ln w="19050">
            <a:solidFill>
              <a:srgbClr val="E8484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97323" y="3899389"/>
            <a:ext cx="7228840" cy="3922395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Scalabilitatea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colaborarea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75">
                <a:solidFill>
                  <a:srgbClr val="02254D"/>
                </a:solidFill>
                <a:latin typeface="Arial Narrow"/>
                <a:cs typeface="Arial Narrow"/>
              </a:rPr>
              <a:t>sunt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54">
                <a:solidFill>
                  <a:srgbClr val="02254D"/>
                </a:solidFill>
                <a:latin typeface="Arial Narrow"/>
                <a:cs typeface="Arial Narrow"/>
              </a:rPr>
              <a:t>optimizate</a:t>
            </a:r>
            <a:endParaRPr sz="2750">
              <a:latin typeface="Arial Narrow"/>
              <a:cs typeface="Arial Narrow"/>
            </a:endParaRPr>
          </a:p>
          <a:p>
            <a:pPr marL="12700" marR="153035">
              <a:lnSpc>
                <a:spcPct val="100000"/>
              </a:lnSpc>
              <a:spcBef>
                <a:spcPts val="1070"/>
              </a:spcBef>
            </a:pPr>
            <a:r>
              <a:rPr dirty="0" sz="2100" spc="135">
                <a:solidFill>
                  <a:srgbClr val="02254D"/>
                </a:solidFill>
                <a:latin typeface="Arial Narrow"/>
                <a:cs typeface="Arial Narrow"/>
              </a:rPr>
              <a:t>Serverele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25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5">
                <a:solidFill>
                  <a:srgbClr val="02254D"/>
                </a:solidFill>
                <a:latin typeface="Arial Narrow"/>
                <a:cs typeface="Arial Narrow"/>
              </a:rPr>
              <a:t>pot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gestiona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cereri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multiple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permit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rutarea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inteligentă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pe</a:t>
            </a:r>
            <a:r>
              <a:rPr dirty="0" sz="21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baza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0">
                <a:solidFill>
                  <a:srgbClr val="02254D"/>
                </a:solidFill>
                <a:latin typeface="Arial Narrow"/>
                <a:cs typeface="Arial Narrow"/>
              </a:rPr>
              <a:t>capabilităților</a:t>
            </a:r>
            <a:r>
              <a:rPr dirty="0" sz="21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detectate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0">
                <a:solidFill>
                  <a:srgbClr val="02254D"/>
                </a:solidFill>
                <a:latin typeface="Arial Narrow"/>
                <a:cs typeface="Arial Narrow"/>
              </a:rPr>
              <a:t>dinamic</a:t>
            </a:r>
            <a:r>
              <a:rPr dirty="0" sz="21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20">
                <a:solidFill>
                  <a:srgbClr val="02254D"/>
                </a:solidFill>
                <a:latin typeface="Arial Narrow"/>
                <a:cs typeface="Arial Narrow"/>
              </a:rPr>
              <a:t>ale </a:t>
            </a:r>
            <a:r>
              <a:rPr dirty="0" sz="2100" spc="130">
                <a:solidFill>
                  <a:srgbClr val="02254D"/>
                </a:solidFill>
                <a:latin typeface="Arial Narrow"/>
                <a:cs typeface="Arial Narrow"/>
              </a:rPr>
              <a:t>agenților.</a:t>
            </a:r>
            <a:endParaRPr sz="21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2100">
              <a:latin typeface="Arial Narrow"/>
              <a:cs typeface="Arial Narrow"/>
            </a:endParaRPr>
          </a:p>
          <a:p>
            <a:pPr marL="12700" marR="351155">
              <a:lnSpc>
                <a:spcPct val="100000"/>
              </a:lnSpc>
              <a:spcBef>
                <a:spcPts val="5"/>
              </a:spcBef>
            </a:pPr>
            <a:r>
              <a:rPr dirty="0" sz="2750" spc="300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04">
                <a:solidFill>
                  <a:srgbClr val="02254D"/>
                </a:solidFill>
                <a:latin typeface="Arial Narrow"/>
                <a:cs typeface="Arial Narrow"/>
              </a:rPr>
              <a:t>are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potențialul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5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35">
                <a:solidFill>
                  <a:srgbClr val="02254D"/>
                </a:solidFill>
                <a:latin typeface="Arial Narrow"/>
                <a:cs typeface="Arial Narrow"/>
              </a:rPr>
              <a:t>a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15">
                <a:solidFill>
                  <a:srgbClr val="02254D"/>
                </a:solidFill>
                <a:latin typeface="Arial Narrow"/>
                <a:cs typeface="Arial Narrow"/>
              </a:rPr>
              <a:t>deveni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60">
                <a:solidFill>
                  <a:srgbClr val="02254D"/>
                </a:solidFill>
                <a:latin typeface="Arial Narrow"/>
                <a:cs typeface="Arial Narrow"/>
              </a:rPr>
              <a:t>un</a:t>
            </a:r>
            <a:r>
              <a:rPr dirty="0" sz="275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50">
                <a:solidFill>
                  <a:srgbClr val="02254D"/>
                </a:solidFill>
                <a:latin typeface="Arial Narrow"/>
                <a:cs typeface="Arial Narrow"/>
              </a:rPr>
              <a:t>standard </a:t>
            </a:r>
            <a:r>
              <a:rPr dirty="0" sz="2750" spc="240">
                <a:solidFill>
                  <a:srgbClr val="02254D"/>
                </a:solidFill>
                <a:latin typeface="Arial Narrow"/>
                <a:cs typeface="Arial Narrow"/>
              </a:rPr>
              <a:t>global</a:t>
            </a:r>
            <a:endParaRPr sz="275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075"/>
              </a:spcBef>
            </a:pP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Evoluția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25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poate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4">
                <a:solidFill>
                  <a:srgbClr val="02254D"/>
                </a:solidFill>
                <a:latin typeface="Arial Narrow"/>
                <a:cs typeface="Arial Narrow"/>
              </a:rPr>
              <a:t>transforma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0">
                <a:solidFill>
                  <a:srgbClr val="02254D"/>
                </a:solidFill>
                <a:latin typeface="Arial Narrow"/>
                <a:cs typeface="Arial Narrow"/>
              </a:rPr>
              <a:t>ecosistemele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agentice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35">
                <a:solidFill>
                  <a:srgbClr val="02254D"/>
                </a:solidFill>
                <a:latin typeface="Arial Narrow"/>
                <a:cs typeface="Arial Narrow"/>
              </a:rPr>
              <a:t>cloud,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facilitând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colaborarea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5">
                <a:solidFill>
                  <a:srgbClr val="02254D"/>
                </a:solidFill>
                <a:latin typeface="Arial Narrow"/>
                <a:cs typeface="Arial Narrow"/>
              </a:rPr>
              <a:t>la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scară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35">
                <a:solidFill>
                  <a:srgbClr val="02254D"/>
                </a:solidFill>
                <a:latin typeface="Arial Narrow"/>
                <a:cs typeface="Arial Narrow"/>
              </a:rPr>
              <a:t>largă.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4348" y="3899389"/>
            <a:ext cx="7266940" cy="3922395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750" spc="300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50">
                <a:solidFill>
                  <a:srgbClr val="02254D"/>
                </a:solidFill>
                <a:latin typeface="Arial Narrow"/>
                <a:cs typeface="Arial Narrow"/>
              </a:rPr>
              <a:t>consolidează</a:t>
            </a:r>
            <a:r>
              <a:rPr dirty="0" sz="2750" spc="7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interoperabilitatea</a:t>
            </a:r>
            <a:r>
              <a:rPr dirty="0" sz="275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45">
                <a:solidFill>
                  <a:srgbClr val="02254D"/>
                </a:solidFill>
                <a:latin typeface="Arial Narrow"/>
                <a:cs typeface="Arial Narrow"/>
              </a:rPr>
              <a:t>agentică</a:t>
            </a:r>
            <a:endParaRPr sz="2750">
              <a:latin typeface="Arial Narrow"/>
              <a:cs typeface="Arial Narrow"/>
            </a:endParaRPr>
          </a:p>
          <a:p>
            <a:pPr marL="12700" marR="513080">
              <a:lnSpc>
                <a:spcPct val="100000"/>
              </a:lnSpc>
              <a:spcBef>
                <a:spcPts val="1070"/>
              </a:spcBef>
            </a:pP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Protocolul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25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permite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comunicarea</a:t>
            </a:r>
            <a:r>
              <a:rPr dirty="0" sz="2100" spc="6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standardizată</a:t>
            </a:r>
            <a:r>
              <a:rPr dirty="0" sz="2100" spc="7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30">
                <a:solidFill>
                  <a:srgbClr val="02254D"/>
                </a:solidFill>
                <a:latin typeface="Arial Narrow"/>
                <a:cs typeface="Arial Narrow"/>
              </a:rPr>
              <a:t>între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agenți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10">
                <a:solidFill>
                  <a:srgbClr val="02254D"/>
                </a:solidFill>
                <a:latin typeface="Arial Narrow"/>
                <a:cs typeface="Arial Narrow"/>
              </a:rPr>
              <a:t>software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autonomi,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indiferent</a:t>
            </a:r>
            <a:r>
              <a:rPr dirty="0" sz="2100" spc="5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0">
                <a:solidFill>
                  <a:srgbClr val="02254D"/>
                </a:solidFill>
                <a:latin typeface="Arial Narrow"/>
                <a:cs typeface="Arial Narrow"/>
              </a:rPr>
              <a:t>de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04">
                <a:solidFill>
                  <a:srgbClr val="02254D"/>
                </a:solidFill>
                <a:latin typeface="Arial Narrow"/>
                <a:cs typeface="Arial Narrow"/>
              </a:rPr>
              <a:t>platformă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sau </a:t>
            </a:r>
            <a:r>
              <a:rPr dirty="0" sz="2100" spc="135">
                <a:solidFill>
                  <a:srgbClr val="02254D"/>
                </a:solidFill>
                <a:latin typeface="Arial Narrow"/>
                <a:cs typeface="Arial Narrow"/>
              </a:rPr>
              <a:t>furnizor.</a:t>
            </a:r>
            <a:endParaRPr sz="21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2100">
              <a:latin typeface="Arial Narrow"/>
              <a:cs typeface="Arial Narrow"/>
            </a:endParaRPr>
          </a:p>
          <a:p>
            <a:pPr marL="12700" marR="1263015">
              <a:lnSpc>
                <a:spcPct val="100000"/>
              </a:lnSpc>
              <a:spcBef>
                <a:spcPts val="5"/>
              </a:spcBef>
            </a:pPr>
            <a:r>
              <a:rPr dirty="0" sz="2750" spc="225">
                <a:solidFill>
                  <a:srgbClr val="02254D"/>
                </a:solidFill>
                <a:latin typeface="Arial Narrow"/>
                <a:cs typeface="Arial Narrow"/>
              </a:rPr>
              <a:t>Provocări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20">
                <a:solidFill>
                  <a:srgbClr val="02254D"/>
                </a:solidFill>
                <a:latin typeface="Arial Narrow"/>
                <a:cs typeface="Arial Narrow"/>
              </a:rPr>
              <a:t>persistente:</a:t>
            </a:r>
            <a:r>
              <a:rPr dirty="0" sz="2750" spc="8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70">
                <a:solidFill>
                  <a:srgbClr val="02254D"/>
                </a:solidFill>
                <a:latin typeface="Arial Narrow"/>
                <a:cs typeface="Arial Narrow"/>
              </a:rPr>
              <a:t>implementare</a:t>
            </a:r>
            <a:r>
              <a:rPr dirty="0" sz="2750" spc="8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750" spc="200">
                <a:solidFill>
                  <a:srgbClr val="02254D"/>
                </a:solidFill>
                <a:latin typeface="Arial Narrow"/>
                <a:cs typeface="Arial Narrow"/>
              </a:rPr>
              <a:t>și </a:t>
            </a:r>
            <a:r>
              <a:rPr dirty="0" sz="2750" spc="229">
                <a:solidFill>
                  <a:srgbClr val="02254D"/>
                </a:solidFill>
                <a:latin typeface="Arial Narrow"/>
                <a:cs typeface="Arial Narrow"/>
              </a:rPr>
              <a:t>securitate</a:t>
            </a:r>
            <a:endParaRPr sz="2750">
              <a:latin typeface="Arial Narrow"/>
              <a:cs typeface="Arial Narrow"/>
            </a:endParaRPr>
          </a:p>
          <a:p>
            <a:pPr marL="12700" marR="125730">
              <a:lnSpc>
                <a:spcPct val="100000"/>
              </a:lnSpc>
              <a:spcBef>
                <a:spcPts val="1075"/>
              </a:spcBef>
            </a:pP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Adoptarea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225">
                <a:solidFill>
                  <a:srgbClr val="02254D"/>
                </a:solidFill>
                <a:latin typeface="Arial Narrow"/>
                <a:cs typeface="Arial Narrow"/>
              </a:rPr>
              <a:t>MCP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necesită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soluții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85">
                <a:solidFill>
                  <a:srgbClr val="02254D"/>
                </a:solidFill>
                <a:latin typeface="Arial Narrow"/>
                <a:cs typeface="Arial Narrow"/>
              </a:rPr>
              <a:t>robuste</a:t>
            </a:r>
            <a:r>
              <a:rPr dirty="0" sz="2100" spc="45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pentru</a:t>
            </a:r>
            <a:r>
              <a:rPr dirty="0" sz="2100" spc="5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performanță, </a:t>
            </a:r>
            <a:r>
              <a:rPr dirty="0" sz="2100" spc="175">
                <a:solidFill>
                  <a:srgbClr val="02254D"/>
                </a:solidFill>
                <a:latin typeface="Arial Narrow"/>
                <a:cs typeface="Arial Narrow"/>
              </a:rPr>
              <a:t>securitate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65">
                <a:solidFill>
                  <a:srgbClr val="02254D"/>
                </a:solidFill>
                <a:latin typeface="Arial Narrow"/>
                <a:cs typeface="Arial Narrow"/>
              </a:rPr>
              <a:t>și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50">
                <a:solidFill>
                  <a:srgbClr val="02254D"/>
                </a:solidFill>
                <a:latin typeface="Arial Narrow"/>
                <a:cs typeface="Arial Narrow"/>
              </a:rPr>
              <a:t>integrare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14">
                <a:solidFill>
                  <a:srgbClr val="02254D"/>
                </a:solidFill>
                <a:latin typeface="Arial Narrow"/>
                <a:cs typeface="Arial Narrow"/>
              </a:rPr>
              <a:t>în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70">
                <a:solidFill>
                  <a:srgbClr val="02254D"/>
                </a:solidFill>
                <a:latin typeface="Arial Narrow"/>
                <a:cs typeface="Arial Narrow"/>
              </a:rPr>
              <a:t>infrastructuri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95">
                <a:solidFill>
                  <a:srgbClr val="02254D"/>
                </a:solidFill>
                <a:latin typeface="Arial Narrow"/>
                <a:cs typeface="Arial Narrow"/>
              </a:rPr>
              <a:t>cloud</a:t>
            </a:r>
            <a:r>
              <a:rPr dirty="0" sz="2100" spc="60">
                <a:solidFill>
                  <a:srgbClr val="02254D"/>
                </a:solidFill>
                <a:latin typeface="Arial Narrow"/>
                <a:cs typeface="Arial Narrow"/>
              </a:rPr>
              <a:t> </a:t>
            </a:r>
            <a:r>
              <a:rPr dirty="0" sz="2100" spc="140">
                <a:solidFill>
                  <a:srgbClr val="02254D"/>
                </a:solidFill>
                <a:latin typeface="Arial Narrow"/>
                <a:cs typeface="Arial Narrow"/>
              </a:rPr>
              <a:t>scalabile.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20"/>
              <a:t>Concluzii</a:t>
            </a:r>
            <a:r>
              <a:rPr dirty="0" spc="160"/>
              <a:t> </a:t>
            </a:r>
            <a:r>
              <a:rPr dirty="0" spc="330"/>
              <a:t>și</a:t>
            </a:r>
            <a:r>
              <a:rPr dirty="0" spc="160"/>
              <a:t> </a:t>
            </a:r>
            <a:r>
              <a:rPr dirty="0" spc="455"/>
              <a:t>perspective</a:t>
            </a:r>
          </a:p>
        </p:txBody>
      </p:sp>
      <p:sp>
        <p:nvSpPr>
          <p:cNvPr id="5" name="object 5"/>
          <p:cNvSpPr/>
          <p:nvPr/>
        </p:nvSpPr>
        <p:spPr>
          <a:xfrm>
            <a:off x="9609137" y="6243214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6161" y="6243214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09137" y="4140884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6161" y="4140884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398" y="0"/>
                </a:moveTo>
                <a:lnTo>
                  <a:pt x="96024" y="7156"/>
                </a:lnTo>
                <a:lnTo>
                  <a:pt x="57483" y="27086"/>
                </a:lnTo>
                <a:lnTo>
                  <a:pt x="27090" y="57475"/>
                </a:lnTo>
                <a:lnTo>
                  <a:pt x="7158" y="96012"/>
                </a:lnTo>
                <a:lnTo>
                  <a:pt x="0" y="140385"/>
                </a:lnTo>
                <a:lnTo>
                  <a:pt x="7158" y="184758"/>
                </a:lnTo>
                <a:lnTo>
                  <a:pt x="27090" y="223296"/>
                </a:lnTo>
                <a:lnTo>
                  <a:pt x="57483" y="253685"/>
                </a:lnTo>
                <a:lnTo>
                  <a:pt x="96024" y="273614"/>
                </a:lnTo>
                <a:lnTo>
                  <a:pt x="140398" y="280771"/>
                </a:lnTo>
                <a:lnTo>
                  <a:pt x="184771" y="273614"/>
                </a:lnTo>
                <a:lnTo>
                  <a:pt x="223308" y="253685"/>
                </a:lnTo>
                <a:lnTo>
                  <a:pt x="253698" y="223296"/>
                </a:lnTo>
                <a:lnTo>
                  <a:pt x="273627" y="184758"/>
                </a:lnTo>
                <a:lnTo>
                  <a:pt x="280784" y="140385"/>
                </a:lnTo>
                <a:lnTo>
                  <a:pt x="273627" y="96012"/>
                </a:lnTo>
                <a:lnTo>
                  <a:pt x="253698" y="57475"/>
                </a:lnTo>
                <a:lnTo>
                  <a:pt x="223308" y="27086"/>
                </a:lnTo>
                <a:lnTo>
                  <a:pt x="184771" y="7156"/>
                </a:lnTo>
                <a:lnTo>
                  <a:pt x="140398" y="0"/>
                </a:lnTo>
                <a:close/>
              </a:path>
            </a:pathLst>
          </a:custGeom>
          <a:solidFill>
            <a:srgbClr val="E8484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2026-02-04T00:05:07Z</dcterms:created>
  <dcterms:modified xsi:type="dcterms:W3CDTF">2026-02-04T00:05:07Z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2026-02-04T00:00:00Z</vt:filetime>
  </property>
  <property fmtid="{D5CDD505-2E9C-101B-9397-08002B2CF9AE}" pid="6" name="Producer">
    <vt:lpwstr>Adobe Express</vt:lpwstr>
  </property>
</Properties>
</file>