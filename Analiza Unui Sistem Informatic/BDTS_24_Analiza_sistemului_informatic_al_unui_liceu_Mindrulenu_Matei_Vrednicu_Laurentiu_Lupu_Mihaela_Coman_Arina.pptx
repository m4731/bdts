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4" r:id="rId1"/>
  </p:sldMasterIdLst>
  <p:sldIdLst>
    <p:sldId id="256" r:id="rId2"/>
    <p:sldId id="261" r:id="rId3"/>
    <p:sldId id="257" r:id="rId4"/>
    <p:sldId id="292" r:id="rId5"/>
    <p:sldId id="258" r:id="rId6"/>
    <p:sldId id="262" r:id="rId7"/>
    <p:sldId id="263" r:id="rId8"/>
    <p:sldId id="268" r:id="rId9"/>
    <p:sldId id="269" r:id="rId10"/>
    <p:sldId id="272" r:id="rId11"/>
    <p:sldId id="27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94723" autoAdjust="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ransition>
    <p:wipe dir="d"/>
  </p:transition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o-RO" dirty="0" smtClean="0"/>
              <a:t>Analiza sistemului informatic al unui liceu</a:t>
            </a:r>
            <a:endParaRPr lang="ro-RO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ro-RO" dirty="0" smtClean="0"/>
              <a:t>Studenți</a:t>
            </a:r>
          </a:p>
          <a:p>
            <a:pPr lvl="1">
              <a:buFont typeface="Wingdings" pitchFamily="2" charset="2"/>
              <a:buChar char="v"/>
            </a:pPr>
            <a:r>
              <a:rPr lang="ro-RO" dirty="0" smtClean="0"/>
              <a:t>Mîndruleanu Matei</a:t>
            </a:r>
          </a:p>
          <a:p>
            <a:pPr lvl="1">
              <a:buFont typeface="Wingdings" pitchFamily="2" charset="2"/>
              <a:buChar char="v"/>
            </a:pPr>
            <a:r>
              <a:rPr lang="ro-RO" dirty="0" smtClean="0"/>
              <a:t>Vrednicu Laurențiu</a:t>
            </a:r>
          </a:p>
          <a:p>
            <a:pPr lvl="1">
              <a:buFont typeface="Wingdings" pitchFamily="2" charset="2"/>
              <a:buChar char="v"/>
            </a:pPr>
            <a:r>
              <a:rPr lang="ro-RO" dirty="0" smtClean="0"/>
              <a:t>Lupu Mihaela</a:t>
            </a:r>
          </a:p>
          <a:p>
            <a:pPr lvl="1">
              <a:buFont typeface="Wingdings" pitchFamily="2" charset="2"/>
              <a:buChar char="v"/>
            </a:pPr>
            <a:r>
              <a:rPr lang="ro-RO" dirty="0" smtClean="0"/>
              <a:t>Coman Arina</a:t>
            </a:r>
          </a:p>
          <a:p>
            <a:pPr lvl="1">
              <a:buFont typeface="Wingdings" pitchFamily="2" charset="2"/>
              <a:buChar char="v"/>
            </a:pPr>
            <a:endParaRPr lang="ro-RO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vi-VN" b="1" dirty="0" smtClean="0"/>
              <a:t/>
            </a:r>
            <a:br>
              <a:rPr lang="vi-VN" b="1" dirty="0" smtClean="0"/>
            </a:br>
            <a:r>
              <a:rPr lang="vi-VN" b="1" dirty="0" smtClean="0"/>
              <a:t> </a:t>
            </a:r>
            <a:r>
              <a:rPr lang="vi-VN" dirty="0" smtClean="0"/>
              <a:t>Scopul</a:t>
            </a:r>
            <a:r>
              <a:rPr lang="ro-RO" dirty="0" smtClean="0"/>
              <a:t>,</a:t>
            </a:r>
            <a:r>
              <a:rPr lang="vi-VN" dirty="0" smtClean="0"/>
              <a:t> obiectivele proiectului</a:t>
            </a:r>
            <a:r>
              <a:rPr lang="ro-RO" dirty="0" smtClean="0"/>
              <a:t> și descrierea beneficiarului</a:t>
            </a:r>
            <a:r>
              <a:rPr lang="ro-RO" b="1" dirty="0" smtClean="0"/>
              <a:t/>
            </a:r>
            <a:br>
              <a:rPr lang="ro-RO" b="1" dirty="0" smtClean="0"/>
            </a:b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buFont typeface="Wingdings" pitchFamily="2" charset="2"/>
              <a:buChar char="v"/>
            </a:pPr>
            <a:r>
              <a:rPr lang="vi-VN" sz="3000" dirty="0" smtClean="0"/>
              <a:t>Scopul principal al proiectului este informatizarea și eficientizarea procesului educațional prin </a:t>
            </a:r>
            <a:r>
              <a:rPr lang="vi-VN" sz="3000" dirty="0" smtClean="0">
                <a:latin typeface="Corbel" pitchFamily="34" charset="0"/>
              </a:rPr>
              <a:t>centralizarea</a:t>
            </a:r>
            <a:r>
              <a:rPr lang="vi-VN" sz="3000" dirty="0" smtClean="0"/>
              <a:t> și digitalizarea resurselor și activităților didactice. </a:t>
            </a:r>
            <a:endParaRPr lang="ro-RO" sz="3000" dirty="0" smtClean="0"/>
          </a:p>
          <a:p>
            <a:pPr algn="just">
              <a:buFont typeface="Wingdings" pitchFamily="2" charset="2"/>
              <a:buChar char="v"/>
            </a:pPr>
            <a:r>
              <a:rPr lang="vi-VN" sz="3000" dirty="0" smtClean="0"/>
              <a:t>Beneficiarii sistemului informatic sunt instituțiile de învățământ care doresc să își modernizeze procesul educațional prin integrarea unei platforme digitale.</a:t>
            </a:r>
            <a:endParaRPr lang="ro-RO" sz="3000" dirty="0" smtClean="0"/>
          </a:p>
          <a:p>
            <a:pPr algn="just">
              <a:buFont typeface="Wingdings" pitchFamily="2" charset="2"/>
              <a:buChar char="v"/>
            </a:pPr>
            <a:r>
              <a:rPr lang="vi-VN" sz="3000" dirty="0" smtClean="0"/>
              <a:t>Utilizatorii direcți ai aplicației sunt:</a:t>
            </a:r>
          </a:p>
          <a:p>
            <a:pPr lvl="1" algn="just" fontAlgn="base">
              <a:buFont typeface="Wingdings" pitchFamily="2" charset="2"/>
              <a:buChar char="v"/>
            </a:pPr>
            <a:r>
              <a:rPr lang="vi-VN" sz="3000" dirty="0" smtClean="0"/>
              <a:t>cadrele didactice, care pot gestiona conținutul educațional;</a:t>
            </a:r>
          </a:p>
          <a:p>
            <a:pPr lvl="1" algn="just" fontAlgn="base">
              <a:buFont typeface="Wingdings" pitchFamily="2" charset="2"/>
              <a:buChar char="v"/>
            </a:pPr>
            <a:r>
              <a:rPr lang="vi-VN" sz="3000" dirty="0" smtClean="0"/>
              <a:t>elevii sau studenții, care pot accesa materialele;</a:t>
            </a:r>
            <a:endParaRPr lang="ro-RO" sz="3000" dirty="0" smtClean="0"/>
          </a:p>
          <a:p>
            <a:pPr algn="just">
              <a:buFont typeface="Wingdings" pitchFamily="2" charset="2"/>
              <a:buChar char="v"/>
            </a:pPr>
            <a:endParaRPr lang="ro-RO" dirty="0" smtClean="0"/>
          </a:p>
          <a:p>
            <a:endParaRPr lang="ro-RO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err="1" smtClean="0"/>
              <a:t>Componentele</a:t>
            </a:r>
            <a:r>
              <a:rPr lang="en-US" b="1" dirty="0" smtClean="0"/>
              <a:t> software ale </a:t>
            </a:r>
            <a:r>
              <a:rPr lang="en-US" b="1" dirty="0" err="1" smtClean="0"/>
              <a:t>sistemului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endParaRPr lang="ro-RO" dirty="0" smtClean="0"/>
          </a:p>
          <a:p>
            <a:pPr algn="just">
              <a:buFont typeface="Wingdings" pitchFamily="2" charset="2"/>
              <a:buChar char="v"/>
            </a:pPr>
            <a:r>
              <a:rPr lang="en-US" dirty="0" err="1" smtClean="0"/>
              <a:t>Aplicația</a:t>
            </a:r>
            <a:r>
              <a:rPr lang="en-US" dirty="0" smtClean="0"/>
              <a:t> </a:t>
            </a:r>
            <a:r>
              <a:rPr lang="en-US" dirty="0" err="1" smtClean="0"/>
              <a:t>informatică</a:t>
            </a:r>
            <a:r>
              <a:rPr lang="en-US" dirty="0" smtClean="0"/>
              <a:t> </a:t>
            </a:r>
            <a:r>
              <a:rPr lang="en-US" dirty="0" err="1" smtClean="0"/>
              <a:t>propusă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realizată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baza</a:t>
            </a:r>
            <a:r>
              <a:rPr lang="en-US" dirty="0" smtClean="0"/>
              <a:t> </a:t>
            </a:r>
            <a:r>
              <a:rPr lang="en-US" dirty="0" err="1" smtClean="0"/>
              <a:t>unei</a:t>
            </a:r>
            <a:r>
              <a:rPr lang="en-US" dirty="0" smtClean="0"/>
              <a:t> </a:t>
            </a:r>
            <a:r>
              <a:rPr lang="en-US" dirty="0" err="1" smtClean="0"/>
              <a:t>arhitecturi</a:t>
            </a:r>
            <a:r>
              <a:rPr lang="en-US" dirty="0" smtClean="0"/>
              <a:t> </a:t>
            </a:r>
            <a:r>
              <a:rPr lang="en-US" dirty="0" err="1" smtClean="0"/>
              <a:t>moderne</a:t>
            </a:r>
            <a:r>
              <a:rPr lang="en-US" dirty="0" smtClean="0"/>
              <a:t> de tip client–server, care </a:t>
            </a:r>
            <a:r>
              <a:rPr lang="en-US" dirty="0" err="1" smtClean="0"/>
              <a:t>permite</a:t>
            </a:r>
            <a:r>
              <a:rPr lang="en-US" dirty="0" smtClean="0"/>
              <a:t> </a:t>
            </a:r>
            <a:r>
              <a:rPr lang="en-US" dirty="0" err="1" smtClean="0"/>
              <a:t>separarea</a:t>
            </a:r>
            <a:r>
              <a:rPr lang="en-US" dirty="0" smtClean="0"/>
              <a:t> </a:t>
            </a:r>
            <a:r>
              <a:rPr lang="en-US" dirty="0" err="1" smtClean="0"/>
              <a:t>clară</a:t>
            </a:r>
            <a:r>
              <a:rPr lang="en-US" dirty="0" smtClean="0"/>
              <a:t> a </a:t>
            </a:r>
            <a:r>
              <a:rPr lang="en-US" dirty="0" err="1" smtClean="0"/>
              <a:t>responsabilităților</a:t>
            </a:r>
            <a:r>
              <a:rPr lang="en-US" dirty="0" smtClean="0"/>
              <a:t> </a:t>
            </a:r>
            <a:r>
              <a:rPr lang="en-US" dirty="0" err="1" smtClean="0"/>
              <a:t>între</a:t>
            </a:r>
            <a:r>
              <a:rPr lang="en-US" dirty="0" smtClean="0"/>
              <a:t> </a:t>
            </a:r>
            <a:r>
              <a:rPr lang="en-US" dirty="0" err="1" smtClean="0"/>
              <a:t>interfața</a:t>
            </a:r>
            <a:r>
              <a:rPr lang="en-US" dirty="0" smtClean="0"/>
              <a:t> </a:t>
            </a:r>
            <a:r>
              <a:rPr lang="en-US" dirty="0" err="1" smtClean="0"/>
              <a:t>utilizator</a:t>
            </a:r>
            <a:r>
              <a:rPr lang="en-US" dirty="0" smtClean="0"/>
              <a:t>, </a:t>
            </a:r>
            <a:r>
              <a:rPr lang="en-US" dirty="0" err="1" smtClean="0"/>
              <a:t>logica</a:t>
            </a:r>
            <a:r>
              <a:rPr lang="en-US" dirty="0" smtClean="0"/>
              <a:t> </a:t>
            </a:r>
            <a:r>
              <a:rPr lang="en-US" dirty="0" err="1" smtClean="0"/>
              <a:t>aplicației</a:t>
            </a:r>
            <a:r>
              <a:rPr lang="en-US" dirty="0" smtClean="0"/>
              <a:t> </a:t>
            </a:r>
            <a:r>
              <a:rPr lang="en-US" dirty="0" err="1" smtClean="0"/>
              <a:t>și</a:t>
            </a:r>
            <a:r>
              <a:rPr lang="en-US" dirty="0" smtClean="0"/>
              <a:t> </a:t>
            </a:r>
            <a:r>
              <a:rPr lang="en-US" dirty="0" err="1" smtClean="0"/>
              <a:t>nivelul</a:t>
            </a:r>
            <a:r>
              <a:rPr lang="en-US" dirty="0" smtClean="0"/>
              <a:t> de </a:t>
            </a:r>
            <a:r>
              <a:rPr lang="en-US" dirty="0" err="1" smtClean="0"/>
              <a:t>persistență</a:t>
            </a:r>
            <a:r>
              <a:rPr lang="en-US" dirty="0" smtClean="0"/>
              <a:t> a </a:t>
            </a:r>
            <a:r>
              <a:rPr lang="en-US" dirty="0" err="1" smtClean="0"/>
              <a:t>datelor</a:t>
            </a:r>
            <a:r>
              <a:rPr lang="en-US" dirty="0" smtClean="0"/>
              <a:t>. </a:t>
            </a:r>
            <a:r>
              <a:rPr lang="en-US" dirty="0" err="1" smtClean="0"/>
              <a:t>Această</a:t>
            </a:r>
            <a:r>
              <a:rPr lang="en-US" dirty="0" smtClean="0"/>
              <a:t> </a:t>
            </a:r>
            <a:r>
              <a:rPr lang="en-US" dirty="0" err="1" smtClean="0"/>
              <a:t>arhitectură</a:t>
            </a:r>
            <a:r>
              <a:rPr lang="en-US" dirty="0" smtClean="0"/>
              <a:t> </a:t>
            </a:r>
            <a:r>
              <a:rPr lang="en-US" dirty="0" err="1" smtClean="0"/>
              <a:t>contribuie</a:t>
            </a:r>
            <a:r>
              <a:rPr lang="en-US" dirty="0" smtClean="0"/>
              <a:t> la </a:t>
            </a:r>
            <a:r>
              <a:rPr lang="en-US" dirty="0" err="1" smtClean="0"/>
              <a:t>obținerea</a:t>
            </a:r>
            <a:r>
              <a:rPr lang="en-US" dirty="0" smtClean="0"/>
              <a:t> </a:t>
            </a:r>
            <a:r>
              <a:rPr lang="en-US" dirty="0" err="1" smtClean="0"/>
              <a:t>unei</a:t>
            </a:r>
            <a:r>
              <a:rPr lang="en-US" dirty="0" smtClean="0"/>
              <a:t> </a:t>
            </a:r>
            <a:r>
              <a:rPr lang="en-US" dirty="0" err="1" smtClean="0"/>
              <a:t>aplicații</a:t>
            </a:r>
            <a:r>
              <a:rPr lang="en-US" dirty="0" smtClean="0"/>
              <a:t> stabile, </a:t>
            </a:r>
            <a:r>
              <a:rPr lang="en-US" dirty="0" err="1" smtClean="0"/>
              <a:t>ușor</a:t>
            </a:r>
            <a:r>
              <a:rPr lang="en-US" dirty="0" smtClean="0"/>
              <a:t> de </a:t>
            </a:r>
            <a:r>
              <a:rPr lang="en-US" dirty="0" err="1" smtClean="0"/>
              <a:t>întreținut</a:t>
            </a:r>
            <a:r>
              <a:rPr lang="en-US" dirty="0" smtClean="0"/>
              <a:t> </a:t>
            </a:r>
            <a:r>
              <a:rPr lang="en-US" dirty="0" err="1" smtClean="0"/>
              <a:t>și</a:t>
            </a:r>
            <a:r>
              <a:rPr lang="en-US" dirty="0" smtClean="0"/>
              <a:t> </a:t>
            </a:r>
            <a:r>
              <a:rPr lang="en-US" dirty="0" err="1" smtClean="0"/>
              <a:t>extensibile</a:t>
            </a:r>
            <a:r>
              <a:rPr lang="en-US" dirty="0" smtClean="0"/>
              <a:t> </a:t>
            </a: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 err="1" smtClean="0"/>
              <a:t>timp</a:t>
            </a:r>
            <a:r>
              <a:rPr lang="en-US" dirty="0" smtClean="0"/>
              <a:t>.</a:t>
            </a:r>
            <a:endParaRPr lang="ro-RO" dirty="0" smtClean="0"/>
          </a:p>
          <a:p>
            <a:pPr algn="just">
              <a:buFont typeface="Wingdings" pitchFamily="2" charset="2"/>
              <a:buChar char="v"/>
            </a:pPr>
            <a:r>
              <a:rPr lang="en-US" dirty="0" err="1" smtClean="0"/>
              <a:t>Sistemul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alcătuit</a:t>
            </a:r>
            <a:r>
              <a:rPr lang="en-US" dirty="0" smtClean="0"/>
              <a:t> din </a:t>
            </a:r>
            <a:r>
              <a:rPr lang="en-US" dirty="0" err="1" smtClean="0"/>
              <a:t>trei</a:t>
            </a:r>
            <a:r>
              <a:rPr lang="en-US" dirty="0" smtClean="0"/>
              <a:t> </a:t>
            </a:r>
            <a:r>
              <a:rPr lang="en-US" dirty="0" err="1" smtClean="0"/>
              <a:t>componente</a:t>
            </a:r>
            <a:r>
              <a:rPr lang="en-US" dirty="0" smtClean="0"/>
              <a:t> software </a:t>
            </a:r>
            <a:r>
              <a:rPr lang="en-US" dirty="0" err="1" smtClean="0"/>
              <a:t>principale</a:t>
            </a:r>
            <a:r>
              <a:rPr lang="en-US" dirty="0" smtClean="0"/>
              <a:t>:</a:t>
            </a:r>
            <a:endParaRPr lang="ro-RO" dirty="0" smtClean="0"/>
          </a:p>
          <a:p>
            <a:pPr lvl="1" algn="just">
              <a:buFont typeface="Wingdings" pitchFamily="2" charset="2"/>
              <a:buChar char="v"/>
            </a:pPr>
            <a:r>
              <a:rPr lang="en-US" dirty="0" smtClean="0"/>
              <a:t>backend-</a:t>
            </a:r>
            <a:r>
              <a:rPr lang="en-US" dirty="0" err="1" smtClean="0"/>
              <a:t>ul</a:t>
            </a:r>
            <a:r>
              <a:rPr lang="en-US" dirty="0" smtClean="0"/>
              <a:t> </a:t>
            </a:r>
            <a:r>
              <a:rPr lang="en-US" dirty="0" err="1" smtClean="0"/>
              <a:t>aplicației</a:t>
            </a:r>
            <a:r>
              <a:rPr lang="en-US" dirty="0" smtClean="0"/>
              <a:t>;</a:t>
            </a:r>
            <a:endParaRPr lang="ro-RO" dirty="0" smtClean="0"/>
          </a:p>
          <a:p>
            <a:pPr lvl="1" algn="just">
              <a:buFont typeface="Wingdings" pitchFamily="2" charset="2"/>
              <a:buChar char="v"/>
            </a:pPr>
            <a:r>
              <a:rPr lang="en-US" dirty="0" err="1" smtClean="0"/>
              <a:t>baza</a:t>
            </a:r>
            <a:r>
              <a:rPr lang="en-US" dirty="0" smtClean="0"/>
              <a:t> de date;</a:t>
            </a:r>
            <a:endParaRPr lang="ro-RO" dirty="0" smtClean="0"/>
          </a:p>
          <a:p>
            <a:pPr lvl="1" algn="just">
              <a:buFont typeface="Wingdings" pitchFamily="2" charset="2"/>
              <a:buChar char="v"/>
            </a:pPr>
            <a:r>
              <a:rPr lang="en-US" dirty="0" smtClean="0"/>
              <a:t>frontend-</a:t>
            </a:r>
            <a:r>
              <a:rPr lang="en-US" dirty="0" err="1" smtClean="0"/>
              <a:t>ul</a:t>
            </a:r>
            <a:r>
              <a:rPr lang="en-US" dirty="0" smtClean="0"/>
              <a:t> </a:t>
            </a:r>
            <a:r>
              <a:rPr lang="en-US" dirty="0" err="1" smtClean="0"/>
              <a:t>aplicației</a:t>
            </a:r>
            <a:r>
              <a:rPr lang="en-US" dirty="0" smtClean="0"/>
              <a:t>.</a:t>
            </a:r>
            <a:endParaRPr lang="ro-RO" dirty="0" smtClean="0"/>
          </a:p>
          <a:p>
            <a:pPr algn="just">
              <a:buFont typeface="Wingdings" pitchFamily="2" charset="2"/>
              <a:buChar char="v"/>
            </a:pPr>
            <a:r>
              <a:rPr lang="en-US" dirty="0" err="1" smtClean="0"/>
              <a:t>Comunicarea</a:t>
            </a:r>
            <a:r>
              <a:rPr lang="en-US" dirty="0" smtClean="0"/>
              <a:t> </a:t>
            </a:r>
            <a:r>
              <a:rPr lang="en-US" dirty="0" err="1" smtClean="0"/>
              <a:t>dintre</a:t>
            </a:r>
            <a:r>
              <a:rPr lang="en-US" dirty="0" smtClean="0"/>
              <a:t> </a:t>
            </a:r>
            <a:r>
              <a:rPr lang="en-US" dirty="0" err="1" smtClean="0"/>
              <a:t>aceste</a:t>
            </a:r>
            <a:r>
              <a:rPr lang="en-US" dirty="0" smtClean="0"/>
              <a:t> </a:t>
            </a:r>
            <a:r>
              <a:rPr lang="en-US" dirty="0" err="1" smtClean="0"/>
              <a:t>componente</a:t>
            </a:r>
            <a:r>
              <a:rPr lang="en-US" dirty="0" smtClean="0"/>
              <a:t> se </a:t>
            </a:r>
            <a:r>
              <a:rPr lang="en-US" dirty="0" err="1" smtClean="0"/>
              <a:t>realizează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intermediul</a:t>
            </a:r>
            <a:r>
              <a:rPr lang="en-US" dirty="0" smtClean="0"/>
              <a:t> </a:t>
            </a:r>
            <a:r>
              <a:rPr lang="en-US" dirty="0" err="1" smtClean="0"/>
              <a:t>protocolului</a:t>
            </a:r>
            <a:r>
              <a:rPr lang="en-US" dirty="0" smtClean="0"/>
              <a:t> HTTP, </a:t>
            </a:r>
            <a:r>
              <a:rPr lang="en-US" dirty="0" err="1" smtClean="0"/>
              <a:t>folosind</a:t>
            </a:r>
            <a:r>
              <a:rPr lang="en-US" dirty="0" smtClean="0"/>
              <a:t> </a:t>
            </a:r>
            <a:r>
              <a:rPr lang="en-US" dirty="0" err="1" smtClean="0"/>
              <a:t>schimb</a:t>
            </a:r>
            <a:r>
              <a:rPr lang="en-US" dirty="0" smtClean="0"/>
              <a:t> de date </a:t>
            </a:r>
            <a:r>
              <a:rPr lang="en-US" dirty="0" err="1" smtClean="0"/>
              <a:t>în</a:t>
            </a:r>
            <a:r>
              <a:rPr lang="en-US" dirty="0" smtClean="0"/>
              <a:t> format JSON</a:t>
            </a:r>
            <a:r>
              <a:rPr lang="ro-RO" dirty="0" smtClean="0"/>
              <a:t>.</a:t>
            </a:r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ro-RO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 smtClean="0"/>
              <a:t>Structura Backend</a:t>
            </a:r>
            <a:endParaRPr lang="ro-RO" dirty="0"/>
          </a:p>
        </p:txBody>
      </p:sp>
      <p:pic>
        <p:nvPicPr>
          <p:cNvPr id="4" name="Content Placeholder 3" descr="Structura Backend.pn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1546719" y="2449513"/>
            <a:ext cx="1861149" cy="3951287"/>
          </a:xfrm>
        </p:spPr>
      </p:pic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 smtClean="0"/>
              <a:t>Structura Frontend</a:t>
            </a:r>
            <a:endParaRPr lang="ro-RO" dirty="0"/>
          </a:p>
        </p:txBody>
      </p:sp>
      <p:pic>
        <p:nvPicPr>
          <p:cNvPr id="11" name="Content Placeholder 3" descr="Structura frontend.png"/>
          <p:cNvPicPr>
            <a:picLocks noGrp="1" noChangeAspect="1"/>
          </p:cNvPicPr>
          <p:nvPr>
            <p:ph sz="quarter" idx="4"/>
          </p:nvPr>
        </p:nvPicPr>
        <p:blipFill>
          <a:blip r:embed="rId3" cstate="print"/>
          <a:stretch>
            <a:fillRect/>
          </a:stretch>
        </p:blipFill>
        <p:spPr>
          <a:xfrm>
            <a:off x="5817626" y="2449513"/>
            <a:ext cx="1696572" cy="3951287"/>
          </a:xfr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9248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Backend – </a:t>
            </a:r>
            <a:r>
              <a:rPr lang="en-US" b="1" dirty="0" err="1" smtClean="0"/>
              <a:t>servicii</a:t>
            </a:r>
            <a:r>
              <a:rPr lang="en-US" b="1" dirty="0" smtClean="0"/>
              <a:t> REST </a:t>
            </a:r>
            <a:r>
              <a:rPr lang="en-US" b="1" dirty="0" err="1" smtClean="0"/>
              <a:t>dezvoltate</a:t>
            </a:r>
            <a:r>
              <a:rPr lang="en-US" b="1" dirty="0" smtClean="0"/>
              <a:t> cu Spring Boot</a:t>
            </a:r>
            <a:r>
              <a:rPr lang="ro-RO" dirty="0" smtClean="0"/>
              <a:t/>
            </a:r>
            <a:br>
              <a:rPr lang="ro-RO" dirty="0" smtClean="0"/>
            </a:b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dirty="0" smtClean="0"/>
              <a:t>Backend-</a:t>
            </a:r>
            <a:r>
              <a:rPr lang="en-US" dirty="0" err="1" smtClean="0"/>
              <a:t>ul</a:t>
            </a:r>
            <a:r>
              <a:rPr lang="en-US" dirty="0" smtClean="0"/>
              <a:t> </a:t>
            </a:r>
            <a:r>
              <a:rPr lang="en-US" dirty="0" err="1" smtClean="0"/>
              <a:t>aplicației</a:t>
            </a:r>
            <a:r>
              <a:rPr lang="en-US" dirty="0" smtClean="0"/>
              <a:t> a </a:t>
            </a:r>
            <a:r>
              <a:rPr lang="en-US" dirty="0" err="1" smtClean="0"/>
              <a:t>fost</a:t>
            </a:r>
            <a:r>
              <a:rPr lang="en-US" dirty="0" smtClean="0"/>
              <a:t> </a:t>
            </a:r>
            <a:r>
              <a:rPr lang="en-US" dirty="0" err="1" smtClean="0"/>
              <a:t>dezvoltat</a:t>
            </a:r>
            <a:r>
              <a:rPr lang="en-US" dirty="0" smtClean="0"/>
              <a:t> </a:t>
            </a:r>
            <a:r>
              <a:rPr lang="en-US" dirty="0" err="1" smtClean="0"/>
              <a:t>folosind</a:t>
            </a:r>
            <a:r>
              <a:rPr lang="en-US" dirty="0" smtClean="0"/>
              <a:t> </a:t>
            </a:r>
            <a:r>
              <a:rPr lang="en-US" dirty="0" err="1" smtClean="0"/>
              <a:t>limbajul</a:t>
            </a:r>
            <a:r>
              <a:rPr lang="en-US" dirty="0" smtClean="0"/>
              <a:t> de </a:t>
            </a:r>
            <a:r>
              <a:rPr lang="en-US" dirty="0" err="1" smtClean="0"/>
              <a:t>programare</a:t>
            </a:r>
            <a:r>
              <a:rPr lang="en-US" dirty="0" smtClean="0"/>
              <a:t> Java </a:t>
            </a:r>
            <a:r>
              <a:rPr lang="en-US" dirty="0" err="1" smtClean="0"/>
              <a:t>și</a:t>
            </a:r>
            <a:r>
              <a:rPr lang="en-US" dirty="0" smtClean="0"/>
              <a:t> framework-</a:t>
            </a:r>
            <a:r>
              <a:rPr lang="en-US" dirty="0" err="1" smtClean="0"/>
              <a:t>ul</a:t>
            </a:r>
            <a:r>
              <a:rPr lang="en-US" dirty="0" smtClean="0"/>
              <a:t> Spring Boot. </a:t>
            </a:r>
            <a:r>
              <a:rPr lang="en-US" dirty="0" err="1" smtClean="0"/>
              <a:t>Această</a:t>
            </a:r>
            <a:r>
              <a:rPr lang="en-US" dirty="0" smtClean="0"/>
              <a:t> </a:t>
            </a:r>
            <a:r>
              <a:rPr lang="en-US" dirty="0" err="1" smtClean="0"/>
              <a:t>componentă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responsabilă</a:t>
            </a:r>
            <a:r>
              <a:rPr lang="en-US" dirty="0" smtClean="0"/>
              <a:t> de </a:t>
            </a:r>
            <a:r>
              <a:rPr lang="en-US" dirty="0" err="1" smtClean="0"/>
              <a:t>implementarea</a:t>
            </a:r>
            <a:r>
              <a:rPr lang="en-US" dirty="0" smtClean="0"/>
              <a:t> </a:t>
            </a:r>
            <a:r>
              <a:rPr lang="en-US" dirty="0" err="1" smtClean="0"/>
              <a:t>logicii</a:t>
            </a:r>
            <a:r>
              <a:rPr lang="en-US" dirty="0" smtClean="0"/>
              <a:t> </a:t>
            </a:r>
            <a:r>
              <a:rPr lang="en-US" dirty="0" err="1" smtClean="0"/>
              <a:t>aplicației</a:t>
            </a:r>
            <a:r>
              <a:rPr lang="en-US" dirty="0" smtClean="0"/>
              <a:t> </a:t>
            </a:r>
            <a:r>
              <a:rPr lang="en-US" dirty="0" err="1" smtClean="0"/>
              <a:t>și</a:t>
            </a:r>
            <a:r>
              <a:rPr lang="en-US" dirty="0" smtClean="0"/>
              <a:t> de </a:t>
            </a:r>
            <a:r>
              <a:rPr lang="en-US" dirty="0" err="1" smtClean="0"/>
              <a:t>gestionarea</a:t>
            </a:r>
            <a:r>
              <a:rPr lang="en-US" dirty="0" smtClean="0"/>
              <a:t> </a:t>
            </a:r>
            <a:r>
              <a:rPr lang="en-US" dirty="0" err="1" smtClean="0"/>
              <a:t>cererilor</a:t>
            </a:r>
            <a:r>
              <a:rPr lang="en-US" dirty="0" smtClean="0"/>
              <a:t> </a:t>
            </a:r>
            <a:r>
              <a:rPr lang="en-US" dirty="0" err="1" smtClean="0"/>
              <a:t>venite</a:t>
            </a:r>
            <a:r>
              <a:rPr lang="en-US" dirty="0" smtClean="0"/>
              <a:t> din </a:t>
            </a:r>
            <a:r>
              <a:rPr lang="en-US" dirty="0" err="1" smtClean="0"/>
              <a:t>partea</a:t>
            </a:r>
            <a:r>
              <a:rPr lang="en-US" dirty="0" smtClean="0"/>
              <a:t> frontend-</a:t>
            </a:r>
            <a:r>
              <a:rPr lang="en-US" dirty="0" err="1" smtClean="0"/>
              <a:t>ului</a:t>
            </a:r>
            <a:r>
              <a:rPr lang="en-US" dirty="0" smtClean="0"/>
              <a:t>.</a:t>
            </a:r>
            <a:endParaRPr lang="ro-RO" dirty="0" smtClean="0"/>
          </a:p>
          <a:p>
            <a:pPr algn="just">
              <a:buFont typeface="Wingdings" pitchFamily="2" charset="2"/>
              <a:buChar char="v"/>
            </a:pPr>
            <a:r>
              <a:rPr lang="en-US" dirty="0" smtClean="0"/>
              <a:t>Backend-</a:t>
            </a:r>
            <a:r>
              <a:rPr lang="en-US" dirty="0" err="1" smtClean="0"/>
              <a:t>ul</a:t>
            </a:r>
            <a:r>
              <a:rPr lang="en-US" dirty="0" smtClean="0"/>
              <a:t> </a:t>
            </a:r>
            <a:r>
              <a:rPr lang="en-US" dirty="0" err="1" smtClean="0"/>
              <a:t>expune</a:t>
            </a:r>
            <a:r>
              <a:rPr lang="en-US" dirty="0" smtClean="0"/>
              <a:t> un set de </a:t>
            </a:r>
            <a:r>
              <a:rPr lang="en-US" dirty="0" err="1" smtClean="0"/>
              <a:t>servicii</a:t>
            </a:r>
            <a:r>
              <a:rPr lang="en-US" dirty="0" smtClean="0"/>
              <a:t> REST care permit </a:t>
            </a:r>
            <a:r>
              <a:rPr lang="en-US" dirty="0" err="1" smtClean="0"/>
              <a:t>gestionarea</a:t>
            </a:r>
            <a:r>
              <a:rPr lang="en-US" dirty="0" smtClean="0"/>
              <a:t> </a:t>
            </a:r>
            <a:r>
              <a:rPr lang="en-US" dirty="0" err="1" smtClean="0"/>
              <a:t>resurselor</a:t>
            </a:r>
            <a:r>
              <a:rPr lang="en-US" dirty="0" smtClean="0"/>
              <a:t> </a:t>
            </a:r>
            <a:r>
              <a:rPr lang="en-US" dirty="0" err="1" smtClean="0"/>
              <a:t>aplicației</a:t>
            </a:r>
            <a:r>
              <a:rPr lang="en-US" dirty="0" smtClean="0"/>
              <a:t>, </a:t>
            </a:r>
            <a:r>
              <a:rPr lang="en-US" dirty="0" err="1" smtClean="0"/>
              <a:t>precum</a:t>
            </a:r>
            <a:r>
              <a:rPr lang="en-US" dirty="0" smtClean="0"/>
              <a:t> </a:t>
            </a:r>
            <a:r>
              <a:rPr lang="en-US" dirty="0" err="1" smtClean="0"/>
              <a:t>cursurile</a:t>
            </a:r>
            <a:r>
              <a:rPr lang="en-US" dirty="0" smtClean="0"/>
              <a:t> </a:t>
            </a:r>
            <a:r>
              <a:rPr lang="en-US" dirty="0" err="1" smtClean="0"/>
              <a:t>și</a:t>
            </a:r>
            <a:r>
              <a:rPr lang="en-US" dirty="0" smtClean="0"/>
              <a:t> </a:t>
            </a:r>
            <a:r>
              <a:rPr lang="en-US" dirty="0" err="1" smtClean="0"/>
              <a:t>materialele</a:t>
            </a:r>
            <a:r>
              <a:rPr lang="en-US" dirty="0" smtClean="0"/>
              <a:t> </a:t>
            </a:r>
            <a:r>
              <a:rPr lang="en-US" dirty="0" err="1" smtClean="0"/>
              <a:t>educaționale</a:t>
            </a:r>
            <a:r>
              <a:rPr lang="en-US" dirty="0" smtClean="0"/>
              <a:t>. </a:t>
            </a:r>
            <a:r>
              <a:rPr lang="en-US" dirty="0" err="1" smtClean="0"/>
              <a:t>Accesul</a:t>
            </a:r>
            <a:r>
              <a:rPr lang="en-US" dirty="0" smtClean="0"/>
              <a:t> la </a:t>
            </a:r>
            <a:r>
              <a:rPr lang="en-US" dirty="0" err="1" smtClean="0"/>
              <a:t>aceste</a:t>
            </a:r>
            <a:r>
              <a:rPr lang="en-US" dirty="0" smtClean="0"/>
              <a:t> </a:t>
            </a:r>
            <a:r>
              <a:rPr lang="en-US" dirty="0" err="1" smtClean="0"/>
              <a:t>resurse</a:t>
            </a:r>
            <a:r>
              <a:rPr lang="en-US" dirty="0" smtClean="0"/>
              <a:t> se face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intermediul</a:t>
            </a:r>
            <a:r>
              <a:rPr lang="en-US" dirty="0" smtClean="0"/>
              <a:t> </a:t>
            </a:r>
            <a:r>
              <a:rPr lang="en-US" dirty="0" err="1" smtClean="0"/>
              <a:t>metodelor</a:t>
            </a:r>
            <a:r>
              <a:rPr lang="en-US" dirty="0" smtClean="0"/>
              <a:t> HTTP standard (GET, POST, PUT </a:t>
            </a:r>
            <a:r>
              <a:rPr lang="en-US" dirty="0" err="1" smtClean="0"/>
              <a:t>și</a:t>
            </a:r>
            <a:r>
              <a:rPr lang="en-US" dirty="0" smtClean="0"/>
              <a:t> DELETE), </a:t>
            </a:r>
            <a:r>
              <a:rPr lang="en-US" dirty="0" err="1" smtClean="0"/>
              <a:t>iar</a:t>
            </a:r>
            <a:r>
              <a:rPr lang="en-US" dirty="0" smtClean="0"/>
              <a:t> </a:t>
            </a:r>
            <a:r>
              <a:rPr lang="en-US" dirty="0" err="1" smtClean="0"/>
              <a:t>datele</a:t>
            </a:r>
            <a:r>
              <a:rPr lang="en-US" dirty="0" smtClean="0"/>
              <a:t>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transmise</a:t>
            </a:r>
            <a:r>
              <a:rPr lang="en-US" dirty="0" smtClean="0"/>
              <a:t> </a:t>
            </a:r>
            <a:r>
              <a:rPr lang="en-US" dirty="0" err="1" smtClean="0"/>
              <a:t>în</a:t>
            </a:r>
            <a:r>
              <a:rPr lang="en-US" dirty="0" smtClean="0"/>
              <a:t> format JSON.</a:t>
            </a:r>
            <a:endParaRPr lang="ro-RO" dirty="0" smtClean="0"/>
          </a:p>
          <a:p>
            <a:pPr algn="just">
              <a:buFont typeface="Wingdings" pitchFamily="2" charset="2"/>
              <a:buChar char="v"/>
            </a:pPr>
            <a:r>
              <a:rPr lang="en-US" dirty="0" err="1" smtClean="0"/>
              <a:t>Structura</a:t>
            </a:r>
            <a:r>
              <a:rPr lang="en-US" dirty="0" smtClean="0"/>
              <a:t> backend-</a:t>
            </a:r>
            <a:r>
              <a:rPr lang="en-US" dirty="0" err="1" smtClean="0"/>
              <a:t>ului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organizată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multe</a:t>
            </a:r>
            <a:r>
              <a:rPr lang="en-US" dirty="0" smtClean="0"/>
              <a:t> </a:t>
            </a:r>
            <a:r>
              <a:rPr lang="en-US" dirty="0" err="1" smtClean="0"/>
              <a:t>niveluri</a:t>
            </a:r>
            <a:r>
              <a:rPr lang="en-US" dirty="0" smtClean="0"/>
              <a:t>, </a:t>
            </a:r>
            <a:r>
              <a:rPr lang="en-US" dirty="0" err="1" smtClean="0"/>
              <a:t>incluzând</a:t>
            </a:r>
            <a:r>
              <a:rPr lang="en-US" dirty="0" smtClean="0"/>
              <a:t> </a:t>
            </a:r>
            <a:r>
              <a:rPr lang="en-US" dirty="0" err="1" smtClean="0"/>
              <a:t>controllere</a:t>
            </a:r>
            <a:r>
              <a:rPr lang="en-US" dirty="0" smtClean="0"/>
              <a:t>, </a:t>
            </a:r>
            <a:r>
              <a:rPr lang="en-US" dirty="0" err="1" smtClean="0"/>
              <a:t>servicii</a:t>
            </a:r>
            <a:r>
              <a:rPr lang="en-US" dirty="0" smtClean="0"/>
              <a:t> </a:t>
            </a:r>
            <a:r>
              <a:rPr lang="en-US" dirty="0" err="1" smtClean="0"/>
              <a:t>și</a:t>
            </a:r>
            <a:r>
              <a:rPr lang="en-US" dirty="0" smtClean="0"/>
              <a:t> repository-</a:t>
            </a:r>
            <a:r>
              <a:rPr lang="en-US" dirty="0" err="1" smtClean="0"/>
              <a:t>uri</a:t>
            </a:r>
            <a:r>
              <a:rPr lang="en-US" dirty="0" smtClean="0"/>
              <a:t>, </a:t>
            </a:r>
            <a:r>
              <a:rPr lang="en-US" dirty="0" err="1" smtClean="0"/>
              <a:t>asigurând</a:t>
            </a:r>
            <a:r>
              <a:rPr lang="en-US" dirty="0" smtClean="0"/>
              <a:t> </a:t>
            </a:r>
            <a:r>
              <a:rPr lang="en-US" dirty="0" err="1" smtClean="0"/>
              <a:t>astfel</a:t>
            </a:r>
            <a:r>
              <a:rPr lang="en-US" dirty="0" smtClean="0"/>
              <a:t> </a:t>
            </a:r>
            <a:r>
              <a:rPr lang="en-US" dirty="0" err="1" smtClean="0"/>
              <a:t>separarea</a:t>
            </a:r>
            <a:r>
              <a:rPr lang="en-US" dirty="0" smtClean="0"/>
              <a:t> </a:t>
            </a:r>
            <a:r>
              <a:rPr lang="en-US" dirty="0" err="1" smtClean="0"/>
              <a:t>logicii</a:t>
            </a:r>
            <a:r>
              <a:rPr lang="en-US" dirty="0" smtClean="0"/>
              <a:t> de business de </a:t>
            </a:r>
            <a:r>
              <a:rPr lang="en-US" dirty="0" err="1" smtClean="0"/>
              <a:t>accesul</a:t>
            </a:r>
            <a:r>
              <a:rPr lang="en-US" dirty="0" smtClean="0"/>
              <a:t> la date.</a:t>
            </a:r>
            <a:endParaRPr lang="ro-RO" dirty="0" smtClean="0"/>
          </a:p>
          <a:p>
            <a:endParaRPr lang="ro-RO" dirty="0"/>
          </a:p>
        </p:txBody>
      </p:sp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8229600" cy="125272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 smtClean="0"/>
              <a:t>Baza</a:t>
            </a:r>
            <a:r>
              <a:rPr lang="en-US" b="1" dirty="0" smtClean="0"/>
              <a:t> de date – </a:t>
            </a:r>
            <a:r>
              <a:rPr lang="en-US" b="1" dirty="0" err="1" smtClean="0"/>
              <a:t>MongoDB</a:t>
            </a:r>
            <a:r>
              <a:rPr lang="ro-RO" dirty="0" smtClean="0"/>
              <a:t/>
            </a:r>
            <a:br>
              <a:rPr lang="ro-RO" dirty="0" smtClean="0"/>
            </a:b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stocarea</a:t>
            </a:r>
            <a:r>
              <a:rPr lang="en-US" dirty="0" smtClean="0"/>
              <a:t> </a:t>
            </a:r>
            <a:r>
              <a:rPr lang="en-US" dirty="0" err="1" smtClean="0"/>
              <a:t>informațiilor</a:t>
            </a:r>
            <a:r>
              <a:rPr lang="en-US" dirty="0" smtClean="0"/>
              <a:t> </a:t>
            </a:r>
            <a:r>
              <a:rPr lang="en-US" dirty="0" err="1" smtClean="0"/>
              <a:t>aplicației</a:t>
            </a:r>
            <a:r>
              <a:rPr lang="en-US" dirty="0" smtClean="0"/>
              <a:t> a </a:t>
            </a:r>
            <a:r>
              <a:rPr lang="en-US" dirty="0" err="1" smtClean="0"/>
              <a:t>fost</a:t>
            </a:r>
            <a:r>
              <a:rPr lang="en-US" dirty="0" smtClean="0"/>
              <a:t> </a:t>
            </a:r>
            <a:r>
              <a:rPr lang="en-US" dirty="0" err="1" smtClean="0"/>
              <a:t>utilizată</a:t>
            </a:r>
            <a:r>
              <a:rPr lang="en-US" dirty="0" smtClean="0"/>
              <a:t> </a:t>
            </a:r>
            <a:r>
              <a:rPr lang="en-US" dirty="0" err="1" smtClean="0"/>
              <a:t>baza</a:t>
            </a:r>
            <a:r>
              <a:rPr lang="en-US" dirty="0" smtClean="0"/>
              <a:t> de date </a:t>
            </a:r>
            <a:r>
              <a:rPr lang="en-US" dirty="0" err="1" smtClean="0"/>
              <a:t>MongoDB</a:t>
            </a:r>
            <a:r>
              <a:rPr lang="en-US" dirty="0" smtClean="0"/>
              <a:t>, o </a:t>
            </a:r>
            <a:r>
              <a:rPr lang="en-US" dirty="0" err="1" smtClean="0"/>
              <a:t>bază</a:t>
            </a:r>
            <a:r>
              <a:rPr lang="en-US" dirty="0" smtClean="0"/>
              <a:t> de date de tip </a:t>
            </a:r>
            <a:r>
              <a:rPr lang="en-US" dirty="0" err="1" smtClean="0"/>
              <a:t>NoSQL</a:t>
            </a:r>
            <a:r>
              <a:rPr lang="en-US" dirty="0" smtClean="0"/>
              <a:t> </a:t>
            </a:r>
            <a:r>
              <a:rPr lang="en-US" dirty="0" err="1" smtClean="0"/>
              <a:t>orientată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documente</a:t>
            </a:r>
            <a:r>
              <a:rPr lang="en-US" dirty="0" smtClean="0"/>
              <a:t>. </a:t>
            </a:r>
            <a:r>
              <a:rPr lang="en-US" dirty="0" err="1" smtClean="0"/>
              <a:t>Aceasta</a:t>
            </a:r>
            <a:r>
              <a:rPr lang="en-US" dirty="0" smtClean="0"/>
              <a:t> </a:t>
            </a:r>
            <a:r>
              <a:rPr lang="en-US" dirty="0" err="1" smtClean="0"/>
              <a:t>permite</a:t>
            </a:r>
            <a:r>
              <a:rPr lang="en-US" dirty="0" smtClean="0"/>
              <a:t> </a:t>
            </a:r>
            <a:r>
              <a:rPr lang="en-US" dirty="0" err="1" smtClean="0"/>
              <a:t>stocarea</a:t>
            </a:r>
            <a:r>
              <a:rPr lang="en-US" dirty="0" smtClean="0"/>
              <a:t> </a:t>
            </a:r>
            <a:r>
              <a:rPr lang="en-US" dirty="0" err="1" smtClean="0"/>
              <a:t>datelor</a:t>
            </a:r>
            <a:r>
              <a:rPr lang="en-US" dirty="0" smtClean="0"/>
              <a:t> </a:t>
            </a:r>
            <a:r>
              <a:rPr lang="en-US" dirty="0" err="1" smtClean="0"/>
              <a:t>într</a:t>
            </a:r>
            <a:r>
              <a:rPr lang="en-US" dirty="0" smtClean="0"/>
              <a:t>-un format </a:t>
            </a:r>
            <a:r>
              <a:rPr lang="en-US" dirty="0" err="1" smtClean="0"/>
              <a:t>flexibil</a:t>
            </a:r>
            <a:r>
              <a:rPr lang="en-US" dirty="0" smtClean="0"/>
              <a:t>, </a:t>
            </a:r>
            <a:r>
              <a:rPr lang="en-US" dirty="0" err="1" smtClean="0"/>
              <a:t>fără</a:t>
            </a:r>
            <a:r>
              <a:rPr lang="en-US" dirty="0" smtClean="0"/>
              <a:t> </a:t>
            </a:r>
            <a:r>
              <a:rPr lang="en-US" dirty="0" err="1" smtClean="0"/>
              <a:t>impunerea</a:t>
            </a:r>
            <a:r>
              <a:rPr lang="en-US" dirty="0" smtClean="0"/>
              <a:t> </a:t>
            </a:r>
            <a:r>
              <a:rPr lang="en-US" dirty="0" err="1" smtClean="0"/>
              <a:t>unei</a:t>
            </a:r>
            <a:r>
              <a:rPr lang="en-US" dirty="0" smtClean="0"/>
              <a:t> </a:t>
            </a:r>
            <a:r>
              <a:rPr lang="en-US" dirty="0" err="1" smtClean="0"/>
              <a:t>structuri</a:t>
            </a:r>
            <a:r>
              <a:rPr lang="en-US" dirty="0" smtClean="0"/>
              <a:t> </a:t>
            </a:r>
            <a:r>
              <a:rPr lang="en-US" dirty="0" err="1" smtClean="0"/>
              <a:t>rigide</a:t>
            </a:r>
            <a:r>
              <a:rPr lang="en-US" dirty="0" smtClean="0"/>
              <a:t>.</a:t>
            </a:r>
            <a:endParaRPr lang="ro-RO" dirty="0" smtClean="0"/>
          </a:p>
          <a:p>
            <a:pPr algn="just">
              <a:buFont typeface="Wingdings" pitchFamily="2" charset="2"/>
              <a:buChar char="v"/>
            </a:pP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 err="1" smtClean="0"/>
              <a:t>baza</a:t>
            </a:r>
            <a:r>
              <a:rPr lang="en-US" dirty="0" smtClean="0"/>
              <a:t> de date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stocate</a:t>
            </a:r>
            <a:r>
              <a:rPr lang="en-US" dirty="0" smtClean="0"/>
              <a:t> </a:t>
            </a:r>
            <a:r>
              <a:rPr lang="en-US" dirty="0" err="1" smtClean="0"/>
              <a:t>informații</a:t>
            </a:r>
            <a:r>
              <a:rPr lang="en-US" dirty="0" smtClean="0"/>
              <a:t> </a:t>
            </a:r>
            <a:r>
              <a:rPr lang="en-US" dirty="0" err="1" smtClean="0"/>
              <a:t>referitoare</a:t>
            </a:r>
            <a:r>
              <a:rPr lang="en-US" dirty="0" smtClean="0"/>
              <a:t> la </a:t>
            </a:r>
            <a:r>
              <a:rPr lang="en-US" dirty="0" err="1" smtClean="0"/>
              <a:t>cursuri</a:t>
            </a:r>
            <a:r>
              <a:rPr lang="en-US" dirty="0" smtClean="0"/>
              <a:t> </a:t>
            </a:r>
            <a:r>
              <a:rPr lang="en-US" dirty="0" err="1" smtClean="0"/>
              <a:t>și</a:t>
            </a:r>
            <a:r>
              <a:rPr lang="en-US" dirty="0" smtClean="0"/>
              <a:t> </a:t>
            </a:r>
            <a:r>
              <a:rPr lang="en-US" dirty="0" err="1" smtClean="0"/>
              <a:t>materialele</a:t>
            </a:r>
            <a:r>
              <a:rPr lang="en-US" dirty="0" smtClean="0"/>
              <a:t> </a:t>
            </a:r>
            <a:r>
              <a:rPr lang="en-US" dirty="0" err="1" smtClean="0"/>
              <a:t>asociate</a:t>
            </a:r>
            <a:r>
              <a:rPr lang="en-US" dirty="0" smtClean="0"/>
              <a:t> </a:t>
            </a:r>
            <a:r>
              <a:rPr lang="en-US" dirty="0" err="1" smtClean="0"/>
              <a:t>acestora</a:t>
            </a:r>
            <a:r>
              <a:rPr lang="en-US" dirty="0" smtClean="0"/>
              <a:t>. </a:t>
            </a:r>
            <a:r>
              <a:rPr lang="en-US" dirty="0" err="1" smtClean="0"/>
              <a:t>Relația</a:t>
            </a:r>
            <a:r>
              <a:rPr lang="en-US" dirty="0" smtClean="0"/>
              <a:t> </a:t>
            </a:r>
            <a:r>
              <a:rPr lang="en-US" dirty="0" err="1" smtClean="0"/>
              <a:t>dintre</a:t>
            </a:r>
            <a:r>
              <a:rPr lang="en-US" dirty="0" smtClean="0"/>
              <a:t> </a:t>
            </a:r>
            <a:r>
              <a:rPr lang="en-US" dirty="0" err="1" smtClean="0"/>
              <a:t>cursuri</a:t>
            </a:r>
            <a:r>
              <a:rPr lang="en-US" dirty="0" smtClean="0"/>
              <a:t> </a:t>
            </a:r>
            <a:r>
              <a:rPr lang="en-US" dirty="0" err="1" smtClean="0"/>
              <a:t>și</a:t>
            </a:r>
            <a:r>
              <a:rPr lang="en-US" dirty="0" smtClean="0"/>
              <a:t> </a:t>
            </a:r>
            <a:r>
              <a:rPr lang="en-US" dirty="0" err="1" smtClean="0"/>
              <a:t>materiale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gestionată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intermediul</a:t>
            </a:r>
            <a:r>
              <a:rPr lang="en-US" dirty="0" smtClean="0"/>
              <a:t> </a:t>
            </a:r>
            <a:r>
              <a:rPr lang="en-US" dirty="0" err="1" smtClean="0"/>
              <a:t>identificatorilor</a:t>
            </a:r>
            <a:r>
              <a:rPr lang="en-US" dirty="0" smtClean="0"/>
              <a:t>, la </a:t>
            </a:r>
            <a:r>
              <a:rPr lang="en-US" dirty="0" err="1" smtClean="0"/>
              <a:t>nivelul</a:t>
            </a:r>
            <a:r>
              <a:rPr lang="en-US" dirty="0" smtClean="0"/>
              <a:t> </a:t>
            </a:r>
            <a:r>
              <a:rPr lang="en-US" dirty="0" err="1" smtClean="0"/>
              <a:t>aplicației</a:t>
            </a:r>
            <a:r>
              <a:rPr lang="en-US" dirty="0" smtClean="0"/>
              <a:t>.</a:t>
            </a:r>
            <a:endParaRPr lang="ro-RO" dirty="0" smtClean="0"/>
          </a:p>
          <a:p>
            <a:pPr algn="just">
              <a:buFont typeface="Wingdings" pitchFamily="2" charset="2"/>
              <a:buChar char="v"/>
            </a:pPr>
            <a:r>
              <a:rPr lang="en-US" dirty="0" err="1" smtClean="0"/>
              <a:t>MongoDB</a:t>
            </a:r>
            <a:r>
              <a:rPr lang="en-US" dirty="0" smtClean="0"/>
              <a:t> </a:t>
            </a:r>
            <a:r>
              <a:rPr lang="en-US" dirty="0" err="1" smtClean="0"/>
              <a:t>oferă</a:t>
            </a:r>
            <a:r>
              <a:rPr lang="en-US" dirty="0" smtClean="0"/>
              <a:t> </a:t>
            </a:r>
            <a:r>
              <a:rPr lang="en-US" dirty="0" err="1" smtClean="0"/>
              <a:t>avantaje</a:t>
            </a:r>
            <a:r>
              <a:rPr lang="en-US" dirty="0" smtClean="0"/>
              <a:t> </a:t>
            </a:r>
            <a:r>
              <a:rPr lang="en-US" dirty="0" err="1" smtClean="0"/>
              <a:t>importante</a:t>
            </a:r>
            <a:r>
              <a:rPr lang="en-US" dirty="0" smtClean="0"/>
              <a:t>, </a:t>
            </a:r>
            <a:r>
              <a:rPr lang="en-US" dirty="0" err="1" smtClean="0"/>
              <a:t>precum</a:t>
            </a:r>
            <a:r>
              <a:rPr lang="en-US" dirty="0" smtClean="0"/>
              <a:t> </a:t>
            </a:r>
            <a:r>
              <a:rPr lang="en-US" dirty="0" err="1" smtClean="0"/>
              <a:t>flexibilitatea</a:t>
            </a:r>
            <a:r>
              <a:rPr lang="en-US" dirty="0" smtClean="0"/>
              <a:t> </a:t>
            </a:r>
            <a:r>
              <a:rPr lang="en-US" dirty="0" err="1" smtClean="0"/>
              <a:t>structurii</a:t>
            </a:r>
            <a:r>
              <a:rPr lang="en-US" dirty="0" smtClean="0"/>
              <a:t> </a:t>
            </a:r>
            <a:r>
              <a:rPr lang="en-US" dirty="0" err="1" smtClean="0"/>
              <a:t>datelor</a:t>
            </a:r>
            <a:r>
              <a:rPr lang="en-US" dirty="0" smtClean="0"/>
              <a:t>, </a:t>
            </a:r>
            <a:r>
              <a:rPr lang="en-US" dirty="0" err="1" smtClean="0"/>
              <a:t>performanță</a:t>
            </a:r>
            <a:r>
              <a:rPr lang="en-US" dirty="0" smtClean="0"/>
              <a:t> </a:t>
            </a:r>
            <a:r>
              <a:rPr lang="en-US" dirty="0" err="1" smtClean="0"/>
              <a:t>bună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aplicații</a:t>
            </a:r>
            <a:r>
              <a:rPr lang="en-US" dirty="0" smtClean="0"/>
              <a:t> web </a:t>
            </a:r>
            <a:r>
              <a:rPr lang="en-US" dirty="0" err="1" smtClean="0"/>
              <a:t>și</a:t>
            </a:r>
            <a:r>
              <a:rPr lang="en-US" dirty="0" smtClean="0"/>
              <a:t> </a:t>
            </a:r>
            <a:r>
              <a:rPr lang="en-US" dirty="0" err="1" smtClean="0"/>
              <a:t>integrare</a:t>
            </a:r>
            <a:r>
              <a:rPr lang="en-US" dirty="0" smtClean="0"/>
              <a:t> </a:t>
            </a:r>
            <a:r>
              <a:rPr lang="en-US" dirty="0" err="1" smtClean="0"/>
              <a:t>facilă</a:t>
            </a:r>
            <a:r>
              <a:rPr lang="en-US" dirty="0" smtClean="0"/>
              <a:t> cu Spring Boot.</a:t>
            </a:r>
            <a:endParaRPr lang="ro-RO" dirty="0" smtClean="0"/>
          </a:p>
          <a:p>
            <a:endParaRPr lang="ro-RO" dirty="0"/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125272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Frontend – </a:t>
            </a:r>
            <a:r>
              <a:rPr lang="en-US" dirty="0" err="1" smtClean="0"/>
              <a:t>Tehnologii</a:t>
            </a:r>
            <a:r>
              <a:rPr lang="en-US" dirty="0" smtClean="0"/>
              <a:t> </a:t>
            </a:r>
            <a:r>
              <a:rPr lang="en-US" dirty="0" err="1" smtClean="0"/>
              <a:t>și</a:t>
            </a:r>
            <a:r>
              <a:rPr lang="en-US" dirty="0" smtClean="0"/>
              <a:t> </a:t>
            </a:r>
            <a:r>
              <a:rPr lang="en-US" dirty="0" err="1" smtClean="0"/>
              <a:t>limbaje</a:t>
            </a:r>
            <a:r>
              <a:rPr lang="en-US" dirty="0" smtClean="0"/>
              <a:t> </a:t>
            </a:r>
            <a:r>
              <a:rPr lang="en-US" dirty="0" err="1" smtClean="0"/>
              <a:t>utilizate</a:t>
            </a:r>
            <a:r>
              <a:rPr lang="en-US" dirty="0" smtClean="0"/>
              <a:t> </a:t>
            </a:r>
            <a:r>
              <a:rPr lang="ro-RO" dirty="0" smtClean="0"/>
              <a:t/>
            </a:r>
            <a:br>
              <a:rPr lang="ro-RO" dirty="0" smtClean="0"/>
            </a:b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sz="1800" dirty="0" smtClean="0"/>
              <a:t>Frontend-</a:t>
            </a:r>
            <a:r>
              <a:rPr lang="en-US" sz="1800" dirty="0" err="1" smtClean="0"/>
              <a:t>ul</a:t>
            </a:r>
            <a:r>
              <a:rPr lang="en-US" sz="1800" dirty="0" smtClean="0"/>
              <a:t> </a:t>
            </a:r>
            <a:r>
              <a:rPr lang="en-US" sz="1800" dirty="0" err="1" smtClean="0"/>
              <a:t>reprezintă</a:t>
            </a:r>
            <a:r>
              <a:rPr lang="en-US" sz="1800" dirty="0" smtClean="0"/>
              <a:t> </a:t>
            </a:r>
            <a:r>
              <a:rPr lang="en-US" sz="1800" dirty="0" err="1" smtClean="0"/>
              <a:t>componenta</a:t>
            </a:r>
            <a:r>
              <a:rPr lang="en-US" sz="1800" dirty="0" smtClean="0"/>
              <a:t> </a:t>
            </a:r>
            <a:r>
              <a:rPr lang="en-US" sz="1800" dirty="0" err="1" smtClean="0"/>
              <a:t>aplicației</a:t>
            </a:r>
            <a:r>
              <a:rPr lang="en-US" sz="1800" dirty="0" smtClean="0"/>
              <a:t> care </a:t>
            </a:r>
            <a:r>
              <a:rPr lang="en-US" sz="1800" dirty="0" err="1" smtClean="0"/>
              <a:t>asigură</a:t>
            </a:r>
            <a:r>
              <a:rPr lang="en-US" sz="1800" dirty="0" smtClean="0"/>
              <a:t> </a:t>
            </a:r>
            <a:r>
              <a:rPr lang="en-US" sz="1800" dirty="0" err="1" smtClean="0"/>
              <a:t>interacțiunea</a:t>
            </a:r>
            <a:r>
              <a:rPr lang="en-US" sz="1800" dirty="0" smtClean="0"/>
              <a:t> </a:t>
            </a:r>
            <a:r>
              <a:rPr lang="en-US" sz="1800" dirty="0" err="1" smtClean="0"/>
              <a:t>directă</a:t>
            </a:r>
            <a:r>
              <a:rPr lang="en-US" sz="1800" dirty="0" smtClean="0"/>
              <a:t> cu </a:t>
            </a:r>
            <a:r>
              <a:rPr lang="en-US" sz="1800" dirty="0" err="1" smtClean="0"/>
              <a:t>utilizatorul</a:t>
            </a:r>
            <a:r>
              <a:rPr lang="en-US" sz="1800" dirty="0" smtClean="0"/>
              <a:t>. </a:t>
            </a:r>
            <a:r>
              <a:rPr lang="en-US" sz="1800" dirty="0" err="1" smtClean="0"/>
              <a:t>Acesta</a:t>
            </a:r>
            <a:r>
              <a:rPr lang="en-US" sz="1800" dirty="0" smtClean="0"/>
              <a:t> are </a:t>
            </a:r>
            <a:r>
              <a:rPr lang="en-US" sz="1800" dirty="0" err="1" smtClean="0"/>
              <a:t>rolul</a:t>
            </a:r>
            <a:r>
              <a:rPr lang="en-US" sz="1800" dirty="0" smtClean="0"/>
              <a:t> de a </a:t>
            </a:r>
            <a:r>
              <a:rPr lang="en-US" sz="1800" dirty="0" err="1" smtClean="0"/>
              <a:t>afișa</a:t>
            </a:r>
            <a:r>
              <a:rPr lang="en-US" sz="1800" dirty="0" smtClean="0"/>
              <a:t> </a:t>
            </a:r>
            <a:r>
              <a:rPr lang="en-US" sz="1800" dirty="0" err="1" smtClean="0"/>
              <a:t>informațiile</a:t>
            </a:r>
            <a:r>
              <a:rPr lang="en-US" sz="1800" dirty="0" smtClean="0"/>
              <a:t> </a:t>
            </a:r>
            <a:r>
              <a:rPr lang="en-US" sz="1800" dirty="0" err="1" smtClean="0"/>
              <a:t>primite</a:t>
            </a:r>
            <a:r>
              <a:rPr lang="en-US" sz="1800" dirty="0" smtClean="0"/>
              <a:t> de la backend, de a </a:t>
            </a:r>
            <a:r>
              <a:rPr lang="en-US" sz="1800" dirty="0" err="1" smtClean="0"/>
              <a:t>permite</a:t>
            </a:r>
            <a:r>
              <a:rPr lang="en-US" sz="1800" dirty="0" smtClean="0"/>
              <a:t> </a:t>
            </a:r>
            <a:r>
              <a:rPr lang="en-US" sz="1800" dirty="0" err="1" smtClean="0"/>
              <a:t>introducerea</a:t>
            </a:r>
            <a:r>
              <a:rPr lang="en-US" sz="1800" dirty="0" smtClean="0"/>
              <a:t> </a:t>
            </a:r>
            <a:r>
              <a:rPr lang="en-US" sz="1800" dirty="0" err="1" smtClean="0"/>
              <a:t>datelor</a:t>
            </a:r>
            <a:r>
              <a:rPr lang="en-US" sz="1800" dirty="0" smtClean="0"/>
              <a:t> </a:t>
            </a:r>
            <a:r>
              <a:rPr lang="en-US" sz="1800" dirty="0" err="1" smtClean="0"/>
              <a:t>și</a:t>
            </a:r>
            <a:r>
              <a:rPr lang="en-US" sz="1800" dirty="0" smtClean="0"/>
              <a:t> de a </a:t>
            </a:r>
            <a:r>
              <a:rPr lang="en-US" sz="1800" dirty="0" err="1" smtClean="0"/>
              <a:t>gestiona</a:t>
            </a:r>
            <a:r>
              <a:rPr lang="en-US" sz="1800" dirty="0" smtClean="0"/>
              <a:t> </a:t>
            </a:r>
            <a:r>
              <a:rPr lang="en-US" sz="1800" dirty="0" err="1" smtClean="0"/>
              <a:t>acțiunile</a:t>
            </a:r>
            <a:r>
              <a:rPr lang="en-US" sz="1800" dirty="0" smtClean="0"/>
              <a:t> </a:t>
            </a:r>
            <a:r>
              <a:rPr lang="en-US" sz="1800" dirty="0" err="1" smtClean="0"/>
              <a:t>utilizatorului</a:t>
            </a:r>
            <a:r>
              <a:rPr lang="en-US" sz="1800" dirty="0" smtClean="0"/>
              <a:t> </a:t>
            </a:r>
            <a:r>
              <a:rPr lang="en-US" sz="1800" dirty="0" err="1" smtClean="0"/>
              <a:t>într</a:t>
            </a:r>
            <a:r>
              <a:rPr lang="en-US" sz="1800" dirty="0" smtClean="0"/>
              <a:t>-un mod </a:t>
            </a:r>
            <a:r>
              <a:rPr lang="en-US" sz="1800" dirty="0" err="1" smtClean="0"/>
              <a:t>intuitiv</a:t>
            </a:r>
            <a:r>
              <a:rPr lang="en-US" sz="1800" dirty="0" smtClean="0"/>
              <a:t>.</a:t>
            </a:r>
            <a:endParaRPr lang="ro-RO" sz="1800" dirty="0" smtClean="0"/>
          </a:p>
          <a:p>
            <a:pPr algn="just">
              <a:buFont typeface="Wingdings" pitchFamily="2" charset="2"/>
              <a:buChar char="v"/>
            </a:pPr>
            <a:r>
              <a:rPr lang="en-US" sz="1800" dirty="0" err="1" smtClean="0"/>
              <a:t>În</a:t>
            </a:r>
            <a:r>
              <a:rPr lang="en-US" sz="1800" dirty="0" smtClean="0"/>
              <a:t> </a:t>
            </a:r>
            <a:r>
              <a:rPr lang="en-US" sz="1800" dirty="0" err="1" smtClean="0"/>
              <a:t>cadrul</a:t>
            </a:r>
            <a:r>
              <a:rPr lang="en-US" sz="1800" dirty="0" smtClean="0"/>
              <a:t> </a:t>
            </a:r>
            <a:r>
              <a:rPr lang="en-US" sz="1800" dirty="0" err="1" smtClean="0"/>
              <a:t>proiectului</a:t>
            </a:r>
            <a:r>
              <a:rPr lang="en-US" sz="1800" dirty="0" smtClean="0"/>
              <a:t>, frontend-</a:t>
            </a:r>
            <a:r>
              <a:rPr lang="en-US" sz="1800" dirty="0" err="1" smtClean="0"/>
              <a:t>ul</a:t>
            </a:r>
            <a:r>
              <a:rPr lang="en-US" sz="1800" dirty="0" smtClean="0"/>
              <a:t> a </a:t>
            </a:r>
            <a:r>
              <a:rPr lang="en-US" sz="1800" dirty="0" err="1" smtClean="0"/>
              <a:t>fost</a:t>
            </a:r>
            <a:r>
              <a:rPr lang="en-US" sz="1800" dirty="0" smtClean="0"/>
              <a:t> </a:t>
            </a:r>
            <a:r>
              <a:rPr lang="en-US" sz="1800" dirty="0" err="1" smtClean="0"/>
              <a:t>dezvoltat</a:t>
            </a:r>
            <a:r>
              <a:rPr lang="en-US" sz="1800" dirty="0" smtClean="0"/>
              <a:t> </a:t>
            </a:r>
            <a:r>
              <a:rPr lang="en-US" sz="1800" dirty="0" err="1" smtClean="0"/>
              <a:t>folosind</a:t>
            </a:r>
            <a:r>
              <a:rPr lang="en-US" sz="1800" dirty="0" smtClean="0"/>
              <a:t> </a:t>
            </a:r>
            <a:r>
              <a:rPr lang="en-US" sz="1800" dirty="0" err="1" smtClean="0"/>
              <a:t>biblioteca</a:t>
            </a:r>
            <a:r>
              <a:rPr lang="en-US" sz="1800" dirty="0" smtClean="0"/>
              <a:t> React, </a:t>
            </a:r>
            <a:r>
              <a:rPr lang="en-US" sz="1800" dirty="0" err="1" smtClean="0"/>
              <a:t>împreună</a:t>
            </a:r>
            <a:r>
              <a:rPr lang="en-US" sz="1800" dirty="0" smtClean="0"/>
              <a:t> cu </a:t>
            </a:r>
            <a:r>
              <a:rPr lang="en-US" sz="1800" dirty="0" err="1" smtClean="0"/>
              <a:t>limbajele</a:t>
            </a:r>
            <a:r>
              <a:rPr lang="en-US" sz="1800" dirty="0" smtClean="0"/>
              <a:t> standard ale </a:t>
            </a:r>
            <a:r>
              <a:rPr lang="en-US" sz="1800" dirty="0" err="1" smtClean="0"/>
              <a:t>dezvoltării</a:t>
            </a:r>
            <a:r>
              <a:rPr lang="en-US" sz="1800" dirty="0" smtClean="0"/>
              <a:t> web: HTML, CSS </a:t>
            </a:r>
            <a:r>
              <a:rPr lang="en-US" sz="1800" dirty="0" err="1" smtClean="0"/>
              <a:t>și</a:t>
            </a:r>
            <a:r>
              <a:rPr lang="en-US" sz="1800" dirty="0" smtClean="0"/>
              <a:t> JavaScript (</a:t>
            </a:r>
            <a:r>
              <a:rPr lang="en-US" sz="1800" dirty="0" err="1" smtClean="0"/>
              <a:t>TypeScript</a:t>
            </a:r>
            <a:r>
              <a:rPr lang="en-US" sz="1800" dirty="0" smtClean="0"/>
              <a:t>). React </a:t>
            </a:r>
            <a:r>
              <a:rPr lang="en-US" sz="1800" dirty="0" err="1" smtClean="0"/>
              <a:t>permite</a:t>
            </a:r>
            <a:r>
              <a:rPr lang="en-US" sz="1800" dirty="0" smtClean="0"/>
              <a:t> </a:t>
            </a:r>
            <a:r>
              <a:rPr lang="en-US" sz="1800" dirty="0" err="1" smtClean="0"/>
              <a:t>construirea</a:t>
            </a:r>
            <a:r>
              <a:rPr lang="en-US" sz="1800" dirty="0" smtClean="0"/>
              <a:t> </a:t>
            </a:r>
            <a:r>
              <a:rPr lang="en-US" sz="1800" dirty="0" err="1" smtClean="0"/>
              <a:t>interfeței</a:t>
            </a:r>
            <a:r>
              <a:rPr lang="en-US" sz="1800" dirty="0" smtClean="0"/>
              <a:t> sub forma </a:t>
            </a:r>
            <a:r>
              <a:rPr lang="en-US" sz="1800" dirty="0" err="1" smtClean="0"/>
              <a:t>unor</a:t>
            </a:r>
            <a:r>
              <a:rPr lang="en-US" sz="1800" dirty="0" smtClean="0"/>
              <a:t> </a:t>
            </a:r>
            <a:r>
              <a:rPr lang="en-US" sz="1800" dirty="0" err="1" smtClean="0"/>
              <a:t>componente</a:t>
            </a:r>
            <a:r>
              <a:rPr lang="en-US" sz="1800" dirty="0" smtClean="0"/>
              <a:t> </a:t>
            </a:r>
            <a:r>
              <a:rPr lang="en-US" sz="1800" dirty="0" err="1" smtClean="0"/>
              <a:t>reutilizabile</a:t>
            </a:r>
            <a:r>
              <a:rPr lang="en-US" sz="1800" dirty="0" smtClean="0"/>
              <a:t>, </a:t>
            </a:r>
            <a:r>
              <a:rPr lang="en-US" sz="1800" dirty="0" err="1" smtClean="0"/>
              <a:t>contribuind</a:t>
            </a:r>
            <a:r>
              <a:rPr lang="en-US" sz="1800" dirty="0" smtClean="0"/>
              <a:t> la </a:t>
            </a:r>
            <a:r>
              <a:rPr lang="en-US" sz="1800" dirty="0" err="1" smtClean="0"/>
              <a:t>organizarea</a:t>
            </a:r>
            <a:r>
              <a:rPr lang="en-US" sz="1800" dirty="0" smtClean="0"/>
              <a:t> </a:t>
            </a:r>
            <a:r>
              <a:rPr lang="en-US" sz="1800" dirty="0" err="1" smtClean="0"/>
              <a:t>clară</a:t>
            </a:r>
            <a:r>
              <a:rPr lang="en-US" sz="1800" dirty="0" smtClean="0"/>
              <a:t> a </a:t>
            </a:r>
            <a:r>
              <a:rPr lang="en-US" sz="1800" dirty="0" err="1" smtClean="0"/>
              <a:t>aplicației</a:t>
            </a:r>
            <a:r>
              <a:rPr lang="en-US" sz="1800" dirty="0" smtClean="0"/>
              <a:t>.</a:t>
            </a:r>
            <a:endParaRPr lang="ro-RO" sz="1800" dirty="0" smtClean="0"/>
          </a:p>
          <a:p>
            <a:pPr algn="just">
              <a:buFont typeface="Wingdings" pitchFamily="2" charset="2"/>
              <a:buChar char="v"/>
            </a:pPr>
            <a:r>
              <a:rPr lang="en-US" sz="1800" dirty="0" err="1" smtClean="0"/>
              <a:t>Scopul</a:t>
            </a:r>
            <a:r>
              <a:rPr lang="en-US" sz="1800" dirty="0" smtClean="0"/>
              <a:t> principal al frontend-</a:t>
            </a:r>
            <a:r>
              <a:rPr lang="en-US" sz="1800" dirty="0" err="1" smtClean="0"/>
              <a:t>ului</a:t>
            </a:r>
            <a:r>
              <a:rPr lang="en-US" sz="1800" dirty="0" smtClean="0"/>
              <a:t> </a:t>
            </a:r>
            <a:r>
              <a:rPr lang="en-US" sz="1800" dirty="0" err="1" smtClean="0"/>
              <a:t>este</a:t>
            </a:r>
            <a:r>
              <a:rPr lang="en-US" sz="1800" dirty="0" smtClean="0"/>
              <a:t> de a </a:t>
            </a:r>
            <a:r>
              <a:rPr lang="en-US" sz="1800" dirty="0" err="1" smtClean="0"/>
              <a:t>permite</a:t>
            </a:r>
            <a:r>
              <a:rPr lang="en-US" sz="1800" dirty="0" smtClean="0"/>
              <a:t> </a:t>
            </a:r>
            <a:r>
              <a:rPr lang="en-US" sz="1800" dirty="0" err="1" smtClean="0"/>
              <a:t>utilizatorilor</a:t>
            </a:r>
            <a:r>
              <a:rPr lang="en-US" sz="1800" dirty="0" smtClean="0"/>
              <a:t> </a:t>
            </a:r>
            <a:r>
              <a:rPr lang="en-US" sz="1800" dirty="0" err="1" smtClean="0"/>
              <a:t>să</a:t>
            </a:r>
            <a:r>
              <a:rPr lang="en-US" sz="1800" dirty="0" smtClean="0"/>
              <a:t> </a:t>
            </a:r>
            <a:r>
              <a:rPr lang="en-US" sz="1800" dirty="0" err="1" smtClean="0"/>
              <a:t>gestioneze</a:t>
            </a:r>
            <a:r>
              <a:rPr lang="en-US" sz="1800" dirty="0" smtClean="0"/>
              <a:t> </a:t>
            </a:r>
            <a:r>
              <a:rPr lang="en-US" sz="1800" dirty="0" err="1" smtClean="0"/>
              <a:t>cursurile</a:t>
            </a:r>
            <a:r>
              <a:rPr lang="en-US" sz="1800" dirty="0" smtClean="0"/>
              <a:t> </a:t>
            </a:r>
            <a:r>
              <a:rPr lang="en-US" sz="1800" dirty="0" err="1" smtClean="0"/>
              <a:t>și</a:t>
            </a:r>
            <a:r>
              <a:rPr lang="en-US" sz="1800" dirty="0" smtClean="0"/>
              <a:t> </a:t>
            </a:r>
            <a:r>
              <a:rPr lang="en-US" sz="1800" dirty="0" err="1" smtClean="0"/>
              <a:t>materialele</a:t>
            </a:r>
            <a:r>
              <a:rPr lang="en-US" sz="1800" dirty="0" smtClean="0"/>
              <a:t> </a:t>
            </a:r>
            <a:r>
              <a:rPr lang="en-US" sz="1800" dirty="0" err="1" smtClean="0"/>
              <a:t>educaționale</a:t>
            </a:r>
            <a:r>
              <a:rPr lang="en-US" sz="1800" dirty="0" smtClean="0"/>
              <a:t>, </a:t>
            </a:r>
            <a:r>
              <a:rPr lang="en-US" sz="1800" dirty="0" err="1" smtClean="0"/>
              <a:t>să</a:t>
            </a:r>
            <a:r>
              <a:rPr lang="en-US" sz="1800" dirty="0" smtClean="0"/>
              <a:t> </a:t>
            </a:r>
            <a:r>
              <a:rPr lang="en-US" sz="1800" dirty="0" err="1" smtClean="0"/>
              <a:t>vizualizeze</a:t>
            </a:r>
            <a:r>
              <a:rPr lang="en-US" sz="1800" dirty="0" smtClean="0"/>
              <a:t> </a:t>
            </a:r>
            <a:r>
              <a:rPr lang="en-US" sz="1800" dirty="0" err="1" smtClean="0"/>
              <a:t>informațiile</a:t>
            </a:r>
            <a:r>
              <a:rPr lang="en-US" sz="1800" dirty="0" smtClean="0"/>
              <a:t> </a:t>
            </a:r>
            <a:r>
              <a:rPr lang="en-US" sz="1800" dirty="0" err="1" smtClean="0"/>
              <a:t>existente</a:t>
            </a:r>
            <a:r>
              <a:rPr lang="en-US" sz="1800" dirty="0" smtClean="0"/>
              <a:t> </a:t>
            </a:r>
            <a:r>
              <a:rPr lang="en-US" sz="1800" dirty="0" err="1" smtClean="0"/>
              <a:t>și</a:t>
            </a:r>
            <a:r>
              <a:rPr lang="en-US" sz="1800" dirty="0" smtClean="0"/>
              <a:t> </a:t>
            </a:r>
            <a:r>
              <a:rPr lang="en-US" sz="1800" dirty="0" err="1" smtClean="0"/>
              <a:t>să</a:t>
            </a:r>
            <a:r>
              <a:rPr lang="en-US" sz="1800" dirty="0" smtClean="0"/>
              <a:t> </a:t>
            </a:r>
            <a:r>
              <a:rPr lang="en-US" sz="1800" dirty="0" err="1" smtClean="0"/>
              <a:t>interacționeze</a:t>
            </a:r>
            <a:r>
              <a:rPr lang="en-US" sz="1800" dirty="0" smtClean="0"/>
              <a:t> cu </a:t>
            </a:r>
            <a:r>
              <a:rPr lang="en-US" sz="1800" dirty="0" err="1" smtClean="0"/>
              <a:t>sistemul</a:t>
            </a:r>
            <a:r>
              <a:rPr lang="en-US" sz="1800" dirty="0" smtClean="0"/>
              <a:t> </a:t>
            </a:r>
            <a:r>
              <a:rPr lang="en-US" sz="1800" dirty="0" err="1" smtClean="0"/>
              <a:t>într</a:t>
            </a:r>
            <a:r>
              <a:rPr lang="en-US" sz="1800" dirty="0" smtClean="0"/>
              <a:t>-un mod rapid </a:t>
            </a:r>
            <a:r>
              <a:rPr lang="en-US" sz="1800" dirty="0" err="1" smtClean="0"/>
              <a:t>și</a:t>
            </a:r>
            <a:r>
              <a:rPr lang="en-US" sz="1800" dirty="0" smtClean="0"/>
              <a:t> </a:t>
            </a:r>
            <a:r>
              <a:rPr lang="en-US" sz="1800" dirty="0" err="1" smtClean="0"/>
              <a:t>intuitiv</a:t>
            </a:r>
            <a:r>
              <a:rPr lang="en-US" sz="1800" dirty="0" smtClean="0"/>
              <a:t>.</a:t>
            </a:r>
            <a:endParaRPr lang="ro-RO" sz="1800" dirty="0" smtClean="0"/>
          </a:p>
          <a:p>
            <a:pPr marL="633222" indent="-514350" algn="just">
              <a:buFont typeface="Wingdings" pitchFamily="2" charset="2"/>
              <a:buChar char="v"/>
            </a:pPr>
            <a:r>
              <a:rPr lang="en-US" sz="1800" dirty="0" err="1" smtClean="0"/>
              <a:t>Printre</a:t>
            </a:r>
            <a:r>
              <a:rPr lang="en-US" sz="1800" dirty="0" smtClean="0"/>
              <a:t> </a:t>
            </a:r>
            <a:r>
              <a:rPr lang="en-US" sz="1800" dirty="0" err="1" smtClean="0"/>
              <a:t>principalele</a:t>
            </a:r>
            <a:r>
              <a:rPr lang="en-US" sz="1800" dirty="0" smtClean="0"/>
              <a:t> </a:t>
            </a:r>
            <a:r>
              <a:rPr lang="en-US" sz="1800" dirty="0" err="1" smtClean="0"/>
              <a:t>componente</a:t>
            </a:r>
            <a:r>
              <a:rPr lang="en-US" sz="1800" dirty="0" smtClean="0"/>
              <a:t> ale frontend-</a:t>
            </a:r>
            <a:r>
              <a:rPr lang="en-US" sz="1800" dirty="0" err="1" smtClean="0"/>
              <a:t>ului</a:t>
            </a:r>
            <a:r>
              <a:rPr lang="en-US" sz="1800" dirty="0" smtClean="0"/>
              <a:t> se </a:t>
            </a:r>
            <a:r>
              <a:rPr lang="en-US" sz="1800" dirty="0" err="1" smtClean="0"/>
              <a:t>numără</a:t>
            </a:r>
            <a:r>
              <a:rPr lang="en-US" sz="1800" dirty="0" smtClean="0"/>
              <a:t>:</a:t>
            </a:r>
            <a:endParaRPr lang="ro-RO" sz="1800" dirty="0" smtClean="0"/>
          </a:p>
          <a:p>
            <a:pPr marL="925830" lvl="1" indent="-514350" algn="just">
              <a:buFont typeface="Wingdings" pitchFamily="2" charset="2"/>
              <a:buChar char="v"/>
            </a:pPr>
            <a:r>
              <a:rPr lang="en-US" sz="1800" dirty="0" err="1" smtClean="0"/>
              <a:t>pagina</a:t>
            </a:r>
            <a:r>
              <a:rPr lang="en-US" sz="1800" dirty="0" smtClean="0"/>
              <a:t> de </a:t>
            </a:r>
            <a:r>
              <a:rPr lang="en-US" sz="1800" dirty="0" err="1" smtClean="0"/>
              <a:t>gestionare</a:t>
            </a:r>
            <a:r>
              <a:rPr lang="en-US" sz="1800" dirty="0" smtClean="0"/>
              <a:t> a </a:t>
            </a:r>
            <a:r>
              <a:rPr lang="en-US" sz="1800" dirty="0" err="1" smtClean="0"/>
              <a:t>cursurilor</a:t>
            </a:r>
            <a:r>
              <a:rPr lang="en-US" sz="1800" dirty="0" smtClean="0"/>
              <a:t>;</a:t>
            </a:r>
            <a:endParaRPr lang="ro-RO" sz="1800" dirty="0" smtClean="0"/>
          </a:p>
          <a:p>
            <a:pPr marL="925830" lvl="1" indent="-514350" algn="just">
              <a:buFont typeface="Wingdings" pitchFamily="2" charset="2"/>
              <a:buChar char="v"/>
            </a:pPr>
            <a:r>
              <a:rPr lang="en-US" sz="1800" dirty="0" err="1" smtClean="0"/>
              <a:t>pagina</a:t>
            </a:r>
            <a:r>
              <a:rPr lang="en-US" sz="1800" dirty="0" smtClean="0"/>
              <a:t> de </a:t>
            </a:r>
            <a:r>
              <a:rPr lang="en-US" sz="1800" dirty="0" err="1" smtClean="0"/>
              <a:t>gestionare</a:t>
            </a:r>
            <a:r>
              <a:rPr lang="en-US" sz="1800" dirty="0" smtClean="0"/>
              <a:t> a </a:t>
            </a:r>
            <a:r>
              <a:rPr lang="en-US" sz="1800" dirty="0" err="1" smtClean="0"/>
              <a:t>materialelor</a:t>
            </a:r>
            <a:r>
              <a:rPr lang="en-US" sz="1800" dirty="0" smtClean="0"/>
              <a:t>;</a:t>
            </a:r>
            <a:endParaRPr lang="ro-RO" sz="1800" dirty="0" smtClean="0"/>
          </a:p>
          <a:p>
            <a:pPr marL="925830" lvl="1" indent="-514350" algn="just">
              <a:buFont typeface="Wingdings" pitchFamily="2" charset="2"/>
              <a:buChar char="v"/>
            </a:pPr>
            <a:r>
              <a:rPr lang="en-US" sz="1800" dirty="0" err="1" smtClean="0"/>
              <a:t>formulare</a:t>
            </a:r>
            <a:r>
              <a:rPr lang="en-US" sz="1800" dirty="0" smtClean="0"/>
              <a:t> </a:t>
            </a:r>
            <a:r>
              <a:rPr lang="en-US" sz="1800" dirty="0" err="1" smtClean="0"/>
              <a:t>pentru</a:t>
            </a:r>
            <a:r>
              <a:rPr lang="en-US" sz="1800" dirty="0" smtClean="0"/>
              <a:t> </a:t>
            </a:r>
            <a:r>
              <a:rPr lang="en-US" sz="1800" dirty="0" err="1" smtClean="0"/>
              <a:t>adăugarea</a:t>
            </a:r>
            <a:r>
              <a:rPr lang="en-US" sz="1800" dirty="0" smtClean="0"/>
              <a:t> </a:t>
            </a:r>
            <a:r>
              <a:rPr lang="en-US" sz="1800" dirty="0" err="1" smtClean="0"/>
              <a:t>și</a:t>
            </a:r>
            <a:r>
              <a:rPr lang="en-US" sz="1800" dirty="0" smtClean="0"/>
              <a:t> </a:t>
            </a:r>
            <a:r>
              <a:rPr lang="en-US" sz="1800" dirty="0" err="1" smtClean="0"/>
              <a:t>editarea</a:t>
            </a:r>
            <a:r>
              <a:rPr lang="en-US" sz="1800" dirty="0" smtClean="0"/>
              <a:t> </a:t>
            </a:r>
            <a:r>
              <a:rPr lang="en-US" sz="1800" dirty="0" err="1" smtClean="0"/>
              <a:t>datelor</a:t>
            </a:r>
            <a:r>
              <a:rPr lang="en-US" sz="1800" dirty="0" smtClean="0"/>
              <a:t>;</a:t>
            </a:r>
            <a:endParaRPr lang="ro-RO" sz="1800" dirty="0" smtClean="0"/>
          </a:p>
          <a:p>
            <a:pPr marL="925830" lvl="1" indent="-514350" algn="just">
              <a:buFont typeface="Wingdings" pitchFamily="2" charset="2"/>
              <a:buChar char="v"/>
            </a:pPr>
            <a:r>
              <a:rPr lang="en-US" sz="1800" dirty="0" err="1" smtClean="0"/>
              <a:t>componente</a:t>
            </a:r>
            <a:r>
              <a:rPr lang="en-US" sz="1800" dirty="0" smtClean="0"/>
              <a:t> </a:t>
            </a:r>
            <a:r>
              <a:rPr lang="en-US" sz="1800" dirty="0" err="1" smtClean="0"/>
              <a:t>reutilizabile</a:t>
            </a:r>
            <a:r>
              <a:rPr lang="en-US" sz="1800" dirty="0" smtClean="0"/>
              <a:t> </a:t>
            </a:r>
            <a:r>
              <a:rPr lang="en-US" sz="1800" dirty="0" err="1" smtClean="0"/>
              <a:t>pentru</a:t>
            </a:r>
            <a:r>
              <a:rPr lang="en-US" sz="1800" dirty="0" smtClean="0"/>
              <a:t> </a:t>
            </a:r>
            <a:r>
              <a:rPr lang="en-US" sz="1800" dirty="0" err="1" smtClean="0"/>
              <a:t>afișarea</a:t>
            </a:r>
            <a:r>
              <a:rPr lang="en-US" sz="1800" dirty="0" smtClean="0"/>
              <a:t> </a:t>
            </a:r>
            <a:r>
              <a:rPr lang="en-US" sz="1800" dirty="0" err="1" smtClean="0"/>
              <a:t>listelor</a:t>
            </a:r>
            <a:r>
              <a:rPr lang="en-US" sz="1800" dirty="0" smtClean="0"/>
              <a:t> </a:t>
            </a:r>
            <a:r>
              <a:rPr lang="en-US" sz="1800" dirty="0" err="1" smtClean="0"/>
              <a:t>și</a:t>
            </a:r>
            <a:r>
              <a:rPr lang="en-US" sz="1800" dirty="0" smtClean="0"/>
              <a:t> a </a:t>
            </a:r>
            <a:r>
              <a:rPr lang="en-US" sz="1800" dirty="0" err="1" smtClean="0"/>
              <a:t>acțiunilor</a:t>
            </a:r>
            <a:r>
              <a:rPr lang="en-US" sz="1800" dirty="0" smtClean="0"/>
              <a:t> </a:t>
            </a:r>
            <a:r>
              <a:rPr lang="en-US" sz="1800" dirty="0" err="1" smtClean="0"/>
              <a:t>utilizatorului</a:t>
            </a:r>
            <a:r>
              <a:rPr lang="en-US" sz="1800" dirty="0" smtClean="0"/>
              <a:t>.</a:t>
            </a:r>
            <a:endParaRPr lang="ro-RO" sz="1800" dirty="0" smtClean="0"/>
          </a:p>
          <a:p>
            <a:pPr algn="just">
              <a:buFont typeface="Wingdings" pitchFamily="2" charset="2"/>
              <a:buChar char="v"/>
            </a:pPr>
            <a:endParaRPr lang="ro-RO" sz="1800" dirty="0" smtClean="0"/>
          </a:p>
          <a:p>
            <a:endParaRPr lang="ro-RO" sz="1800" dirty="0"/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8229600" cy="125272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 smtClean="0"/>
              <a:t>Fluxul</a:t>
            </a:r>
            <a:r>
              <a:rPr lang="en-US" b="1" dirty="0" smtClean="0"/>
              <a:t> de </a:t>
            </a:r>
            <a:r>
              <a:rPr lang="en-US" b="1" dirty="0" err="1" smtClean="0"/>
              <a:t>gestionare</a:t>
            </a:r>
            <a:r>
              <a:rPr lang="en-US" b="1" dirty="0" smtClean="0"/>
              <a:t> a </a:t>
            </a:r>
            <a:r>
              <a:rPr lang="en-US" b="1" dirty="0" err="1" smtClean="0"/>
              <a:t>cursurilor</a:t>
            </a:r>
            <a:r>
              <a:rPr lang="ro-RO" dirty="0" smtClean="0"/>
              <a:t/>
            </a:r>
            <a:br>
              <a:rPr lang="ro-RO" dirty="0" smtClean="0"/>
            </a:b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dirty="0" err="1" smtClean="0"/>
              <a:t>Gestionarea</a:t>
            </a:r>
            <a:r>
              <a:rPr lang="en-US" dirty="0" smtClean="0"/>
              <a:t> </a:t>
            </a:r>
            <a:r>
              <a:rPr lang="en-US" dirty="0" err="1" smtClean="0"/>
              <a:t>cursurilor</a:t>
            </a:r>
            <a:r>
              <a:rPr lang="en-US" dirty="0" smtClean="0"/>
              <a:t> </a:t>
            </a:r>
            <a:r>
              <a:rPr lang="en-US" dirty="0" err="1" smtClean="0"/>
              <a:t>reprezintă</a:t>
            </a:r>
            <a:r>
              <a:rPr lang="en-US" dirty="0" smtClean="0"/>
              <a:t> </a:t>
            </a:r>
            <a:r>
              <a:rPr lang="en-US" dirty="0" err="1" smtClean="0"/>
              <a:t>unul</a:t>
            </a:r>
            <a:r>
              <a:rPr lang="en-US" dirty="0" smtClean="0"/>
              <a:t> </a:t>
            </a:r>
            <a:r>
              <a:rPr lang="en-US" dirty="0" err="1" smtClean="0"/>
              <a:t>dintre</a:t>
            </a:r>
            <a:r>
              <a:rPr lang="en-US" dirty="0" smtClean="0"/>
              <a:t> </a:t>
            </a:r>
            <a:r>
              <a:rPr lang="en-US" dirty="0" err="1" smtClean="0"/>
              <a:t>fluxurile</a:t>
            </a:r>
            <a:r>
              <a:rPr lang="en-US" dirty="0" smtClean="0"/>
              <a:t> </a:t>
            </a:r>
            <a:r>
              <a:rPr lang="en-US" dirty="0" err="1" smtClean="0"/>
              <a:t>principale</a:t>
            </a:r>
            <a:r>
              <a:rPr lang="en-US" dirty="0" smtClean="0"/>
              <a:t> ale </a:t>
            </a:r>
            <a:r>
              <a:rPr lang="en-US" dirty="0" err="1" smtClean="0"/>
              <a:t>aplicației</a:t>
            </a:r>
            <a:r>
              <a:rPr lang="en-US" dirty="0" smtClean="0"/>
              <a:t> frontend.</a:t>
            </a:r>
            <a:endParaRPr lang="ro-RO" dirty="0" smtClean="0"/>
          </a:p>
          <a:p>
            <a:pPr algn="just">
              <a:buFont typeface="Wingdings" pitchFamily="2" charset="2"/>
              <a:buChar char="v"/>
            </a:pPr>
            <a:r>
              <a:rPr lang="en-US" dirty="0" smtClean="0"/>
              <a:t>La </a:t>
            </a:r>
            <a:r>
              <a:rPr lang="en-US" dirty="0" err="1" smtClean="0"/>
              <a:t>accesarea</a:t>
            </a:r>
            <a:r>
              <a:rPr lang="en-US" dirty="0" smtClean="0"/>
              <a:t> </a:t>
            </a:r>
            <a:r>
              <a:rPr lang="en-US" dirty="0" err="1" smtClean="0"/>
              <a:t>paginii</a:t>
            </a:r>
            <a:r>
              <a:rPr lang="en-US" dirty="0" smtClean="0"/>
              <a:t> de </a:t>
            </a:r>
            <a:r>
              <a:rPr lang="en-US" dirty="0" err="1" smtClean="0"/>
              <a:t>cursuri</a:t>
            </a:r>
            <a:r>
              <a:rPr lang="en-US" dirty="0" smtClean="0"/>
              <a:t>, frontend-</a:t>
            </a:r>
            <a:r>
              <a:rPr lang="en-US" dirty="0" err="1" smtClean="0"/>
              <a:t>ul</a:t>
            </a:r>
            <a:r>
              <a:rPr lang="en-US" dirty="0" smtClean="0"/>
              <a:t> </a:t>
            </a:r>
            <a:r>
              <a:rPr lang="en-US" dirty="0" err="1" smtClean="0"/>
              <a:t>inițiază</a:t>
            </a:r>
            <a:r>
              <a:rPr lang="en-US" dirty="0" smtClean="0"/>
              <a:t> o </a:t>
            </a:r>
            <a:r>
              <a:rPr lang="en-US" dirty="0" err="1" smtClean="0"/>
              <a:t>cerere</a:t>
            </a:r>
            <a:r>
              <a:rPr lang="en-US" dirty="0" smtClean="0"/>
              <a:t> de tip GET </a:t>
            </a:r>
            <a:r>
              <a:rPr lang="en-US" dirty="0" err="1" smtClean="0"/>
              <a:t>către</a:t>
            </a:r>
            <a:r>
              <a:rPr lang="en-US" dirty="0" smtClean="0"/>
              <a:t> backend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obținerea</a:t>
            </a:r>
            <a:r>
              <a:rPr lang="en-US" dirty="0" smtClean="0"/>
              <a:t> </a:t>
            </a:r>
            <a:r>
              <a:rPr lang="en-US" dirty="0" err="1" smtClean="0"/>
              <a:t>listei</a:t>
            </a:r>
            <a:r>
              <a:rPr lang="en-US" dirty="0" smtClean="0"/>
              <a:t> de </a:t>
            </a:r>
            <a:r>
              <a:rPr lang="en-US" dirty="0" err="1" smtClean="0"/>
              <a:t>cursuri</a:t>
            </a:r>
            <a:r>
              <a:rPr lang="en-US" dirty="0" smtClean="0"/>
              <a:t>. </a:t>
            </a:r>
            <a:r>
              <a:rPr lang="en-US" dirty="0" err="1" smtClean="0"/>
              <a:t>Datele</a:t>
            </a:r>
            <a:r>
              <a:rPr lang="en-US" dirty="0" smtClean="0"/>
              <a:t> </a:t>
            </a:r>
            <a:r>
              <a:rPr lang="en-US" dirty="0" err="1" smtClean="0"/>
              <a:t>primite</a:t>
            </a:r>
            <a:r>
              <a:rPr lang="en-US" dirty="0" smtClean="0"/>
              <a:t>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stocate</a:t>
            </a:r>
            <a:r>
              <a:rPr lang="en-US" dirty="0" smtClean="0"/>
              <a:t> </a:t>
            </a: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 err="1" smtClean="0"/>
              <a:t>starea</a:t>
            </a:r>
            <a:r>
              <a:rPr lang="en-US" dirty="0" smtClean="0"/>
              <a:t> </a:t>
            </a:r>
            <a:r>
              <a:rPr lang="en-US" dirty="0" err="1" smtClean="0"/>
              <a:t>aplicației</a:t>
            </a:r>
            <a:r>
              <a:rPr lang="en-US" dirty="0" smtClean="0"/>
              <a:t> </a:t>
            </a:r>
            <a:r>
              <a:rPr lang="en-US" dirty="0" err="1" smtClean="0"/>
              <a:t>și</a:t>
            </a:r>
            <a:r>
              <a:rPr lang="en-US" dirty="0" smtClean="0"/>
              <a:t> </a:t>
            </a:r>
            <a:r>
              <a:rPr lang="en-US" dirty="0" err="1" smtClean="0"/>
              <a:t>afișate</a:t>
            </a:r>
            <a:r>
              <a:rPr lang="en-US" dirty="0" smtClean="0"/>
              <a:t> </a:t>
            </a:r>
            <a:r>
              <a:rPr lang="en-US" dirty="0" err="1" smtClean="0"/>
              <a:t>într</a:t>
            </a:r>
            <a:r>
              <a:rPr lang="en-US" dirty="0" smtClean="0"/>
              <a:t>-o </a:t>
            </a:r>
            <a:r>
              <a:rPr lang="en-US" dirty="0" err="1" smtClean="0"/>
              <a:t>listă</a:t>
            </a:r>
            <a:r>
              <a:rPr lang="en-US" dirty="0" smtClean="0"/>
              <a:t> </a:t>
            </a:r>
            <a:r>
              <a:rPr lang="en-US" dirty="0" err="1" smtClean="0"/>
              <a:t>structurată</a:t>
            </a:r>
            <a:r>
              <a:rPr lang="en-US" dirty="0" smtClean="0"/>
              <a:t>, care </a:t>
            </a:r>
            <a:r>
              <a:rPr lang="en-US" dirty="0" err="1" smtClean="0"/>
              <a:t>conține</a:t>
            </a:r>
            <a:r>
              <a:rPr lang="en-US" dirty="0" smtClean="0"/>
              <a:t> </a:t>
            </a:r>
            <a:r>
              <a:rPr lang="en-US" dirty="0" err="1" smtClean="0"/>
              <a:t>informații</a:t>
            </a:r>
            <a:r>
              <a:rPr lang="en-US" dirty="0" smtClean="0"/>
              <a:t> </a:t>
            </a:r>
            <a:r>
              <a:rPr lang="en-US" dirty="0" err="1" smtClean="0"/>
              <a:t>relevante</a:t>
            </a:r>
            <a:r>
              <a:rPr lang="en-US" dirty="0" smtClean="0"/>
              <a:t> </a:t>
            </a:r>
            <a:r>
              <a:rPr lang="en-US" dirty="0" err="1" smtClean="0"/>
              <a:t>precum</a:t>
            </a:r>
            <a:r>
              <a:rPr lang="en-US" dirty="0" smtClean="0"/>
              <a:t> </a:t>
            </a:r>
            <a:r>
              <a:rPr lang="en-US" dirty="0" err="1" smtClean="0"/>
              <a:t>titlul</a:t>
            </a:r>
            <a:r>
              <a:rPr lang="en-US" dirty="0" smtClean="0"/>
              <a:t> </a:t>
            </a:r>
            <a:r>
              <a:rPr lang="en-US" dirty="0" err="1" smtClean="0"/>
              <a:t>și</a:t>
            </a:r>
            <a:r>
              <a:rPr lang="en-US" dirty="0" smtClean="0"/>
              <a:t> </a:t>
            </a:r>
            <a:r>
              <a:rPr lang="en-US" dirty="0" err="1" smtClean="0"/>
              <a:t>descrierea</a:t>
            </a:r>
            <a:r>
              <a:rPr lang="en-US" dirty="0" smtClean="0"/>
              <a:t> </a:t>
            </a:r>
            <a:r>
              <a:rPr lang="en-US" dirty="0" err="1" smtClean="0"/>
              <a:t>cursului</a:t>
            </a:r>
            <a:r>
              <a:rPr lang="en-US" dirty="0" smtClean="0"/>
              <a:t>.</a:t>
            </a:r>
            <a:endParaRPr lang="ro-RO" dirty="0" smtClean="0"/>
          </a:p>
          <a:p>
            <a:pPr algn="just">
              <a:buFont typeface="Wingdings" pitchFamily="2" charset="2"/>
              <a:buChar char="v"/>
            </a:pP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crearea</a:t>
            </a:r>
            <a:r>
              <a:rPr lang="en-US" dirty="0" smtClean="0"/>
              <a:t> </a:t>
            </a:r>
            <a:r>
              <a:rPr lang="en-US" dirty="0" err="1" smtClean="0"/>
              <a:t>unui</a:t>
            </a:r>
            <a:r>
              <a:rPr lang="en-US" dirty="0" smtClean="0"/>
              <a:t> curs </a:t>
            </a:r>
            <a:r>
              <a:rPr lang="en-US" dirty="0" err="1" smtClean="0"/>
              <a:t>nou</a:t>
            </a:r>
            <a:r>
              <a:rPr lang="en-US" dirty="0" smtClean="0"/>
              <a:t>, </a:t>
            </a:r>
            <a:r>
              <a:rPr lang="en-US" dirty="0" err="1" smtClean="0"/>
              <a:t>utilizatorul</a:t>
            </a:r>
            <a:r>
              <a:rPr lang="en-US" dirty="0" smtClean="0"/>
              <a:t> </a:t>
            </a:r>
            <a:r>
              <a:rPr lang="en-US" dirty="0" err="1" smtClean="0"/>
              <a:t>completează</a:t>
            </a:r>
            <a:r>
              <a:rPr lang="en-US" dirty="0" smtClean="0"/>
              <a:t> un </a:t>
            </a:r>
            <a:r>
              <a:rPr lang="en-US" dirty="0" err="1" smtClean="0"/>
              <a:t>formular</a:t>
            </a:r>
            <a:r>
              <a:rPr lang="en-US" dirty="0" smtClean="0"/>
              <a:t> </a:t>
            </a:r>
            <a:r>
              <a:rPr lang="en-US" dirty="0" err="1" smtClean="0"/>
              <a:t>dedicat</a:t>
            </a:r>
            <a:r>
              <a:rPr lang="en-US" dirty="0" smtClean="0"/>
              <a:t>. </a:t>
            </a:r>
            <a:r>
              <a:rPr lang="en-US" dirty="0" err="1" smtClean="0"/>
              <a:t>Datele</a:t>
            </a:r>
            <a:r>
              <a:rPr lang="en-US" dirty="0" smtClean="0"/>
              <a:t> </a:t>
            </a:r>
            <a:r>
              <a:rPr lang="en-US" dirty="0" err="1" smtClean="0"/>
              <a:t>sunt</a:t>
            </a:r>
            <a:r>
              <a:rPr lang="en-US" dirty="0" smtClean="0"/>
              <a:t> validate la </a:t>
            </a:r>
            <a:r>
              <a:rPr lang="en-US" dirty="0" err="1" smtClean="0"/>
              <a:t>nivel</a:t>
            </a:r>
            <a:r>
              <a:rPr lang="en-US" dirty="0" smtClean="0"/>
              <a:t> de frontend </a:t>
            </a:r>
            <a:r>
              <a:rPr lang="en-US" dirty="0" err="1" smtClean="0"/>
              <a:t>pentru</a:t>
            </a:r>
            <a:r>
              <a:rPr lang="en-US" dirty="0" smtClean="0"/>
              <a:t> a se </a:t>
            </a:r>
            <a:r>
              <a:rPr lang="en-US" dirty="0" err="1" smtClean="0"/>
              <a:t>asigura</a:t>
            </a:r>
            <a:r>
              <a:rPr lang="en-US" dirty="0" smtClean="0"/>
              <a:t> </a:t>
            </a:r>
            <a:r>
              <a:rPr lang="en-US" dirty="0" err="1" smtClean="0"/>
              <a:t>completarea</a:t>
            </a:r>
            <a:r>
              <a:rPr lang="en-US" dirty="0" smtClean="0"/>
              <a:t> </a:t>
            </a:r>
            <a:r>
              <a:rPr lang="en-US" dirty="0" err="1" smtClean="0"/>
              <a:t>câmpurilor</a:t>
            </a:r>
            <a:r>
              <a:rPr lang="en-US" dirty="0" smtClean="0"/>
              <a:t> </a:t>
            </a:r>
            <a:r>
              <a:rPr lang="en-US" dirty="0" err="1" smtClean="0"/>
              <a:t>obligatorii</a:t>
            </a:r>
            <a:r>
              <a:rPr lang="en-US" dirty="0" smtClean="0"/>
              <a:t>, </a:t>
            </a:r>
            <a:r>
              <a:rPr lang="en-US" dirty="0" err="1" smtClean="0"/>
              <a:t>după</a:t>
            </a:r>
            <a:r>
              <a:rPr lang="en-US" dirty="0" smtClean="0"/>
              <a:t> care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transmise</a:t>
            </a:r>
            <a:r>
              <a:rPr lang="en-US" dirty="0" smtClean="0"/>
              <a:t> </a:t>
            </a:r>
            <a:r>
              <a:rPr lang="en-US" dirty="0" err="1" smtClean="0"/>
              <a:t>către</a:t>
            </a:r>
            <a:r>
              <a:rPr lang="en-US" dirty="0" smtClean="0"/>
              <a:t> backend </a:t>
            </a:r>
            <a:r>
              <a:rPr lang="en-US" dirty="0" err="1" smtClean="0"/>
              <a:t>printr</a:t>
            </a:r>
            <a:r>
              <a:rPr lang="en-US" dirty="0" smtClean="0"/>
              <a:t>-o </a:t>
            </a:r>
            <a:r>
              <a:rPr lang="en-US" dirty="0" err="1" smtClean="0"/>
              <a:t>cerere</a:t>
            </a:r>
            <a:r>
              <a:rPr lang="en-US" dirty="0" smtClean="0"/>
              <a:t> POST. </a:t>
            </a: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 err="1" smtClean="0"/>
              <a:t>urma</a:t>
            </a:r>
            <a:r>
              <a:rPr lang="en-US" dirty="0" smtClean="0"/>
              <a:t> </a:t>
            </a:r>
            <a:r>
              <a:rPr lang="en-US" dirty="0" err="1" smtClean="0"/>
              <a:t>unei</a:t>
            </a:r>
            <a:r>
              <a:rPr lang="en-US" dirty="0" smtClean="0"/>
              <a:t> </a:t>
            </a:r>
            <a:r>
              <a:rPr lang="en-US" dirty="0" err="1" smtClean="0"/>
              <a:t>operații</a:t>
            </a:r>
            <a:r>
              <a:rPr lang="en-US" dirty="0" smtClean="0"/>
              <a:t> </a:t>
            </a:r>
            <a:r>
              <a:rPr lang="en-US" dirty="0" err="1" smtClean="0"/>
              <a:t>reușite</a:t>
            </a:r>
            <a:r>
              <a:rPr lang="en-US" dirty="0" smtClean="0"/>
              <a:t>, </a:t>
            </a:r>
            <a:r>
              <a:rPr lang="en-US" dirty="0" err="1" smtClean="0"/>
              <a:t>lista</a:t>
            </a:r>
            <a:r>
              <a:rPr lang="en-US" dirty="0" smtClean="0"/>
              <a:t> de </a:t>
            </a:r>
            <a:r>
              <a:rPr lang="en-US" dirty="0" err="1" smtClean="0"/>
              <a:t>cursuri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reîncărcată</a:t>
            </a:r>
            <a:r>
              <a:rPr lang="en-US" dirty="0" smtClean="0"/>
              <a:t> automat.</a:t>
            </a:r>
            <a:endParaRPr lang="ro-RO" dirty="0" smtClean="0"/>
          </a:p>
          <a:p>
            <a:pPr algn="just">
              <a:buFont typeface="Wingdings" pitchFamily="2" charset="2"/>
              <a:buChar char="v"/>
            </a:pPr>
            <a:r>
              <a:rPr lang="en-US" dirty="0" err="1" smtClean="0"/>
              <a:t>Editarea</a:t>
            </a:r>
            <a:r>
              <a:rPr lang="en-US" dirty="0" smtClean="0"/>
              <a:t> </a:t>
            </a:r>
            <a:r>
              <a:rPr lang="en-US" dirty="0" err="1" smtClean="0"/>
              <a:t>unui</a:t>
            </a:r>
            <a:r>
              <a:rPr lang="en-US" dirty="0" smtClean="0"/>
              <a:t> curs </a:t>
            </a:r>
            <a:r>
              <a:rPr lang="en-US" dirty="0" err="1" smtClean="0"/>
              <a:t>presupune</a:t>
            </a:r>
            <a:r>
              <a:rPr lang="en-US" dirty="0" smtClean="0"/>
              <a:t> </a:t>
            </a:r>
            <a:r>
              <a:rPr lang="en-US" dirty="0" err="1" smtClean="0"/>
              <a:t>încărcarea</a:t>
            </a:r>
            <a:r>
              <a:rPr lang="en-US" dirty="0" smtClean="0"/>
              <a:t> </a:t>
            </a:r>
            <a:r>
              <a:rPr lang="en-US" dirty="0" err="1" smtClean="0"/>
              <a:t>datelor</a:t>
            </a:r>
            <a:r>
              <a:rPr lang="en-US" dirty="0" smtClean="0"/>
              <a:t> </a:t>
            </a:r>
            <a:r>
              <a:rPr lang="en-US" dirty="0" err="1" smtClean="0"/>
              <a:t>existente</a:t>
            </a:r>
            <a:r>
              <a:rPr lang="en-US" dirty="0" smtClean="0"/>
              <a:t> </a:t>
            </a: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 err="1" smtClean="0"/>
              <a:t>formular</a:t>
            </a:r>
            <a:r>
              <a:rPr lang="en-US" dirty="0" smtClean="0"/>
              <a:t> </a:t>
            </a:r>
            <a:r>
              <a:rPr lang="en-US" dirty="0" err="1" smtClean="0"/>
              <a:t>și</a:t>
            </a:r>
            <a:r>
              <a:rPr lang="en-US" dirty="0" smtClean="0"/>
              <a:t> </a:t>
            </a:r>
            <a:r>
              <a:rPr lang="en-US" dirty="0" err="1" smtClean="0"/>
              <a:t>transmiterea</a:t>
            </a:r>
            <a:r>
              <a:rPr lang="en-US" dirty="0" smtClean="0"/>
              <a:t> </a:t>
            </a:r>
            <a:r>
              <a:rPr lang="en-US" dirty="0" err="1" smtClean="0"/>
              <a:t>modificărilor</a:t>
            </a:r>
            <a:r>
              <a:rPr lang="en-US" dirty="0" smtClean="0"/>
              <a:t> </a:t>
            </a:r>
            <a:r>
              <a:rPr lang="en-US" dirty="0" err="1" smtClean="0"/>
              <a:t>printr</a:t>
            </a:r>
            <a:r>
              <a:rPr lang="en-US" dirty="0" smtClean="0"/>
              <a:t>-o </a:t>
            </a:r>
            <a:r>
              <a:rPr lang="en-US" dirty="0" err="1" smtClean="0"/>
              <a:t>cerere</a:t>
            </a:r>
            <a:r>
              <a:rPr lang="en-US" dirty="0" smtClean="0"/>
              <a:t> PUT, </a:t>
            </a:r>
            <a:r>
              <a:rPr lang="en-US" dirty="0" err="1" smtClean="0"/>
              <a:t>iar</a:t>
            </a:r>
            <a:r>
              <a:rPr lang="en-US" dirty="0" smtClean="0"/>
              <a:t> </a:t>
            </a:r>
            <a:r>
              <a:rPr lang="en-US" dirty="0" err="1" smtClean="0"/>
              <a:t>ștergerea</a:t>
            </a:r>
            <a:r>
              <a:rPr lang="en-US" dirty="0" smtClean="0"/>
              <a:t> </a:t>
            </a:r>
            <a:r>
              <a:rPr lang="en-US" dirty="0" err="1" smtClean="0"/>
              <a:t>unui</a:t>
            </a:r>
            <a:r>
              <a:rPr lang="en-US" dirty="0" smtClean="0"/>
              <a:t> curs se </a:t>
            </a:r>
            <a:r>
              <a:rPr lang="en-US" dirty="0" err="1" smtClean="0"/>
              <a:t>realizează</a:t>
            </a:r>
            <a:r>
              <a:rPr lang="en-US" dirty="0" smtClean="0"/>
              <a:t> </a:t>
            </a:r>
            <a:r>
              <a:rPr lang="en-US" dirty="0" err="1" smtClean="0"/>
              <a:t>printr</a:t>
            </a:r>
            <a:r>
              <a:rPr lang="en-US" dirty="0" smtClean="0"/>
              <a:t>-o </a:t>
            </a:r>
            <a:r>
              <a:rPr lang="en-US" dirty="0" err="1" smtClean="0"/>
              <a:t>cerere</a:t>
            </a:r>
            <a:r>
              <a:rPr lang="en-US" dirty="0" smtClean="0"/>
              <a:t> DELETE, </a:t>
            </a:r>
            <a:r>
              <a:rPr lang="en-US" dirty="0" err="1" smtClean="0"/>
              <a:t>precedată</a:t>
            </a:r>
            <a:r>
              <a:rPr lang="en-US" dirty="0" smtClean="0"/>
              <a:t> de o </a:t>
            </a:r>
            <a:r>
              <a:rPr lang="en-US" dirty="0" err="1" smtClean="0"/>
              <a:t>confirmare</a:t>
            </a:r>
            <a:r>
              <a:rPr lang="en-US" dirty="0" smtClean="0"/>
              <a:t> din </a:t>
            </a:r>
            <a:r>
              <a:rPr lang="en-US" dirty="0" err="1" smtClean="0"/>
              <a:t>partea</a:t>
            </a:r>
            <a:r>
              <a:rPr lang="en-US" dirty="0" smtClean="0"/>
              <a:t> </a:t>
            </a:r>
            <a:r>
              <a:rPr lang="en-US" dirty="0" err="1" smtClean="0"/>
              <a:t>utilizatorului</a:t>
            </a:r>
            <a:r>
              <a:rPr lang="en-US" dirty="0" smtClean="0"/>
              <a:t>.</a:t>
            </a:r>
            <a:endParaRPr lang="ro-RO" dirty="0" smtClean="0"/>
          </a:p>
          <a:p>
            <a:pPr>
              <a:buFont typeface="Wingdings" pitchFamily="2" charset="2"/>
              <a:buChar char="v"/>
            </a:pPr>
            <a:endParaRPr lang="ro-RO" dirty="0"/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8229600" cy="125272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 smtClean="0"/>
              <a:t>Fluxul</a:t>
            </a:r>
            <a:r>
              <a:rPr lang="en-US" b="1" dirty="0" smtClean="0"/>
              <a:t> de </a:t>
            </a:r>
            <a:r>
              <a:rPr lang="en-US" b="1" dirty="0" err="1" smtClean="0"/>
              <a:t>gestionare</a:t>
            </a:r>
            <a:r>
              <a:rPr lang="en-US" b="1" dirty="0" smtClean="0"/>
              <a:t> a </a:t>
            </a:r>
            <a:r>
              <a:rPr lang="en-US" b="1" dirty="0" err="1" smtClean="0"/>
              <a:t>materialelor</a:t>
            </a:r>
            <a:r>
              <a:rPr lang="ro-RO" dirty="0" smtClean="0"/>
              <a:t/>
            </a:r>
            <a:br>
              <a:rPr lang="ro-RO" dirty="0" smtClean="0"/>
            </a:b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dirty="0" err="1" smtClean="0"/>
              <a:t>Gestionarea</a:t>
            </a:r>
            <a:r>
              <a:rPr lang="en-US" dirty="0" smtClean="0"/>
              <a:t> </a:t>
            </a:r>
            <a:r>
              <a:rPr lang="en-US" dirty="0" err="1" smtClean="0"/>
              <a:t>materialelor</a:t>
            </a:r>
            <a:r>
              <a:rPr lang="en-US" dirty="0" smtClean="0"/>
              <a:t> </a:t>
            </a:r>
            <a:r>
              <a:rPr lang="en-US" dirty="0" err="1" smtClean="0"/>
              <a:t>educaționale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strâns</a:t>
            </a:r>
            <a:r>
              <a:rPr lang="en-US" dirty="0" smtClean="0"/>
              <a:t> </a:t>
            </a:r>
            <a:r>
              <a:rPr lang="en-US" dirty="0" err="1" smtClean="0"/>
              <a:t>legată</a:t>
            </a:r>
            <a:r>
              <a:rPr lang="en-US" dirty="0" smtClean="0"/>
              <a:t> de </a:t>
            </a:r>
            <a:r>
              <a:rPr lang="en-US" dirty="0" err="1" smtClean="0"/>
              <a:t>cursurile</a:t>
            </a:r>
            <a:r>
              <a:rPr lang="en-US" dirty="0" smtClean="0"/>
              <a:t> </a:t>
            </a:r>
            <a:r>
              <a:rPr lang="en-US" dirty="0" err="1" smtClean="0"/>
              <a:t>existente</a:t>
            </a:r>
            <a:r>
              <a:rPr lang="en-US" dirty="0" smtClean="0"/>
              <a:t> </a:t>
            </a: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 err="1" smtClean="0"/>
              <a:t>aplicație</a:t>
            </a:r>
            <a:r>
              <a:rPr lang="en-US" dirty="0" smtClean="0"/>
              <a:t>.</a:t>
            </a:r>
            <a:endParaRPr lang="ro-RO" dirty="0" smtClean="0"/>
          </a:p>
          <a:p>
            <a:pPr algn="just">
              <a:buFont typeface="Wingdings" pitchFamily="2" charset="2"/>
              <a:buChar char="v"/>
            </a:pPr>
            <a:r>
              <a:rPr lang="en-US" dirty="0" err="1" smtClean="0"/>
              <a:t>Utilizatorul</a:t>
            </a:r>
            <a:r>
              <a:rPr lang="en-US" dirty="0" smtClean="0"/>
              <a:t> </a:t>
            </a:r>
            <a:r>
              <a:rPr lang="en-US" dirty="0" err="1" smtClean="0"/>
              <a:t>selectează</a:t>
            </a:r>
            <a:r>
              <a:rPr lang="en-US" dirty="0" smtClean="0"/>
              <a:t> un curs </a:t>
            </a:r>
            <a:r>
              <a:rPr lang="en-US" dirty="0" err="1" smtClean="0"/>
              <a:t>dintr</a:t>
            </a:r>
            <a:r>
              <a:rPr lang="en-US" dirty="0" smtClean="0"/>
              <a:t>-un element de tip dropdown, </a:t>
            </a:r>
            <a:r>
              <a:rPr lang="en-US" dirty="0" err="1" smtClean="0"/>
              <a:t>iar</a:t>
            </a:r>
            <a:r>
              <a:rPr lang="en-US" dirty="0" smtClean="0"/>
              <a:t> frontend-</a:t>
            </a:r>
            <a:r>
              <a:rPr lang="en-US" dirty="0" err="1" smtClean="0"/>
              <a:t>ul</a:t>
            </a:r>
            <a:r>
              <a:rPr lang="en-US" dirty="0" smtClean="0"/>
              <a:t> </a:t>
            </a:r>
            <a:r>
              <a:rPr lang="en-US" dirty="0" err="1" smtClean="0"/>
              <a:t>trimite</a:t>
            </a:r>
            <a:r>
              <a:rPr lang="en-US" dirty="0" smtClean="0"/>
              <a:t> o </a:t>
            </a:r>
            <a:r>
              <a:rPr lang="en-US" dirty="0" err="1" smtClean="0"/>
              <a:t>cerere</a:t>
            </a:r>
            <a:r>
              <a:rPr lang="en-US" dirty="0" smtClean="0"/>
              <a:t> </a:t>
            </a:r>
            <a:r>
              <a:rPr lang="en-US" dirty="0" err="1" smtClean="0"/>
              <a:t>către</a:t>
            </a:r>
            <a:r>
              <a:rPr lang="en-US" dirty="0" smtClean="0"/>
              <a:t> backend </a:t>
            </a:r>
            <a:r>
              <a:rPr lang="en-US" dirty="0" err="1" smtClean="0"/>
              <a:t>pentru</a:t>
            </a:r>
            <a:r>
              <a:rPr lang="en-US" dirty="0" smtClean="0"/>
              <a:t> a </a:t>
            </a:r>
            <a:r>
              <a:rPr lang="en-US" dirty="0" err="1" smtClean="0"/>
              <a:t>obține</a:t>
            </a:r>
            <a:r>
              <a:rPr lang="en-US" dirty="0" smtClean="0"/>
              <a:t> </a:t>
            </a:r>
            <a:r>
              <a:rPr lang="en-US" dirty="0" err="1" smtClean="0"/>
              <a:t>materialele</a:t>
            </a:r>
            <a:r>
              <a:rPr lang="en-US" dirty="0" smtClean="0"/>
              <a:t> </a:t>
            </a:r>
            <a:r>
              <a:rPr lang="en-US" dirty="0" err="1" smtClean="0"/>
              <a:t>asociate</a:t>
            </a:r>
            <a:r>
              <a:rPr lang="en-US" dirty="0" smtClean="0"/>
              <a:t> </a:t>
            </a:r>
            <a:r>
              <a:rPr lang="en-US" dirty="0" err="1" smtClean="0"/>
              <a:t>cursului</a:t>
            </a:r>
            <a:r>
              <a:rPr lang="en-US" dirty="0" smtClean="0"/>
              <a:t> </a:t>
            </a:r>
            <a:r>
              <a:rPr lang="en-US" dirty="0" err="1" smtClean="0"/>
              <a:t>respectiv</a:t>
            </a:r>
            <a:r>
              <a:rPr lang="en-US" dirty="0" smtClean="0"/>
              <a:t>. </a:t>
            </a:r>
            <a:r>
              <a:rPr lang="en-US" dirty="0" err="1" smtClean="0"/>
              <a:t>Materialele</a:t>
            </a:r>
            <a:r>
              <a:rPr lang="en-US" dirty="0" smtClean="0"/>
              <a:t>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afișate</a:t>
            </a:r>
            <a:r>
              <a:rPr lang="en-US" dirty="0" smtClean="0"/>
              <a:t> </a:t>
            </a:r>
            <a:r>
              <a:rPr lang="en-US" dirty="0" err="1" smtClean="0"/>
              <a:t>într</a:t>
            </a:r>
            <a:r>
              <a:rPr lang="en-US" dirty="0" smtClean="0"/>
              <a:t>-o </a:t>
            </a:r>
            <a:r>
              <a:rPr lang="en-US" dirty="0" err="1" smtClean="0"/>
              <a:t>listă</a:t>
            </a:r>
            <a:r>
              <a:rPr lang="en-US" dirty="0" smtClean="0"/>
              <a:t> </a:t>
            </a:r>
            <a:r>
              <a:rPr lang="en-US" dirty="0" err="1" smtClean="0"/>
              <a:t>structurată</a:t>
            </a:r>
            <a:r>
              <a:rPr lang="en-US" dirty="0" smtClean="0"/>
              <a:t>, </a:t>
            </a:r>
            <a:r>
              <a:rPr lang="en-US" dirty="0" err="1" smtClean="0"/>
              <a:t>oferind</a:t>
            </a:r>
            <a:r>
              <a:rPr lang="en-US" dirty="0" smtClean="0"/>
              <a:t> </a:t>
            </a:r>
            <a:r>
              <a:rPr lang="en-US" dirty="0" err="1" smtClean="0"/>
              <a:t>opțiuni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descărcare</a:t>
            </a:r>
            <a:r>
              <a:rPr lang="en-US" dirty="0" smtClean="0"/>
              <a:t>, </a:t>
            </a:r>
            <a:r>
              <a:rPr lang="en-US" dirty="0" err="1" smtClean="0"/>
              <a:t>editare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ștergere</a:t>
            </a:r>
            <a:r>
              <a:rPr lang="en-US" dirty="0" smtClean="0"/>
              <a:t>.</a:t>
            </a:r>
            <a:endParaRPr lang="ro-RO" dirty="0" smtClean="0"/>
          </a:p>
          <a:p>
            <a:pPr algn="just">
              <a:buFont typeface="Wingdings" pitchFamily="2" charset="2"/>
              <a:buChar char="v"/>
            </a:pP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adăugarea</a:t>
            </a:r>
            <a:r>
              <a:rPr lang="en-US" dirty="0" smtClean="0"/>
              <a:t> </a:t>
            </a:r>
            <a:r>
              <a:rPr lang="en-US" dirty="0" err="1" smtClean="0"/>
              <a:t>unui</a:t>
            </a:r>
            <a:r>
              <a:rPr lang="en-US" dirty="0" smtClean="0"/>
              <a:t> material </a:t>
            </a:r>
            <a:r>
              <a:rPr lang="en-US" dirty="0" err="1" smtClean="0"/>
              <a:t>nou</a:t>
            </a:r>
            <a:r>
              <a:rPr lang="en-US" dirty="0" smtClean="0"/>
              <a:t>, </a:t>
            </a:r>
            <a:r>
              <a:rPr lang="en-US" dirty="0" err="1" smtClean="0"/>
              <a:t>utilizatorul</a:t>
            </a:r>
            <a:r>
              <a:rPr lang="en-US" dirty="0" smtClean="0"/>
              <a:t> </a:t>
            </a:r>
            <a:r>
              <a:rPr lang="en-US" dirty="0" err="1" smtClean="0"/>
              <a:t>selectează</a:t>
            </a:r>
            <a:r>
              <a:rPr lang="en-US" dirty="0" smtClean="0"/>
              <a:t> un </a:t>
            </a:r>
            <a:r>
              <a:rPr lang="en-US" dirty="0" err="1" smtClean="0"/>
              <a:t>fișier</a:t>
            </a:r>
            <a:r>
              <a:rPr lang="en-US" dirty="0" smtClean="0"/>
              <a:t> (de </a:t>
            </a:r>
            <a:r>
              <a:rPr lang="en-US" dirty="0" err="1" smtClean="0"/>
              <a:t>exemplu</a:t>
            </a:r>
            <a:r>
              <a:rPr lang="en-US" dirty="0" smtClean="0"/>
              <a:t>, un document PDF) </a:t>
            </a:r>
            <a:r>
              <a:rPr lang="en-US" dirty="0" err="1" smtClean="0"/>
              <a:t>și</a:t>
            </a:r>
            <a:r>
              <a:rPr lang="en-US" dirty="0" smtClean="0"/>
              <a:t> </a:t>
            </a:r>
            <a:r>
              <a:rPr lang="en-US" dirty="0" err="1" smtClean="0"/>
              <a:t>completează</a:t>
            </a:r>
            <a:r>
              <a:rPr lang="en-US" dirty="0" smtClean="0"/>
              <a:t> </a:t>
            </a:r>
            <a:r>
              <a:rPr lang="en-US" dirty="0" err="1" smtClean="0"/>
              <a:t>informațiile</a:t>
            </a:r>
            <a:r>
              <a:rPr lang="en-US" dirty="0" smtClean="0"/>
              <a:t> </a:t>
            </a:r>
            <a:r>
              <a:rPr lang="en-US" dirty="0" err="1" smtClean="0"/>
              <a:t>necesare</a:t>
            </a:r>
            <a:r>
              <a:rPr lang="en-US" dirty="0" smtClean="0"/>
              <a:t>. </a:t>
            </a:r>
            <a:r>
              <a:rPr lang="en-US" dirty="0" err="1" smtClean="0"/>
              <a:t>Datele</a:t>
            </a:r>
            <a:r>
              <a:rPr lang="en-US" dirty="0" smtClean="0"/>
              <a:t>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trimise</a:t>
            </a:r>
            <a:r>
              <a:rPr lang="en-US" dirty="0" smtClean="0"/>
              <a:t> </a:t>
            </a:r>
            <a:r>
              <a:rPr lang="en-US" dirty="0" err="1" smtClean="0"/>
              <a:t>către</a:t>
            </a:r>
            <a:r>
              <a:rPr lang="en-US" dirty="0" smtClean="0"/>
              <a:t> backend, </a:t>
            </a:r>
            <a:r>
              <a:rPr lang="en-US" dirty="0" err="1" smtClean="0"/>
              <a:t>iar</a:t>
            </a:r>
            <a:r>
              <a:rPr lang="en-US" dirty="0" smtClean="0"/>
              <a:t> frontend-</a:t>
            </a:r>
            <a:r>
              <a:rPr lang="en-US" dirty="0" err="1" smtClean="0"/>
              <a:t>ul</a:t>
            </a:r>
            <a:r>
              <a:rPr lang="en-US" dirty="0" smtClean="0"/>
              <a:t> </a:t>
            </a:r>
            <a:r>
              <a:rPr lang="en-US" dirty="0" err="1" smtClean="0"/>
              <a:t>oferă</a:t>
            </a:r>
            <a:r>
              <a:rPr lang="en-US" dirty="0" smtClean="0"/>
              <a:t> feedback </a:t>
            </a:r>
            <a:r>
              <a:rPr lang="en-US" dirty="0" err="1" smtClean="0"/>
              <a:t>vizual</a:t>
            </a:r>
            <a:r>
              <a:rPr lang="en-US" dirty="0" smtClean="0"/>
              <a:t> </a:t>
            </a:r>
            <a:r>
              <a:rPr lang="en-US" dirty="0" err="1" smtClean="0"/>
              <a:t>privind</a:t>
            </a:r>
            <a:r>
              <a:rPr lang="en-US" dirty="0" smtClean="0"/>
              <a:t> </a:t>
            </a:r>
            <a:r>
              <a:rPr lang="en-US" dirty="0" err="1" smtClean="0"/>
              <a:t>succesul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eșecul</a:t>
            </a:r>
            <a:r>
              <a:rPr lang="en-US" dirty="0" smtClean="0"/>
              <a:t> </a:t>
            </a:r>
            <a:r>
              <a:rPr lang="en-US" dirty="0" err="1" smtClean="0"/>
              <a:t>operației</a:t>
            </a:r>
            <a:r>
              <a:rPr lang="en-US" dirty="0" smtClean="0"/>
              <a:t>.</a:t>
            </a:r>
            <a:endParaRPr lang="ro-RO" dirty="0" smtClean="0"/>
          </a:p>
          <a:p>
            <a:endParaRPr lang="ro-RO" dirty="0"/>
          </a:p>
        </p:txBody>
      </p: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8229600" cy="125272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React – </a:t>
            </a:r>
            <a:r>
              <a:rPr lang="en-US" b="1" dirty="0" err="1" smtClean="0"/>
              <a:t>prezentare</a:t>
            </a:r>
            <a:r>
              <a:rPr lang="en-US" b="1" dirty="0" smtClean="0"/>
              <a:t> </a:t>
            </a:r>
            <a:r>
              <a:rPr lang="en-US" b="1" dirty="0" err="1" smtClean="0"/>
              <a:t>generală</a:t>
            </a:r>
            <a:r>
              <a:rPr lang="en-US" b="1" dirty="0" smtClean="0"/>
              <a:t> </a:t>
            </a:r>
            <a:r>
              <a:rPr lang="en-US" b="1" dirty="0" err="1" smtClean="0"/>
              <a:t>și</a:t>
            </a:r>
            <a:r>
              <a:rPr lang="en-US" b="1" dirty="0" smtClean="0"/>
              <a:t> </a:t>
            </a:r>
            <a:r>
              <a:rPr lang="en-US" b="1" dirty="0" err="1" smtClean="0"/>
              <a:t>utilizare</a:t>
            </a:r>
            <a:r>
              <a:rPr lang="en-US" b="1" dirty="0" smtClean="0"/>
              <a:t> </a:t>
            </a:r>
            <a:r>
              <a:rPr lang="en-US" b="1" dirty="0" err="1" smtClean="0"/>
              <a:t>în</a:t>
            </a:r>
            <a:r>
              <a:rPr lang="en-US" b="1" dirty="0" smtClean="0"/>
              <a:t> </a:t>
            </a:r>
            <a:r>
              <a:rPr lang="en-US" b="1" dirty="0" err="1" smtClean="0"/>
              <a:t>aplicație</a:t>
            </a:r>
            <a:r>
              <a:rPr lang="ro-RO" dirty="0" smtClean="0"/>
              <a:t/>
            </a:r>
            <a:br>
              <a:rPr lang="ro-RO" dirty="0" smtClean="0"/>
            </a:b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ro-RO" dirty="0"/>
          </a:p>
          <a:p>
            <a:pPr algn="just">
              <a:buFont typeface="Wingdings" pitchFamily="2" charset="2"/>
              <a:buChar char="v"/>
            </a:pPr>
            <a:r>
              <a:rPr lang="en-US" dirty="0" smtClean="0"/>
              <a:t>React </a:t>
            </a:r>
            <a:r>
              <a:rPr lang="en-US" dirty="0" err="1" smtClean="0"/>
              <a:t>este</a:t>
            </a:r>
            <a:r>
              <a:rPr lang="en-US" dirty="0" smtClean="0"/>
              <a:t> o </a:t>
            </a:r>
            <a:r>
              <a:rPr lang="en-US" dirty="0" err="1" smtClean="0"/>
              <a:t>bibliotecă</a:t>
            </a:r>
            <a:r>
              <a:rPr lang="en-US" dirty="0" smtClean="0"/>
              <a:t> JavaScript open-source, </a:t>
            </a:r>
            <a:r>
              <a:rPr lang="en-US" dirty="0" err="1" smtClean="0"/>
              <a:t>dezvoltată</a:t>
            </a:r>
            <a:r>
              <a:rPr lang="en-US" dirty="0" smtClean="0"/>
              <a:t> de </a:t>
            </a:r>
            <a:r>
              <a:rPr lang="en-US" dirty="0" err="1" smtClean="0"/>
              <a:t>Facebook</a:t>
            </a:r>
            <a:r>
              <a:rPr lang="en-US" dirty="0" smtClean="0"/>
              <a:t>, </a:t>
            </a:r>
            <a:r>
              <a:rPr lang="en-US" dirty="0" err="1" smtClean="0"/>
              <a:t>utilizată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construirea</a:t>
            </a:r>
            <a:r>
              <a:rPr lang="en-US" dirty="0" smtClean="0"/>
              <a:t> </a:t>
            </a:r>
            <a:r>
              <a:rPr lang="en-US" dirty="0" err="1" smtClean="0"/>
              <a:t>interfețelor</a:t>
            </a:r>
            <a:r>
              <a:rPr lang="en-US" dirty="0" smtClean="0"/>
              <a:t> </a:t>
            </a:r>
            <a:r>
              <a:rPr lang="en-US" dirty="0" err="1" smtClean="0"/>
              <a:t>utilizator</a:t>
            </a:r>
            <a:r>
              <a:rPr lang="en-US" dirty="0" smtClean="0"/>
              <a:t> </a:t>
            </a:r>
            <a:r>
              <a:rPr lang="en-US" dirty="0" err="1" smtClean="0"/>
              <a:t>moderne</a:t>
            </a:r>
            <a:r>
              <a:rPr lang="en-US" dirty="0" smtClean="0"/>
              <a:t>. </a:t>
            </a: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 err="1" smtClean="0"/>
              <a:t>cadrul</a:t>
            </a:r>
            <a:r>
              <a:rPr lang="en-US" dirty="0" smtClean="0"/>
              <a:t> </a:t>
            </a:r>
            <a:r>
              <a:rPr lang="en-US" dirty="0" err="1" smtClean="0"/>
              <a:t>aplicației</a:t>
            </a:r>
            <a:r>
              <a:rPr lang="en-US" dirty="0" smtClean="0"/>
              <a:t> </a:t>
            </a:r>
            <a:r>
              <a:rPr lang="en-US" dirty="0" err="1" smtClean="0"/>
              <a:t>dezvoltate</a:t>
            </a:r>
            <a:r>
              <a:rPr lang="en-US" dirty="0" smtClean="0"/>
              <a:t>, React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utilizat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implementarea</a:t>
            </a:r>
            <a:r>
              <a:rPr lang="en-US" dirty="0" smtClean="0"/>
              <a:t> </a:t>
            </a:r>
            <a:r>
              <a:rPr lang="en-US" dirty="0" err="1" smtClean="0"/>
              <a:t>tuturor</a:t>
            </a:r>
            <a:r>
              <a:rPr lang="en-US" dirty="0" smtClean="0"/>
              <a:t> </a:t>
            </a:r>
            <a:r>
              <a:rPr lang="en-US" dirty="0" err="1" smtClean="0"/>
              <a:t>fluxurilor</a:t>
            </a:r>
            <a:r>
              <a:rPr lang="en-US" dirty="0" smtClean="0"/>
              <a:t> de </a:t>
            </a:r>
            <a:r>
              <a:rPr lang="en-US" dirty="0" err="1" smtClean="0"/>
              <a:t>interacțiune</a:t>
            </a:r>
            <a:r>
              <a:rPr lang="en-US" dirty="0" smtClean="0"/>
              <a:t> cu </a:t>
            </a:r>
            <a:r>
              <a:rPr lang="en-US" dirty="0" err="1" smtClean="0"/>
              <a:t>utilizatorul</a:t>
            </a:r>
            <a:r>
              <a:rPr lang="en-US" dirty="0" smtClean="0"/>
              <a:t>. </a:t>
            </a:r>
            <a:r>
              <a:rPr lang="en-US" dirty="0" err="1" smtClean="0"/>
              <a:t>Alegerea</a:t>
            </a:r>
            <a:r>
              <a:rPr lang="en-US" dirty="0" smtClean="0"/>
              <a:t> React </a:t>
            </a:r>
            <a:r>
              <a:rPr lang="en-US" dirty="0" err="1" smtClean="0"/>
              <a:t>permite</a:t>
            </a:r>
            <a:r>
              <a:rPr lang="en-US" dirty="0" smtClean="0"/>
              <a:t> </a:t>
            </a:r>
            <a:r>
              <a:rPr lang="en-US" dirty="0" err="1" smtClean="0"/>
              <a:t>dezvoltarea</a:t>
            </a:r>
            <a:r>
              <a:rPr lang="en-US" dirty="0" smtClean="0"/>
              <a:t> </a:t>
            </a:r>
            <a:r>
              <a:rPr lang="en-US" dirty="0" err="1" smtClean="0"/>
              <a:t>unei</a:t>
            </a:r>
            <a:r>
              <a:rPr lang="en-US" dirty="0" smtClean="0"/>
              <a:t> </a:t>
            </a:r>
            <a:r>
              <a:rPr lang="en-US" dirty="0" err="1" smtClean="0"/>
              <a:t>aplicații</a:t>
            </a:r>
            <a:r>
              <a:rPr lang="en-US" dirty="0" smtClean="0"/>
              <a:t> </a:t>
            </a:r>
            <a:r>
              <a:rPr lang="en-US" dirty="0" err="1" smtClean="0"/>
              <a:t>moderne</a:t>
            </a:r>
            <a:r>
              <a:rPr lang="en-US" dirty="0" smtClean="0"/>
              <a:t>, cu o </a:t>
            </a:r>
            <a:r>
              <a:rPr lang="en-US" dirty="0" err="1" smtClean="0"/>
              <a:t>experiență</a:t>
            </a:r>
            <a:r>
              <a:rPr lang="en-US" dirty="0" smtClean="0"/>
              <a:t> de </a:t>
            </a:r>
            <a:r>
              <a:rPr lang="en-US" dirty="0" err="1" smtClean="0"/>
              <a:t>utilizare</a:t>
            </a:r>
            <a:r>
              <a:rPr lang="en-US" dirty="0" smtClean="0"/>
              <a:t> </a:t>
            </a:r>
            <a:r>
              <a:rPr lang="en-US" dirty="0" err="1" smtClean="0"/>
              <a:t>fluidă</a:t>
            </a:r>
            <a:r>
              <a:rPr lang="en-US" dirty="0" smtClean="0"/>
              <a:t> </a:t>
            </a:r>
            <a:r>
              <a:rPr lang="en-US" dirty="0" err="1" smtClean="0"/>
              <a:t>și</a:t>
            </a:r>
            <a:r>
              <a:rPr lang="en-US" dirty="0" smtClean="0"/>
              <a:t> cu </a:t>
            </a:r>
            <a:r>
              <a:rPr lang="en-US" dirty="0" err="1" smtClean="0"/>
              <a:t>posibilitatea</a:t>
            </a:r>
            <a:r>
              <a:rPr lang="en-US" dirty="0" smtClean="0"/>
              <a:t> </a:t>
            </a:r>
            <a:r>
              <a:rPr lang="en-US" dirty="0" err="1" smtClean="0"/>
              <a:t>extinderii</a:t>
            </a:r>
            <a:r>
              <a:rPr lang="en-US" dirty="0" smtClean="0"/>
              <a:t> </a:t>
            </a:r>
            <a:r>
              <a:rPr lang="en-US" dirty="0" err="1" smtClean="0"/>
              <a:t>ulterioare</a:t>
            </a:r>
            <a:r>
              <a:rPr lang="en-US" dirty="0" smtClean="0"/>
              <a:t> a </a:t>
            </a:r>
            <a:r>
              <a:rPr lang="en-US" dirty="0" err="1" smtClean="0"/>
              <a:t>funcționalităților</a:t>
            </a:r>
            <a:r>
              <a:rPr lang="en-US" dirty="0" smtClean="0"/>
              <a:t>.</a:t>
            </a:r>
            <a:endParaRPr lang="ro-RO" dirty="0" smtClean="0"/>
          </a:p>
          <a:p>
            <a:pPr algn="just">
              <a:buFont typeface="Wingdings" pitchFamily="2" charset="2"/>
              <a:buChar char="v"/>
            </a:pPr>
            <a:r>
              <a:rPr lang="en-US" dirty="0" smtClean="0"/>
              <a:t>React se </a:t>
            </a:r>
            <a:r>
              <a:rPr lang="en-US" dirty="0" err="1" smtClean="0"/>
              <a:t>bazează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multe</a:t>
            </a:r>
            <a:r>
              <a:rPr lang="en-US" dirty="0" smtClean="0"/>
              <a:t> </a:t>
            </a:r>
            <a:r>
              <a:rPr lang="en-US" dirty="0" err="1" smtClean="0"/>
              <a:t>principii</a:t>
            </a:r>
            <a:r>
              <a:rPr lang="en-US" dirty="0" smtClean="0"/>
              <a:t> </a:t>
            </a:r>
            <a:r>
              <a:rPr lang="en-US" dirty="0" err="1" smtClean="0"/>
              <a:t>esențiale</a:t>
            </a:r>
            <a:r>
              <a:rPr lang="en-US" dirty="0" smtClean="0"/>
              <a:t>:</a:t>
            </a:r>
            <a:endParaRPr lang="ro-RO" dirty="0" smtClean="0"/>
          </a:p>
          <a:p>
            <a:pPr lvl="1" algn="just">
              <a:buFont typeface="Wingdings" pitchFamily="2" charset="2"/>
              <a:buChar char="v"/>
            </a:pPr>
            <a:r>
              <a:rPr lang="en-US" dirty="0" err="1" smtClean="0"/>
              <a:t>componentizarea</a:t>
            </a:r>
            <a:r>
              <a:rPr lang="en-US" dirty="0" smtClean="0"/>
              <a:t> </a:t>
            </a:r>
            <a:r>
              <a:rPr lang="en-US" dirty="0" err="1" smtClean="0"/>
              <a:t>interfeței</a:t>
            </a:r>
            <a:r>
              <a:rPr lang="en-US" dirty="0" smtClean="0"/>
              <a:t>;</a:t>
            </a:r>
            <a:endParaRPr lang="ro-RO" dirty="0" smtClean="0"/>
          </a:p>
          <a:p>
            <a:pPr lvl="1" algn="just">
              <a:buFont typeface="Wingdings" pitchFamily="2" charset="2"/>
              <a:buChar char="v"/>
            </a:pPr>
            <a:r>
              <a:rPr lang="en-US" dirty="0" err="1" smtClean="0"/>
              <a:t>utilizarea</a:t>
            </a:r>
            <a:r>
              <a:rPr lang="en-US" dirty="0" smtClean="0"/>
              <a:t> </a:t>
            </a:r>
            <a:r>
              <a:rPr lang="en-US" dirty="0" err="1" smtClean="0"/>
              <a:t>unui</a:t>
            </a:r>
            <a:r>
              <a:rPr lang="en-US" dirty="0" smtClean="0"/>
              <a:t> Virtual DOM;</a:t>
            </a:r>
            <a:endParaRPr lang="ro-RO" dirty="0" smtClean="0"/>
          </a:p>
          <a:p>
            <a:pPr lvl="1" algn="just">
              <a:buFont typeface="Wingdings" pitchFamily="2" charset="2"/>
              <a:buChar char="v"/>
            </a:pPr>
            <a:r>
              <a:rPr lang="en-US" dirty="0" err="1" smtClean="0"/>
              <a:t>gestionarea</a:t>
            </a:r>
            <a:r>
              <a:rPr lang="en-US" dirty="0" smtClean="0"/>
              <a:t> </a:t>
            </a:r>
            <a:r>
              <a:rPr lang="en-US" dirty="0" err="1" smtClean="0"/>
              <a:t>stării</a:t>
            </a:r>
            <a:r>
              <a:rPr lang="en-US" dirty="0" smtClean="0"/>
              <a:t> </a:t>
            </a:r>
            <a:r>
              <a:rPr lang="en-US" dirty="0" err="1" smtClean="0"/>
              <a:t>aplicației</a:t>
            </a:r>
            <a:r>
              <a:rPr lang="en-US" dirty="0" smtClean="0"/>
              <a:t>;</a:t>
            </a:r>
            <a:endParaRPr lang="ro-RO" dirty="0" smtClean="0"/>
          </a:p>
          <a:p>
            <a:pPr lvl="1" algn="just">
              <a:buFont typeface="Wingdings" pitchFamily="2" charset="2"/>
              <a:buChar char="v"/>
            </a:pPr>
            <a:r>
              <a:rPr lang="en-US" dirty="0" err="1" smtClean="0"/>
              <a:t>randarea</a:t>
            </a:r>
            <a:r>
              <a:rPr lang="en-US" dirty="0" smtClean="0"/>
              <a:t> </a:t>
            </a:r>
            <a:r>
              <a:rPr lang="en-US" dirty="0" err="1" smtClean="0"/>
              <a:t>declarativă</a:t>
            </a:r>
            <a:r>
              <a:rPr lang="en-US" dirty="0" smtClean="0"/>
              <a:t>.</a:t>
            </a:r>
          </a:p>
          <a:p>
            <a:pPr algn="just">
              <a:buFont typeface="Wingdings" pitchFamily="2" charset="2"/>
              <a:buChar char="v"/>
            </a:pP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 err="1" smtClean="0"/>
              <a:t>cadrul</a:t>
            </a:r>
            <a:r>
              <a:rPr lang="en-US" dirty="0" smtClean="0"/>
              <a:t> </a:t>
            </a:r>
            <a:r>
              <a:rPr lang="en-US" dirty="0" err="1" smtClean="0"/>
              <a:t>aplicației</a:t>
            </a:r>
            <a:r>
              <a:rPr lang="en-US" dirty="0" smtClean="0"/>
              <a:t>, </a:t>
            </a:r>
            <a:r>
              <a:rPr lang="en-US" dirty="0" err="1" smtClean="0"/>
              <a:t>starea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utilizată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:</a:t>
            </a:r>
            <a:endParaRPr lang="ro-RO" dirty="0" smtClean="0"/>
          </a:p>
          <a:p>
            <a:pPr lvl="1" algn="just">
              <a:buFont typeface="Wingdings" pitchFamily="2" charset="2"/>
              <a:buChar char="v"/>
            </a:pPr>
            <a:r>
              <a:rPr lang="en-US" dirty="0" err="1" smtClean="0"/>
              <a:t>lista</a:t>
            </a:r>
            <a:r>
              <a:rPr lang="en-US" dirty="0" smtClean="0"/>
              <a:t> de </a:t>
            </a:r>
            <a:r>
              <a:rPr lang="en-US" dirty="0" err="1" smtClean="0"/>
              <a:t>cursuri</a:t>
            </a:r>
            <a:r>
              <a:rPr lang="en-US" dirty="0" smtClean="0"/>
              <a:t>;</a:t>
            </a:r>
            <a:endParaRPr lang="ro-RO" dirty="0" smtClean="0"/>
          </a:p>
          <a:p>
            <a:pPr lvl="1" algn="just">
              <a:buFont typeface="Wingdings" pitchFamily="2" charset="2"/>
              <a:buChar char="v"/>
            </a:pPr>
            <a:r>
              <a:rPr lang="en-US" dirty="0" err="1" smtClean="0"/>
              <a:t>lista</a:t>
            </a:r>
            <a:r>
              <a:rPr lang="en-US" dirty="0" smtClean="0"/>
              <a:t> de </a:t>
            </a:r>
            <a:r>
              <a:rPr lang="en-US" dirty="0" err="1" smtClean="0"/>
              <a:t>materiale</a:t>
            </a:r>
            <a:r>
              <a:rPr lang="en-US" dirty="0" smtClean="0"/>
              <a:t>;</a:t>
            </a:r>
            <a:endParaRPr lang="ro-RO" dirty="0" smtClean="0"/>
          </a:p>
          <a:p>
            <a:pPr lvl="1" algn="just">
              <a:buFont typeface="Wingdings" pitchFamily="2" charset="2"/>
              <a:buChar char="v"/>
            </a:pPr>
            <a:r>
              <a:rPr lang="en-US" dirty="0" err="1" smtClean="0"/>
              <a:t>datele</a:t>
            </a:r>
            <a:r>
              <a:rPr lang="en-US" dirty="0" smtClean="0"/>
              <a:t> </a:t>
            </a:r>
            <a:r>
              <a:rPr lang="en-US" dirty="0" err="1" smtClean="0"/>
              <a:t>introduse</a:t>
            </a:r>
            <a:r>
              <a:rPr lang="en-US" dirty="0" smtClean="0"/>
              <a:t> </a:t>
            </a: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 err="1" smtClean="0"/>
              <a:t>formulare</a:t>
            </a:r>
            <a:r>
              <a:rPr lang="en-US" dirty="0" smtClean="0"/>
              <a:t>;</a:t>
            </a:r>
            <a:endParaRPr lang="ro-RO" dirty="0" smtClean="0"/>
          </a:p>
          <a:p>
            <a:pPr lvl="1" algn="just">
              <a:buFont typeface="Wingdings" pitchFamily="2" charset="2"/>
              <a:buChar char="v"/>
            </a:pPr>
            <a:r>
              <a:rPr lang="en-US" dirty="0" err="1" smtClean="0"/>
              <a:t>starea</a:t>
            </a:r>
            <a:r>
              <a:rPr lang="en-US" dirty="0" smtClean="0"/>
              <a:t> de </a:t>
            </a:r>
            <a:r>
              <a:rPr lang="en-US" dirty="0" err="1" smtClean="0"/>
              <a:t>încărcare</a:t>
            </a:r>
            <a:r>
              <a:rPr lang="en-US" dirty="0" smtClean="0"/>
              <a:t> </a:t>
            </a:r>
            <a:r>
              <a:rPr lang="en-US" dirty="0" err="1" smtClean="0"/>
              <a:t>și</a:t>
            </a:r>
            <a:r>
              <a:rPr lang="en-US" dirty="0" smtClean="0"/>
              <a:t> </a:t>
            </a:r>
            <a:r>
              <a:rPr lang="en-US" dirty="0" err="1" smtClean="0"/>
              <a:t>mesajele</a:t>
            </a:r>
            <a:r>
              <a:rPr lang="en-US" dirty="0" smtClean="0"/>
              <a:t> de </a:t>
            </a:r>
            <a:r>
              <a:rPr lang="en-US" dirty="0" err="1" smtClean="0"/>
              <a:t>eroare</a:t>
            </a:r>
            <a:r>
              <a:rPr lang="en-US" dirty="0" smtClean="0"/>
              <a:t>.</a:t>
            </a:r>
            <a:endParaRPr lang="ro-RO" dirty="0" smtClean="0"/>
          </a:p>
          <a:p>
            <a:pPr algn="just">
              <a:buFont typeface="Wingdings" pitchFamily="2" charset="2"/>
              <a:buChar char="v"/>
            </a:pPr>
            <a:endParaRPr lang="ro-RO" dirty="0" smtClean="0"/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err="1" smtClean="0"/>
              <a:t>Concluzie</a:t>
            </a:r>
            <a:r>
              <a:rPr lang="ro-RO" b="1" dirty="0" smtClean="0"/>
              <a:t> </a:t>
            </a:r>
            <a:r>
              <a:rPr lang="ro-RO" dirty="0" smtClean="0"/>
              <a:t/>
            </a:r>
            <a:br>
              <a:rPr lang="ro-RO" dirty="0" smtClean="0"/>
            </a:b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/>
            <a:r>
              <a:rPr lang="vi-VN" sz="4500" dirty="0" smtClean="0">
                <a:latin typeface="Corbel" pitchFamily="34" charset="0"/>
              </a:rPr>
              <a:t>Sistemul informatic analizat are ca scop principal digitalizarea și eficientizarea proceselor educaționale din cadrul unei instituții de învățământ, prin centralizarea gestionării cursurilor și a materialelor didactice. Arhitectura de tip client–server, bazată pe servicii REST, permite o separare clară a responsabilităților între backend, frontend și baza de date, contribuind la obținerea unui sistem stabil, scalabil și ușor de întreținut</a:t>
            </a:r>
            <a:r>
              <a:rPr lang="vi-VN" sz="4500" dirty="0" smtClean="0">
                <a:latin typeface="Corbel" pitchFamily="34" charset="0"/>
              </a:rPr>
              <a:t>.</a:t>
            </a:r>
            <a:endParaRPr lang="ro-RO" sz="4500" dirty="0" smtClean="0">
              <a:latin typeface="Corbel" pitchFamily="34" charset="0"/>
            </a:endParaRPr>
          </a:p>
          <a:p>
            <a:pPr algn="just"/>
            <a:r>
              <a:rPr lang="vi-VN" sz="4500" dirty="0" smtClean="0">
                <a:latin typeface="Corbel" pitchFamily="34" charset="0"/>
              </a:rPr>
              <a:t>În ansamblu, soluția propusă reprezintă o bază solidă pentru dezvoltarea unui sistem informatic educațional modern, care poate fi extins ulterior cu funcționalități suplimentare precum autentificare avansată, evaluări online sau rapoarte statistice. </a:t>
            </a:r>
            <a:endParaRPr lang="ro-RO" sz="4500" dirty="0" smtClean="0">
              <a:latin typeface="Corbel" pitchFamily="34" charset="0"/>
            </a:endParaRPr>
          </a:p>
          <a:p>
            <a:pPr algn="just"/>
            <a:endParaRPr lang="vi-VN" sz="4500" dirty="0" smtClean="0"/>
          </a:p>
        </p:txBody>
      </p:sp>
    </p:spTree>
  </p:cSld>
  <p:clrMapOvr>
    <a:masterClrMapping/>
  </p:clrMapOvr>
  <p:transition>
    <p:wipe dir="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165</TotalTime>
  <Words>1002</Words>
  <Application>Microsoft Office PowerPoint</Application>
  <PresentationFormat>On-screen Show (4:3)</PresentationFormat>
  <Paragraphs>64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Module</vt:lpstr>
      <vt:lpstr>Analiza sistemului informatic al unui liceu</vt:lpstr>
      <vt:lpstr>  Scopul, obiectivele proiectului și descrierea beneficiarului </vt:lpstr>
      <vt:lpstr>Componentele software ale sistemului</vt:lpstr>
      <vt:lpstr>Slide 4</vt:lpstr>
      <vt:lpstr>Backend – servicii REST dezvoltate cu Spring Boot </vt:lpstr>
      <vt:lpstr>Baza de date – MongoDB </vt:lpstr>
      <vt:lpstr>Frontend – Tehnologii și limbaje utilizate  </vt:lpstr>
      <vt:lpstr>Fluxul de gestionare a cursurilor </vt:lpstr>
      <vt:lpstr>Fluxul de gestionare a materialelor </vt:lpstr>
      <vt:lpstr>React – prezentare generală și utilizare în aplicație </vt:lpstr>
      <vt:lpstr>Concluzie 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 unui sistem informatic al unui liceu</dc:title>
  <dc:creator>Arina-Andreea Coman</dc:creator>
  <cp:lastModifiedBy>arina.coman@outlook.com</cp:lastModifiedBy>
  <cp:revision>25</cp:revision>
  <dcterms:created xsi:type="dcterms:W3CDTF">2006-08-16T00:00:00Z</dcterms:created>
  <dcterms:modified xsi:type="dcterms:W3CDTF">2026-01-15T20:17:31Z</dcterms:modified>
</cp:coreProperties>
</file>