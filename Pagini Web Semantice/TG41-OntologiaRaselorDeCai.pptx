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</p:sldIdLst>
  <p:sldSz cx="9144000" cy="6858000" type="screen4x3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unghi drept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u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o-RO" smtClean="0"/>
              <a:t>Clic pentru editare stil titlu</a:t>
            </a:r>
            <a:endParaRPr kumimoji="0" lang="en-US"/>
          </a:p>
        </p:txBody>
      </p:sp>
      <p:sp>
        <p:nvSpPr>
          <p:cNvPr id="17" name="Subtitlu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o-RO" smtClean="0"/>
              <a:t>Clic pentru a edita stilul de subtitlu</a:t>
            </a:r>
            <a:endParaRPr kumimoji="0" lang="en-US"/>
          </a:p>
        </p:txBody>
      </p:sp>
      <p:grpSp>
        <p:nvGrpSpPr>
          <p:cNvPr id="2" name="Grupare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ă liberă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ormă liberă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ormă liberă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drept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Substituent dată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CE5CAE3-E66C-483F-9A91-133D66834A8A}" type="datetimeFigureOut">
              <a:rPr lang="ro-RO" smtClean="0"/>
              <a:t>21.06.2025</a:t>
            </a:fld>
            <a:endParaRPr lang="ro-RO"/>
          </a:p>
        </p:txBody>
      </p:sp>
      <p:sp>
        <p:nvSpPr>
          <p:cNvPr id="19" name="Substituent subsol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o-RO"/>
          </a:p>
        </p:txBody>
      </p:sp>
      <p:sp>
        <p:nvSpPr>
          <p:cNvPr id="27" name="Substituent număr diapozitiv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D8D6F0-A759-4B40-A209-1431F2B80A59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o-RO" smtClean="0"/>
              <a:t>Clic pentru editare stiluri text Coordonator</a:t>
            </a:r>
          </a:p>
          <a:p>
            <a:pPr lvl="1" eaLnBrk="1" latinLnBrk="0" hangingPunct="1"/>
            <a:r>
              <a:rPr lang="ro-RO" smtClean="0"/>
              <a:t>Al doilea nivel</a:t>
            </a:r>
          </a:p>
          <a:p>
            <a:pPr lvl="2" eaLnBrk="1" latinLnBrk="0" hangingPunct="1"/>
            <a:r>
              <a:rPr lang="ro-RO" smtClean="0"/>
              <a:t>Al treilea nivel</a:t>
            </a:r>
          </a:p>
          <a:p>
            <a:pPr lvl="3" eaLnBrk="1" latinLnBrk="0" hangingPunct="1"/>
            <a:r>
              <a:rPr lang="ro-RO" smtClean="0"/>
              <a:t>Al patrulea nivel</a:t>
            </a:r>
          </a:p>
          <a:p>
            <a:pPr lvl="4" eaLnBrk="1" latinLnBrk="0" hangingPunct="1"/>
            <a:r>
              <a:rPr lang="ro-RO" smtClean="0"/>
              <a:t>Al cincilea nivel</a:t>
            </a:r>
            <a:endParaRPr kumimoji="0"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E5CAE3-E66C-483F-9A91-133D66834A8A}" type="datetimeFigureOut">
              <a:rPr lang="ro-RO" smtClean="0"/>
              <a:t>21.06.2025</a:t>
            </a:fld>
            <a:endParaRPr lang="ro-RO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o-RO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D8D6F0-A759-4B40-A209-1431F2B80A59}" type="slidenum">
              <a:rPr lang="ro-RO" smtClean="0"/>
              <a:t>‹#›</a:t>
            </a:fld>
            <a:endParaRPr lang="ro-RO"/>
          </a:p>
        </p:txBody>
      </p:sp>
      <p:sp>
        <p:nvSpPr>
          <p:cNvPr id="7" name="Titlu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o-RO" smtClean="0"/>
              <a:t>Clic pentru editare stil titlu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o-RO" smtClean="0"/>
              <a:t>Clic pentru editare stil titlu</a:t>
            </a:r>
            <a:endParaRPr kumimoji="0"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o-RO" smtClean="0"/>
              <a:t>Clic pentru editare stiluri text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E5CAE3-E66C-483F-9A91-133D66834A8A}" type="datetimeFigureOut">
              <a:rPr lang="ro-RO" smtClean="0"/>
              <a:t>21.06.2025</a:t>
            </a:fld>
            <a:endParaRPr lang="ro-RO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o-RO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D8D6F0-A759-4B40-A209-1431F2B80A59}" type="slidenum">
              <a:rPr lang="ro-RO" smtClean="0"/>
              <a:t>‹#›</a:t>
            </a:fld>
            <a:endParaRPr lang="ro-RO"/>
          </a:p>
        </p:txBody>
      </p:sp>
      <p:sp>
        <p:nvSpPr>
          <p:cNvPr id="7" name="În zigzag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În zigzag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o-RO" smtClean="0"/>
              <a:t>Clic pentru editare stiluri text Coordonator</a:t>
            </a:r>
          </a:p>
          <a:p>
            <a:pPr lvl="1" eaLnBrk="1" latinLnBrk="0" hangingPunct="1"/>
            <a:r>
              <a:rPr lang="ro-RO" smtClean="0"/>
              <a:t>Al doilea nivel</a:t>
            </a:r>
          </a:p>
          <a:p>
            <a:pPr lvl="2" eaLnBrk="1" latinLnBrk="0" hangingPunct="1"/>
            <a:r>
              <a:rPr lang="ro-RO" smtClean="0"/>
              <a:t>Al treilea nivel</a:t>
            </a:r>
          </a:p>
          <a:p>
            <a:pPr lvl="3" eaLnBrk="1" latinLnBrk="0" hangingPunct="1"/>
            <a:r>
              <a:rPr lang="ro-RO" smtClean="0"/>
              <a:t>Al patrulea nivel</a:t>
            </a:r>
          </a:p>
          <a:p>
            <a:pPr lvl="4" eaLnBrk="1" latinLnBrk="0" hangingPunct="1"/>
            <a:r>
              <a:rPr lang="ro-RO" smtClean="0"/>
              <a:t>Al cincilea nivel</a:t>
            </a:r>
            <a:endParaRPr kumimoji="0"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o-RO" smtClean="0"/>
              <a:t>Clic pentru editare stiluri text Coordonator</a:t>
            </a:r>
          </a:p>
          <a:p>
            <a:pPr lvl="1" eaLnBrk="1" latinLnBrk="0" hangingPunct="1"/>
            <a:r>
              <a:rPr lang="ro-RO" smtClean="0"/>
              <a:t>Al doilea nivel</a:t>
            </a:r>
          </a:p>
          <a:p>
            <a:pPr lvl="2" eaLnBrk="1" latinLnBrk="0" hangingPunct="1"/>
            <a:r>
              <a:rPr lang="ro-RO" smtClean="0"/>
              <a:t>Al treilea nivel</a:t>
            </a:r>
          </a:p>
          <a:p>
            <a:pPr lvl="3" eaLnBrk="1" latinLnBrk="0" hangingPunct="1"/>
            <a:r>
              <a:rPr lang="ro-RO" smtClean="0"/>
              <a:t>Al patrulea nivel</a:t>
            </a:r>
          </a:p>
          <a:p>
            <a:pPr lvl="4" eaLnBrk="1" latinLnBrk="0" hangingPunct="1"/>
            <a:r>
              <a:rPr lang="ro-RO" smtClean="0"/>
              <a:t>Al cincilea nivel</a:t>
            </a:r>
            <a:endParaRPr kumimoji="0" lang="en-US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E5CAE3-E66C-483F-9A91-133D66834A8A}" type="datetimeFigureOut">
              <a:rPr lang="ro-RO" smtClean="0"/>
              <a:t>21.06.2025</a:t>
            </a:fld>
            <a:endParaRPr lang="ro-RO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D8D6F0-A759-4B40-A209-1431F2B80A59}" type="slidenum">
              <a:rPr lang="ro-RO" smtClean="0"/>
              <a:t>‹#›</a:t>
            </a:fld>
            <a:endParaRPr lang="ro-RO"/>
          </a:p>
        </p:txBody>
      </p:sp>
      <p:sp>
        <p:nvSpPr>
          <p:cNvPr id="8" name="Titlu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o-RO" smtClean="0"/>
              <a:t>Clic pentru editare stil titlu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ți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o-RO" smtClean="0"/>
              <a:t>Clic pentru editare stil titlu</a:t>
            </a:r>
            <a:endParaRPr kumimoji="0"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o-RO" smtClean="0"/>
              <a:t>Clic pentru editare stiluri text Coordonator</a:t>
            </a:r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o-RO" smtClean="0"/>
              <a:t>Clic pentru editare stiluri text Coordonator</a:t>
            </a:r>
          </a:p>
        </p:txBody>
      </p:sp>
      <p:sp>
        <p:nvSpPr>
          <p:cNvPr id="5" name="Substituent conținut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o-RO" smtClean="0"/>
              <a:t>Clic pentru editare stiluri text Coordonator</a:t>
            </a:r>
          </a:p>
          <a:p>
            <a:pPr lvl="1" eaLnBrk="1" latinLnBrk="0" hangingPunct="1"/>
            <a:r>
              <a:rPr lang="ro-RO" smtClean="0"/>
              <a:t>Al doilea nivel</a:t>
            </a:r>
          </a:p>
          <a:p>
            <a:pPr lvl="2" eaLnBrk="1" latinLnBrk="0" hangingPunct="1"/>
            <a:r>
              <a:rPr lang="ro-RO" smtClean="0"/>
              <a:t>Al treilea nivel</a:t>
            </a:r>
          </a:p>
          <a:p>
            <a:pPr lvl="3" eaLnBrk="1" latinLnBrk="0" hangingPunct="1"/>
            <a:r>
              <a:rPr lang="ro-RO" smtClean="0"/>
              <a:t>Al patrulea nivel</a:t>
            </a:r>
          </a:p>
          <a:p>
            <a:pPr lvl="4" eaLnBrk="1" latinLnBrk="0" hangingPunct="1"/>
            <a:r>
              <a:rPr lang="ro-RO" smtClean="0"/>
              <a:t>Al cincilea nivel</a:t>
            </a:r>
            <a:endParaRPr kumimoji="0" lang="en-US"/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o-RO" smtClean="0"/>
              <a:t>Clic pentru editare stiluri text Coordonator</a:t>
            </a:r>
          </a:p>
          <a:p>
            <a:pPr lvl="1" eaLnBrk="1" latinLnBrk="0" hangingPunct="1"/>
            <a:r>
              <a:rPr lang="ro-RO" smtClean="0"/>
              <a:t>Al doilea nivel</a:t>
            </a:r>
          </a:p>
          <a:p>
            <a:pPr lvl="2" eaLnBrk="1" latinLnBrk="0" hangingPunct="1"/>
            <a:r>
              <a:rPr lang="ro-RO" smtClean="0"/>
              <a:t>Al treilea nivel</a:t>
            </a:r>
          </a:p>
          <a:p>
            <a:pPr lvl="3" eaLnBrk="1" latinLnBrk="0" hangingPunct="1"/>
            <a:r>
              <a:rPr lang="ro-RO" smtClean="0"/>
              <a:t>Al patrulea nivel</a:t>
            </a:r>
          </a:p>
          <a:p>
            <a:pPr lvl="4" eaLnBrk="1" latinLnBrk="0" hangingPunct="1"/>
            <a:r>
              <a:rPr lang="ro-RO" smtClean="0"/>
              <a:t>Al cincilea nivel</a:t>
            </a:r>
            <a:endParaRPr kumimoji="0" lang="en-US"/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E5CAE3-E66C-483F-9A91-133D66834A8A}" type="datetimeFigureOut">
              <a:rPr lang="ro-RO" smtClean="0"/>
              <a:t>21.06.2025</a:t>
            </a:fld>
            <a:endParaRPr lang="ro-RO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o-RO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D8D6F0-A759-4B40-A209-1431F2B80A59}" type="slidenum">
              <a:rPr lang="ro-RO" smtClean="0"/>
              <a:t>‹#›</a:t>
            </a:fld>
            <a:endParaRPr lang="ro-R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E5CAE3-E66C-483F-9A91-133D66834A8A}" type="datetimeFigureOut">
              <a:rPr lang="ro-RO" smtClean="0"/>
              <a:t>21.06.2025</a:t>
            </a:fld>
            <a:endParaRPr lang="ro-RO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o-RO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D8D6F0-A759-4B40-A209-1431F2B80A59}" type="slidenum">
              <a:rPr lang="ro-RO" smtClean="0"/>
              <a:t>‹#›</a:t>
            </a:fld>
            <a:endParaRPr lang="ro-RO"/>
          </a:p>
        </p:txBody>
      </p:sp>
      <p:sp>
        <p:nvSpPr>
          <p:cNvPr id="6" name="Titlu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o-RO" smtClean="0"/>
              <a:t>Clic pentru editare stil titlu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E5CAE3-E66C-483F-9A91-133D66834A8A}" type="datetimeFigureOut">
              <a:rPr lang="ro-RO" smtClean="0"/>
              <a:t>21.06.2025</a:t>
            </a:fld>
            <a:endParaRPr lang="ro-RO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D8D6F0-A759-4B40-A209-1431F2B80A59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ținut cu legend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o-RO" smtClean="0"/>
              <a:t>Clic pentru editare stil titlu</a:t>
            </a:r>
            <a:endParaRPr kumimoji="0"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o-RO" smtClean="0"/>
              <a:t>Clic pentru editare stiluri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o-RO" smtClean="0"/>
              <a:t>Clic pentru editare stiluri text Coordonator</a:t>
            </a:r>
          </a:p>
          <a:p>
            <a:pPr lvl="1" eaLnBrk="1" latinLnBrk="0" hangingPunct="1"/>
            <a:r>
              <a:rPr lang="ro-RO" smtClean="0"/>
              <a:t>Al doilea nivel</a:t>
            </a:r>
          </a:p>
          <a:p>
            <a:pPr lvl="2" eaLnBrk="1" latinLnBrk="0" hangingPunct="1"/>
            <a:r>
              <a:rPr lang="ro-RO" smtClean="0"/>
              <a:t>Al treilea nivel</a:t>
            </a:r>
          </a:p>
          <a:p>
            <a:pPr lvl="3" eaLnBrk="1" latinLnBrk="0" hangingPunct="1"/>
            <a:r>
              <a:rPr lang="ro-RO" smtClean="0"/>
              <a:t>Al patrulea nivel</a:t>
            </a:r>
          </a:p>
          <a:p>
            <a:pPr lvl="4" eaLnBrk="1" latinLnBrk="0" hangingPunct="1"/>
            <a:r>
              <a:rPr lang="ro-RO" smtClean="0"/>
              <a:t>Al cincilea nivel</a:t>
            </a:r>
            <a:endParaRPr kumimoji="0" lang="en-US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CE5CAE3-E66C-483F-9A91-133D66834A8A}" type="datetimeFigureOut">
              <a:rPr lang="ro-RO" smtClean="0"/>
              <a:t>21.06.2025</a:t>
            </a:fld>
            <a:endParaRPr lang="ro-RO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D8D6F0-A759-4B40-A209-1431F2B80A59}" type="slidenum">
              <a:rPr lang="ro-RO" smtClean="0"/>
              <a:t>‹#›</a:t>
            </a:fld>
            <a:endParaRPr lang="ro-R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ine cu legendă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o-RO" smtClean="0"/>
              <a:t>Clic pentru editare stiluri text Coordonator</a:t>
            </a:r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o-RO" smtClean="0"/>
              <a:t>Faceți clic pe pictogramă pentru a adăuga o imagine</a:t>
            </a:r>
            <a:endParaRPr kumimoji="0" lang="en-US" dirty="0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E5CAE3-E66C-483F-9A91-133D66834A8A}" type="datetimeFigureOut">
              <a:rPr lang="ro-RO" smtClean="0"/>
              <a:t>21.06.2025</a:t>
            </a:fld>
            <a:endParaRPr lang="ro-RO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D8D6F0-A759-4B40-A209-1431F2B80A59}" type="slidenum">
              <a:rPr lang="ro-RO" smtClean="0"/>
              <a:t>‹#›</a:t>
            </a:fld>
            <a:endParaRPr lang="ro-RO"/>
          </a:p>
        </p:txBody>
      </p:sp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o-RO" smtClean="0"/>
              <a:t>Clic pentru editare stil titlu</a:t>
            </a:r>
            <a:endParaRPr kumimoji="0" lang="en-US"/>
          </a:p>
        </p:txBody>
      </p:sp>
      <p:sp>
        <p:nvSpPr>
          <p:cNvPr id="8" name="Formă liberă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ormă liberă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Triunghi drept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Conector drept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În zigzag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În zigzag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o-RO" smtClean="0"/>
              <a:t>Clic pentru editare stil titlu</a:t>
            </a:r>
            <a:endParaRPr kumimoji="0"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o-RO" smtClean="0"/>
              <a:t>Clic pentru editare stiluri text Coordonator</a:t>
            </a:r>
          </a:p>
          <a:p>
            <a:pPr lvl="1" eaLnBrk="1" latinLnBrk="0" hangingPunct="1"/>
            <a:r>
              <a:rPr lang="ro-RO" smtClean="0"/>
              <a:t>Al doilea nivel</a:t>
            </a:r>
          </a:p>
          <a:p>
            <a:pPr lvl="2" eaLnBrk="1" latinLnBrk="0" hangingPunct="1"/>
            <a:r>
              <a:rPr lang="ro-RO" smtClean="0"/>
              <a:t>Al treilea nivel</a:t>
            </a:r>
          </a:p>
          <a:p>
            <a:pPr lvl="3" eaLnBrk="1" latinLnBrk="0" hangingPunct="1"/>
            <a:r>
              <a:rPr lang="ro-RO" smtClean="0"/>
              <a:t>Al patrulea nivel</a:t>
            </a:r>
          </a:p>
          <a:p>
            <a:pPr lvl="4" eaLnBrk="1" latinLnBrk="0" hangingPunct="1"/>
            <a:r>
              <a:rPr lang="ro-RO" smtClean="0"/>
              <a:t>Al cincilea nivel</a:t>
            </a:r>
            <a:endParaRPr kumimoji="0"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E5CAE3-E66C-483F-9A91-133D66834A8A}" type="datetimeFigureOut">
              <a:rPr lang="ro-RO" smtClean="0"/>
              <a:t>21.06.2025</a:t>
            </a:fld>
            <a:endParaRPr lang="ro-RO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o-RO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D8D6F0-A759-4B40-A209-1431F2B80A59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o-RO" smtClean="0"/>
              <a:t>Clic pentru editare stil titlu</a:t>
            </a:r>
            <a:endParaRPr kumimoji="0"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o-RO" smtClean="0"/>
              <a:t>Clic pentru editare stiluri text Coordonator</a:t>
            </a:r>
          </a:p>
          <a:p>
            <a:pPr lvl="1" eaLnBrk="1" latinLnBrk="0" hangingPunct="1"/>
            <a:r>
              <a:rPr lang="ro-RO" smtClean="0"/>
              <a:t>Al doilea nivel</a:t>
            </a:r>
          </a:p>
          <a:p>
            <a:pPr lvl="2" eaLnBrk="1" latinLnBrk="0" hangingPunct="1"/>
            <a:r>
              <a:rPr lang="ro-RO" smtClean="0"/>
              <a:t>Al treilea nivel</a:t>
            </a:r>
          </a:p>
          <a:p>
            <a:pPr lvl="3" eaLnBrk="1" latinLnBrk="0" hangingPunct="1"/>
            <a:r>
              <a:rPr lang="ro-RO" smtClean="0"/>
              <a:t>Al patrulea nivel</a:t>
            </a:r>
          </a:p>
          <a:p>
            <a:pPr lvl="4" eaLnBrk="1" latinLnBrk="0" hangingPunct="1"/>
            <a:r>
              <a:rPr lang="ro-RO" smtClean="0"/>
              <a:t>Al cincilea nivel</a:t>
            </a:r>
            <a:endParaRPr kumimoji="0"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E5CAE3-E66C-483F-9A91-133D66834A8A}" type="datetimeFigureOut">
              <a:rPr lang="ro-RO" smtClean="0"/>
              <a:t>21.06.2025</a:t>
            </a:fld>
            <a:endParaRPr lang="ro-RO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o-RO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D8D6F0-A759-4B40-A209-1431F2B80A59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ă liberă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ormă liberă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Triunghi drept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Conector drept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ubstituent titlu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o-RO" smtClean="0"/>
              <a:t>Clic pentru editare stil titlu</a:t>
            </a:r>
            <a:endParaRPr kumimoji="0" lang="en-US"/>
          </a:p>
        </p:txBody>
      </p:sp>
      <p:sp>
        <p:nvSpPr>
          <p:cNvPr id="30" name="Substituent text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o-RO" smtClean="0"/>
              <a:t>Clic pentru editare stiluri text Coordonator</a:t>
            </a:r>
          </a:p>
          <a:p>
            <a:pPr lvl="1" eaLnBrk="1" latinLnBrk="0" hangingPunct="1"/>
            <a:r>
              <a:rPr kumimoji="0" lang="ro-RO" smtClean="0"/>
              <a:t>Al doilea nivel</a:t>
            </a:r>
          </a:p>
          <a:p>
            <a:pPr lvl="2" eaLnBrk="1" latinLnBrk="0" hangingPunct="1"/>
            <a:r>
              <a:rPr kumimoji="0" lang="ro-RO" smtClean="0"/>
              <a:t>Al treilea nivel</a:t>
            </a:r>
          </a:p>
          <a:p>
            <a:pPr lvl="3" eaLnBrk="1" latinLnBrk="0" hangingPunct="1"/>
            <a:r>
              <a:rPr kumimoji="0" lang="ro-RO" smtClean="0"/>
              <a:t>Al patrulea nivel</a:t>
            </a:r>
          </a:p>
          <a:p>
            <a:pPr lvl="4" eaLnBrk="1" latinLnBrk="0" hangingPunct="1"/>
            <a:r>
              <a:rPr kumimoji="0" lang="ro-RO" smtClean="0"/>
              <a:t>Al cincilea nivel</a:t>
            </a:r>
            <a:endParaRPr kumimoji="0" lang="en-US"/>
          </a:p>
        </p:txBody>
      </p:sp>
      <p:sp>
        <p:nvSpPr>
          <p:cNvPr id="10" name="Substituent dată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CE5CAE3-E66C-483F-9A91-133D66834A8A}" type="datetimeFigureOut">
              <a:rPr lang="ro-RO" smtClean="0"/>
              <a:t>21.06.2025</a:t>
            </a:fld>
            <a:endParaRPr lang="ro-RO"/>
          </a:p>
        </p:txBody>
      </p:sp>
      <p:sp>
        <p:nvSpPr>
          <p:cNvPr id="22" name="Substituent subsol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o-RO"/>
          </a:p>
        </p:txBody>
      </p:sp>
      <p:sp>
        <p:nvSpPr>
          <p:cNvPr id="18" name="Substituent număr diapozitiv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D8D6F0-A759-4B40-A209-1431F2B80A59}" type="slidenum">
              <a:rPr lang="ro-RO" smtClean="0"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3568" y="13027"/>
            <a:ext cx="7772400" cy="1829761"/>
          </a:xfrm>
        </p:spPr>
        <p:txBody>
          <a:bodyPr/>
          <a:lstStyle/>
          <a:p>
            <a:r>
              <a:rPr lang="ro-RO" dirty="0" smtClean="0"/>
              <a:t>Pagini web semantice</a:t>
            </a:r>
            <a:endParaRPr lang="en-US" dirty="0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683568" y="1988840"/>
            <a:ext cx="7772400" cy="2952328"/>
          </a:xfrm>
        </p:spPr>
        <p:txBody>
          <a:bodyPr>
            <a:noAutofit/>
          </a:bodyPr>
          <a:lstStyle/>
          <a:p>
            <a:pPr algn="ctr"/>
            <a:r>
              <a:rPr lang="ro-RO" sz="2000" b="1" dirty="0" smtClean="0"/>
              <a:t>Ontologia raselor de cai</a:t>
            </a:r>
          </a:p>
          <a:p>
            <a:pPr algn="ctr"/>
            <a:endParaRPr lang="ro-RO" sz="2000" dirty="0" smtClean="0"/>
          </a:p>
          <a:p>
            <a:pPr algn="l"/>
            <a:r>
              <a:rPr lang="ro-RO" sz="2000" dirty="0" smtClean="0"/>
              <a:t>Conf. Univ. dr. </a:t>
            </a:r>
            <a:r>
              <a:rPr lang="ro-RO" sz="2000" dirty="0" err="1" smtClean="0"/>
              <a:t>Tatarâm</a:t>
            </a:r>
            <a:r>
              <a:rPr lang="ro-RO" sz="2000" dirty="0" smtClean="0"/>
              <a:t> Sanda Monica</a:t>
            </a:r>
          </a:p>
          <a:p>
            <a:pPr algn="l"/>
            <a:endParaRPr lang="ro-RO" sz="2000" dirty="0" smtClean="0"/>
          </a:p>
          <a:p>
            <a:r>
              <a:rPr lang="ro-RO" sz="2000" dirty="0" smtClean="0"/>
              <a:t>Masteranzi: Mihail </a:t>
            </a:r>
            <a:r>
              <a:rPr lang="ro-RO" sz="2000" dirty="0" err="1" smtClean="0"/>
              <a:t>Soltan</a:t>
            </a:r>
            <a:endParaRPr lang="ro-RO" sz="2000" dirty="0" smtClean="0"/>
          </a:p>
          <a:p>
            <a:pPr marR="88900">
              <a:spcBef>
                <a:spcPts val="120"/>
              </a:spcBef>
            </a:pPr>
            <a:r>
              <a:rPr lang="ro-RO" sz="2000" dirty="0">
                <a:latin typeface="Times New Roman"/>
                <a:ea typeface="Times New Roman"/>
              </a:rPr>
              <a:t>Lățea Dragoș-Andrei</a:t>
            </a:r>
            <a:endParaRPr lang="en-US" sz="2000" dirty="0">
              <a:latin typeface="Times New Roman"/>
              <a:ea typeface="Times New Roman"/>
            </a:endParaRPr>
          </a:p>
          <a:p>
            <a:pPr marR="88900">
              <a:spcBef>
                <a:spcPts val="120"/>
              </a:spcBef>
            </a:pPr>
            <a:r>
              <a:rPr lang="ro-RO" sz="2000" dirty="0" err="1">
                <a:latin typeface="Times New Roman"/>
                <a:ea typeface="Times New Roman"/>
              </a:rPr>
              <a:t>Mîndruleanu</a:t>
            </a:r>
            <a:r>
              <a:rPr lang="ro-RO" sz="2000" dirty="0">
                <a:latin typeface="Times New Roman"/>
                <a:ea typeface="Times New Roman"/>
              </a:rPr>
              <a:t> Matei-Daniel</a:t>
            </a:r>
            <a:endParaRPr lang="en-US" sz="2000" dirty="0">
              <a:latin typeface="Times New Roman"/>
              <a:ea typeface="Times New Roman"/>
            </a:endParaRPr>
          </a:p>
          <a:p>
            <a:pPr marR="88900">
              <a:spcBef>
                <a:spcPts val="120"/>
              </a:spcBef>
            </a:pPr>
            <a:r>
              <a:rPr lang="ro-RO" sz="2000" dirty="0" err="1">
                <a:latin typeface="Times New Roman"/>
                <a:ea typeface="Times New Roman"/>
              </a:rPr>
              <a:t>Șamata</a:t>
            </a:r>
            <a:r>
              <a:rPr lang="ro-RO" sz="2000" dirty="0">
                <a:latin typeface="Times New Roman"/>
                <a:ea typeface="Times New Roman"/>
              </a:rPr>
              <a:t> Robert</a:t>
            </a:r>
            <a:endParaRPr lang="en-US" sz="2000" dirty="0">
              <a:latin typeface="Times New Roman"/>
              <a:ea typeface="Times New Roman"/>
            </a:endParaRPr>
          </a:p>
          <a:p>
            <a:pPr marR="88900">
              <a:spcBef>
                <a:spcPts val="120"/>
              </a:spcBef>
            </a:pPr>
            <a:r>
              <a:rPr lang="ro-RO" sz="2000" dirty="0">
                <a:latin typeface="Times New Roman"/>
                <a:ea typeface="Times New Roman"/>
              </a:rPr>
              <a:t>Panait Ioan-Gabriel</a:t>
            </a:r>
            <a:endParaRPr lang="en-US" sz="2000" dirty="0">
              <a:latin typeface="Times New Roman"/>
              <a:ea typeface="Times New Roman"/>
            </a:endParaRP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5487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1. Despre ontologie</a:t>
            </a:r>
          </a:p>
          <a:p>
            <a:r>
              <a:rPr lang="ro-RO" dirty="0"/>
              <a:t>1</a:t>
            </a:r>
            <a:r>
              <a:rPr lang="ro-RO" dirty="0" smtClean="0"/>
              <a:t>.1 Diagrama E/R</a:t>
            </a:r>
          </a:p>
          <a:p>
            <a:r>
              <a:rPr lang="ro-RO" dirty="0"/>
              <a:t>1</a:t>
            </a:r>
            <a:r>
              <a:rPr lang="ro-RO" dirty="0" smtClean="0"/>
              <a:t>.2 Diagrama clasei </a:t>
            </a:r>
            <a:r>
              <a:rPr lang="ro-RO" dirty="0" err="1" smtClean="0"/>
              <a:t>RasaDeCai</a:t>
            </a:r>
            <a:endParaRPr lang="ro-RO" dirty="0" smtClean="0"/>
          </a:p>
          <a:p>
            <a:r>
              <a:rPr lang="ro-RO" dirty="0"/>
              <a:t>1</a:t>
            </a:r>
            <a:r>
              <a:rPr lang="ro-RO" dirty="0" smtClean="0"/>
              <a:t>.3 Diagrama clasei Utilizare</a:t>
            </a:r>
          </a:p>
          <a:p>
            <a:r>
              <a:rPr lang="ro-RO" dirty="0"/>
              <a:t>1</a:t>
            </a:r>
            <a:r>
              <a:rPr lang="ro-RO" dirty="0" smtClean="0"/>
              <a:t>.4 Diagrama clasei Mers</a:t>
            </a:r>
          </a:p>
          <a:p>
            <a:r>
              <a:rPr lang="ro-RO" dirty="0"/>
              <a:t>2</a:t>
            </a:r>
            <a:r>
              <a:rPr lang="ro-RO" dirty="0" smtClean="0"/>
              <a:t>. Bibliografie</a:t>
            </a:r>
          </a:p>
          <a:p>
            <a:endParaRPr lang="ro-RO" dirty="0" smtClean="0"/>
          </a:p>
        </p:txBody>
      </p:sp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Cuprins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32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o-RO" b="1" dirty="0" smtClean="0"/>
              <a:t>     </a:t>
            </a:r>
            <a:r>
              <a:rPr lang="en-US" b="1" dirty="0" err="1" smtClean="0"/>
              <a:t>Ontologia</a:t>
            </a:r>
            <a:r>
              <a:rPr lang="en-US" b="1" dirty="0" smtClean="0"/>
              <a:t> </a:t>
            </a:r>
            <a:r>
              <a:rPr lang="en-US" b="1" dirty="0" err="1"/>
              <a:t>raselor</a:t>
            </a:r>
            <a:r>
              <a:rPr lang="en-US" b="1" dirty="0"/>
              <a:t> de </a:t>
            </a:r>
            <a:r>
              <a:rPr lang="en-US" b="1" dirty="0" err="1"/>
              <a:t>cai</a:t>
            </a:r>
            <a:r>
              <a:rPr lang="en-US" dirty="0"/>
              <a:t> </a:t>
            </a:r>
            <a:r>
              <a:rPr lang="en-US" dirty="0" err="1"/>
              <a:t>reprezintă</a:t>
            </a:r>
            <a:r>
              <a:rPr lang="en-US" dirty="0"/>
              <a:t> o </a:t>
            </a:r>
            <a:r>
              <a:rPr lang="en-US" dirty="0" err="1"/>
              <a:t>rețea</a:t>
            </a:r>
            <a:r>
              <a:rPr lang="en-US" dirty="0"/>
              <a:t> </a:t>
            </a:r>
            <a:r>
              <a:rPr lang="en-US" dirty="0" err="1"/>
              <a:t>logică</a:t>
            </a:r>
            <a:r>
              <a:rPr lang="en-US" dirty="0"/>
              <a:t> de </a:t>
            </a:r>
            <a:r>
              <a:rPr lang="en-US" dirty="0" err="1"/>
              <a:t>concepte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relații</a:t>
            </a:r>
            <a:r>
              <a:rPr lang="en-US" dirty="0"/>
              <a:t> care </a:t>
            </a:r>
            <a:r>
              <a:rPr lang="en-US" dirty="0" err="1"/>
              <a:t>descriu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mod formal, </a:t>
            </a:r>
            <a:r>
              <a:rPr lang="en-US" dirty="0" err="1"/>
              <a:t>cunoașterea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diversele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cai</a:t>
            </a:r>
            <a:r>
              <a:rPr lang="en-US" dirty="0"/>
              <a:t> </a:t>
            </a:r>
            <a:r>
              <a:rPr lang="en-US" dirty="0" err="1"/>
              <a:t>domestici</a:t>
            </a:r>
            <a:r>
              <a:rPr lang="en-US" dirty="0"/>
              <a:t>, </a:t>
            </a:r>
            <a:r>
              <a:rPr lang="en-US" dirty="0" err="1"/>
              <a:t>caracteristicile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organizați</a:t>
            </a:r>
            <a:r>
              <a:rPr lang="en-US" dirty="0" smtClean="0"/>
              <a:t>.</a:t>
            </a:r>
            <a:endParaRPr lang="ro-RO" dirty="0" smtClean="0"/>
          </a:p>
          <a:p>
            <a:r>
              <a:rPr lang="ro-RO" b="1" dirty="0" smtClean="0"/>
              <a:t>     </a:t>
            </a:r>
            <a:r>
              <a:rPr lang="en-US" b="1" dirty="0" err="1" smtClean="0"/>
              <a:t>În</a:t>
            </a:r>
            <a:r>
              <a:rPr lang="en-US" b="1" dirty="0" smtClean="0"/>
              <a:t> </a:t>
            </a:r>
            <a:r>
              <a:rPr lang="en-US" b="1" dirty="0" err="1"/>
              <a:t>ontologie</a:t>
            </a:r>
            <a:r>
              <a:rPr lang="en-US" b="1" dirty="0"/>
              <a:t> </a:t>
            </a:r>
            <a:r>
              <a:rPr lang="en-US" b="1" dirty="0" err="1"/>
              <a:t>avem</a:t>
            </a:r>
            <a:r>
              <a:rPr lang="en-US" b="1" dirty="0"/>
              <a:t> </a:t>
            </a:r>
            <a:r>
              <a:rPr lang="en-US" b="1" dirty="0" err="1"/>
              <a:t>următoarele</a:t>
            </a:r>
            <a:r>
              <a:rPr lang="en-US" b="1" dirty="0"/>
              <a:t> </a:t>
            </a:r>
            <a:r>
              <a:rPr lang="en-US" b="1" dirty="0" err="1"/>
              <a:t>clase</a:t>
            </a:r>
            <a:r>
              <a:rPr lang="en-US" b="1" dirty="0"/>
              <a:t>: </a:t>
            </a:r>
            <a:endParaRPr lang="en-US" dirty="0"/>
          </a:p>
          <a:p>
            <a:pPr lvl="0"/>
            <a:r>
              <a:rPr lang="en-US" b="1" dirty="0" err="1"/>
              <a:t>RasaDeCal</a:t>
            </a:r>
            <a:r>
              <a:rPr lang="en-US" dirty="0"/>
              <a:t> – </a:t>
            </a:r>
            <a:r>
              <a:rPr lang="en-US" dirty="0" err="1"/>
              <a:t>conceptul</a:t>
            </a:r>
            <a:r>
              <a:rPr lang="en-US" dirty="0"/>
              <a:t> fundamental,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grupează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entitate</a:t>
            </a:r>
            <a:r>
              <a:rPr lang="en-US" dirty="0"/>
              <a:t> </a:t>
            </a:r>
            <a:r>
              <a:rPr lang="en-US" dirty="0" err="1"/>
              <a:t>clasificabilă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ArmasarFondator</a:t>
            </a:r>
            <a:r>
              <a:rPr lang="en-US" dirty="0"/>
              <a:t> – </a:t>
            </a:r>
            <a:r>
              <a:rPr lang="en-US" dirty="0" err="1"/>
              <a:t>reprezentând</a:t>
            </a:r>
            <a:r>
              <a:rPr lang="en-US" dirty="0"/>
              <a:t> </a:t>
            </a:r>
            <a:r>
              <a:rPr lang="en-US" dirty="0" err="1"/>
              <a:t>indivizii</a:t>
            </a:r>
            <a:r>
              <a:rPr lang="en-US" dirty="0"/>
              <a:t> </a:t>
            </a:r>
            <a:r>
              <a:rPr lang="en-US" dirty="0" err="1"/>
              <a:t>genetici</a:t>
            </a:r>
            <a:r>
              <a:rPr lang="en-US" dirty="0"/>
              <a:t> de la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linii</a:t>
            </a:r>
            <a:r>
              <a:rPr lang="en-US" dirty="0"/>
              <a:t> de </a:t>
            </a:r>
            <a:r>
              <a:rPr lang="en-US" dirty="0" err="1"/>
              <a:t>reproducere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SangeFierbinte</a:t>
            </a:r>
            <a:r>
              <a:rPr lang="en-US" b="1" dirty="0"/>
              <a:t> / </a:t>
            </a:r>
            <a:r>
              <a:rPr lang="en-US" b="1" dirty="0" err="1"/>
              <a:t>SangeRece</a:t>
            </a:r>
            <a:r>
              <a:rPr lang="en-US" b="1" dirty="0"/>
              <a:t> / </a:t>
            </a:r>
            <a:r>
              <a:rPr lang="en-US" b="1" dirty="0" err="1"/>
              <a:t>SangeSemicald</a:t>
            </a:r>
            <a:r>
              <a:rPr lang="en-US" dirty="0"/>
              <a:t> – </a:t>
            </a:r>
            <a:r>
              <a:rPr lang="en-US" dirty="0" err="1"/>
              <a:t>clasificări</a:t>
            </a:r>
            <a:r>
              <a:rPr lang="en-US" dirty="0"/>
              <a:t> </a:t>
            </a:r>
            <a:r>
              <a:rPr lang="en-US" dirty="0" err="1"/>
              <a:t>tradiționale</a:t>
            </a:r>
            <a:r>
              <a:rPr lang="en-US" dirty="0"/>
              <a:t> legate de temperament, </a:t>
            </a:r>
            <a:r>
              <a:rPr lang="en-US" dirty="0" err="1"/>
              <a:t>istoric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utilizare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RegiuneGeografica</a:t>
            </a:r>
            <a:r>
              <a:rPr lang="en-US" dirty="0"/>
              <a:t> – de ex.: </a:t>
            </a:r>
            <a:r>
              <a:rPr lang="en-US" dirty="0" err="1"/>
              <a:t>AmericaDeNord</a:t>
            </a:r>
            <a:r>
              <a:rPr lang="en-US" dirty="0"/>
              <a:t>, </a:t>
            </a:r>
            <a:r>
              <a:rPr lang="en-US" dirty="0" err="1"/>
              <a:t>EuropaDeSud</a:t>
            </a:r>
            <a:r>
              <a:rPr lang="en-US" dirty="0"/>
              <a:t>, </a:t>
            </a:r>
            <a:r>
              <a:rPr lang="en-US" dirty="0" err="1"/>
              <a:t>AsiaCentrala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Utilizare</a:t>
            </a:r>
            <a:r>
              <a:rPr lang="en-US" dirty="0"/>
              <a:t> – cu </a:t>
            </a:r>
            <a:r>
              <a:rPr lang="en-US" dirty="0" err="1"/>
              <a:t>subclase</a:t>
            </a:r>
            <a:r>
              <a:rPr lang="en-US" dirty="0"/>
              <a:t> </a:t>
            </a:r>
            <a:r>
              <a:rPr lang="en-US" dirty="0" err="1"/>
              <a:t>precum</a:t>
            </a:r>
            <a:r>
              <a:rPr lang="en-US" dirty="0"/>
              <a:t> Sport, </a:t>
            </a:r>
            <a:r>
              <a:rPr lang="en-US" dirty="0" err="1"/>
              <a:t>Agrement</a:t>
            </a:r>
            <a:r>
              <a:rPr lang="en-US" dirty="0"/>
              <a:t>, </a:t>
            </a:r>
            <a:r>
              <a:rPr lang="en-US" dirty="0" err="1"/>
              <a:t>Tractiune</a:t>
            </a:r>
            <a:r>
              <a:rPr lang="en-US" dirty="0"/>
              <a:t>, </a:t>
            </a:r>
            <a:r>
              <a:rPr lang="en-US" dirty="0" err="1"/>
              <a:t>CalarieMilitara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1.Despre ontologie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792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63688" y="-99392"/>
            <a:ext cx="8229600" cy="1143000"/>
          </a:xfrm>
        </p:spPr>
        <p:txBody>
          <a:bodyPr/>
          <a:lstStyle/>
          <a:p>
            <a:r>
              <a:rPr lang="ro-RO" dirty="0" smtClean="0"/>
              <a:t>1.1Diagrama E/R</a:t>
            </a:r>
            <a:endParaRPr lang="en-US" dirty="0"/>
          </a:p>
        </p:txBody>
      </p:sp>
      <p:pic>
        <p:nvPicPr>
          <p:cNvPr id="4" name="Substituent conținut 3" descr="C:\Users\yow_g\AppData\Local\Packages\5319275A.WhatsAppDesktop_cv1g1gvanyjgm\TempState\B0704EF8C73B595AB67C5D0CA83C8724\Imagine WhatsApp 2025-06-21 la 12.24.45_08f072d5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764704"/>
            <a:ext cx="7178352" cy="53285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614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1.2 Diagrama </a:t>
            </a:r>
            <a:r>
              <a:rPr lang="ro-RO" dirty="0"/>
              <a:t>clasei </a:t>
            </a:r>
            <a:r>
              <a:rPr lang="ro-RO" dirty="0" err="1"/>
              <a:t>RasaDeCai</a:t>
            </a:r>
            <a:endParaRPr lang="en-US" dirty="0"/>
          </a:p>
        </p:txBody>
      </p:sp>
      <p:pic>
        <p:nvPicPr>
          <p:cNvPr id="4" name="Substituent conținut 3" descr="https://i.gyazo.com/f31d6c933bd1a38c27b62d9029feff59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55309"/>
            <a:ext cx="8229600" cy="33776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609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u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 smtClean="0"/>
              <a:t>1.3 Diagrama </a:t>
            </a:r>
            <a:r>
              <a:rPr lang="ro-RO" dirty="0"/>
              <a:t>clasei Utilizare</a:t>
            </a:r>
            <a:br>
              <a:rPr lang="ro-RO" dirty="0"/>
            </a:br>
            <a:endParaRPr lang="en-US" dirty="0"/>
          </a:p>
        </p:txBody>
      </p:sp>
      <p:pic>
        <p:nvPicPr>
          <p:cNvPr id="4" name="Substituent conținut 3" descr="https://i.gyazo.com/fb3859c4d439a4dbf1af6a4ab62afbc5.png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97962"/>
            <a:ext cx="8229600" cy="36923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358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u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1.4 Diagrama </a:t>
            </a:r>
            <a:r>
              <a:rPr lang="ro-RO" dirty="0"/>
              <a:t>clasei Mers</a:t>
            </a:r>
            <a:endParaRPr lang="en-US" dirty="0"/>
          </a:p>
        </p:txBody>
      </p:sp>
      <p:pic>
        <p:nvPicPr>
          <p:cNvPr id="4" name="Substituent conținut 3" descr="https://i.gyazo.com/7b5d4752bc9aeea1b0ef2d5763866c2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11952"/>
            <a:ext cx="8229600" cy="38643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631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conținut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o-RO" dirty="0"/>
              <a:t>https://ro.scribd.com/document/213956322/rase-de-cai</a:t>
            </a:r>
            <a:endParaRPr lang="en-US" dirty="0"/>
          </a:p>
          <a:p>
            <a:r>
              <a:rPr lang="ro-RO" dirty="0"/>
              <a:t>https://data.fei.org/Tools/BaseData.aspx?table=Studbooks</a:t>
            </a:r>
            <a:endParaRPr lang="en-US" dirty="0"/>
          </a:p>
          <a:p>
            <a:r>
              <a:rPr lang="ro-RO" dirty="0"/>
              <a:t>https://data.fei.org/Horse/Search.aspx</a:t>
            </a:r>
            <a:endParaRPr lang="en-US" dirty="0"/>
          </a:p>
          <a:p>
            <a:r>
              <a:rPr lang="ro-RO" dirty="0"/>
              <a:t>https://academic.oup.com/biohorizons/articlepdf/doi/10.1093/biohorizons/hzt010/5040346/hzt010.pdf</a:t>
            </a:r>
            <a:endParaRPr lang="en-US" dirty="0"/>
          </a:p>
          <a:p>
            <a:r>
              <a:rPr lang="ro-RO" dirty="0"/>
              <a:t>https://en.wikipedia.org/wiki/Equine_conformation</a:t>
            </a:r>
            <a:endParaRPr lang="en-US" dirty="0"/>
          </a:p>
          <a:p>
            <a:r>
              <a:rPr lang="ro-RO" dirty="0"/>
              <a:t>https://mindcraftstories.ro/mediu/caii-de-la-vanat-la-coleg-de-munca-si-prieten-de-plimbare/</a:t>
            </a:r>
            <a:endParaRPr lang="en-US" dirty="0"/>
          </a:p>
          <a:p>
            <a:r>
              <a:rPr lang="ro-RO" dirty="0"/>
              <a:t>https://ro.wikipedia.org/wiki/Categorie:Rase_de_cai</a:t>
            </a:r>
            <a:endParaRPr lang="en-US" dirty="0"/>
          </a:p>
          <a:p>
            <a:r>
              <a:rPr lang="ro-RO" dirty="0"/>
              <a:t>http://obofoundry.org/ontology/vbo.html</a:t>
            </a:r>
            <a:endParaRPr lang="en-US" dirty="0"/>
          </a:p>
          <a:p>
            <a:r>
              <a:rPr lang="ro-RO" dirty="0"/>
              <a:t>https://en.wikipedia.org/wiki/Horse_breed</a:t>
            </a:r>
            <a:endParaRPr lang="en-US" dirty="0"/>
          </a:p>
          <a:p>
            <a:r>
              <a:rPr lang="ro-RO" dirty="0"/>
              <a:t>https://pmc.ncbi.nlm.nih.gov/articles/PMC5068837/</a:t>
            </a:r>
            <a:endParaRPr lang="en-US" dirty="0"/>
          </a:p>
          <a:p>
            <a:r>
              <a:rPr lang="ro-RO" dirty="0"/>
              <a:t>https://breeds.okstate.edu/horses/paint-horses.html</a:t>
            </a:r>
            <a:endParaRPr lang="en-US" dirty="0"/>
          </a:p>
          <a:p>
            <a:r>
              <a:rPr lang="ro-RO" dirty="0"/>
              <a:t>https://everythingeq.com/horse-breeds-an-in-depth-guide/</a:t>
            </a:r>
            <a:endParaRPr lang="en-US" dirty="0"/>
          </a:p>
          <a:p>
            <a:r>
              <a:rPr lang="ro-RO" dirty="0"/>
              <a:t>https://herghelie.ro/rase-cai/</a:t>
            </a:r>
            <a:endParaRPr lang="en-US" dirty="0"/>
          </a:p>
          <a:p>
            <a:r>
              <a:rPr lang="ro-RO" dirty="0"/>
              <a:t>https://pmc.ncbi.nlm.nih.gov/articles/PMC11177956/</a:t>
            </a:r>
            <a:endParaRPr lang="en-US" dirty="0"/>
          </a:p>
          <a:p>
            <a:r>
              <a:rPr lang="ro-RO" dirty="0"/>
              <a:t>https://guides.lib.umich.edu/ontology/development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u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2.Bibliografie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1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395536" y="1340768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o-RO" dirty="0" smtClean="0"/>
              <a:t>Vă </a:t>
            </a:r>
            <a:r>
              <a:rPr lang="ro-RO" dirty="0" err="1" smtClean="0"/>
              <a:t>multumim</a:t>
            </a:r>
            <a:r>
              <a:rPr lang="ro-RO" dirty="0" smtClean="0"/>
              <a:t> pentru atenția acordată!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92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ență">
  <a:themeElements>
    <a:clrScheme name="Concurență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ență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ență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</TotalTime>
  <Words>232</Words>
  <Application>Microsoft Office PowerPoint</Application>
  <PresentationFormat>Expunere pe ecran (4:3)</PresentationFormat>
  <Paragraphs>46</Paragraphs>
  <Slides>9</Slides>
  <Notes>0</Notes>
  <HiddenSlides>0</HiddenSlides>
  <MMClips>0</MMClips>
  <ScaleCrop>false</ScaleCrop>
  <HeadingPairs>
    <vt:vector size="4" baseType="variant">
      <vt:variant>
        <vt:lpstr>Temă</vt:lpstr>
      </vt:variant>
      <vt:variant>
        <vt:i4>1</vt:i4>
      </vt:variant>
      <vt:variant>
        <vt:lpstr>Titluri diapozitive</vt:lpstr>
      </vt:variant>
      <vt:variant>
        <vt:i4>9</vt:i4>
      </vt:variant>
    </vt:vector>
  </HeadingPairs>
  <TitlesOfParts>
    <vt:vector size="10" baseType="lpstr">
      <vt:lpstr>Concurență</vt:lpstr>
      <vt:lpstr>Pagini web semantice</vt:lpstr>
      <vt:lpstr>Cuprins</vt:lpstr>
      <vt:lpstr>1.Despre ontologie</vt:lpstr>
      <vt:lpstr>1.1Diagrama E/R</vt:lpstr>
      <vt:lpstr>1.2 Diagrama clasei RasaDeCai</vt:lpstr>
      <vt:lpstr>1.3 Diagrama clasei Utilizare </vt:lpstr>
      <vt:lpstr>1.4 Diagrama clasei Mers</vt:lpstr>
      <vt:lpstr>2.Bibliografie</vt:lpstr>
      <vt:lpstr>Vă multumim pentru atenția acordată!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Pagini web semantice</dc:title>
  <dc:creator>Gabriel G</dc:creator>
  <cp:lastModifiedBy>Panait Gabriel</cp:lastModifiedBy>
  <cp:revision>3</cp:revision>
  <dcterms:created xsi:type="dcterms:W3CDTF">2025-06-21T11:19:23Z</dcterms:created>
  <dcterms:modified xsi:type="dcterms:W3CDTF">2025-06-21T11:45:16Z</dcterms:modified>
</cp:coreProperties>
</file>