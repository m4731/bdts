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7" r:id="rId5"/>
    <p:sldId id="268" r:id="rId6"/>
    <p:sldId id="273" r:id="rId7"/>
    <p:sldId id="274" r:id="rId8"/>
    <p:sldId id="275" r:id="rId9"/>
    <p:sldId id="281" r:id="rId10"/>
    <p:sldId id="276" r:id="rId11"/>
    <p:sldId id="277" r:id="rId12"/>
    <p:sldId id="278" r:id="rId13"/>
    <p:sldId id="279" r:id="rId14"/>
    <p:sldId id="280" r:id="rId15"/>
    <p:sldId id="282" r:id="rId16"/>
    <p:sldId id="283" r:id="rId17"/>
    <p:sldId id="284" r:id="rId18"/>
    <p:sldId id="285" r:id="rId19"/>
    <p:sldId id="286" r:id="rId20"/>
    <p:sldId id="287" r:id="rId21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113" d="100"/>
          <a:sy n="113" d="100"/>
        </p:scale>
        <p:origin x="510" y="10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4/23/2026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4/23/2026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4/23/2026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4/23/2026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4/23/2026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4/23/2026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4/23/2026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4/23/2026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4/23/2026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4/23/2026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4/23/2026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4/23/2026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4/23/2026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4/23/2026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Topici</a:t>
            </a:r>
            <a:r>
              <a:rPr lang="en-US" dirty="0"/>
              <a:t> </a:t>
            </a:r>
            <a:r>
              <a:rPr lang="en-US" dirty="0" err="1"/>
              <a:t>Speciale</a:t>
            </a:r>
            <a:r>
              <a:rPr lang="en-US" dirty="0"/>
              <a:t> </a:t>
            </a:r>
            <a:r>
              <a:rPr lang="ro-RO" dirty="0"/>
              <a:t>în BDTS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o-RO" dirty="0"/>
              <a:t>MATEI </a:t>
            </a:r>
            <a:r>
              <a:rPr lang="ro-RO" dirty="0" err="1"/>
              <a:t>daniel</a:t>
            </a:r>
            <a:r>
              <a:rPr lang="ro-RO" dirty="0"/>
              <a:t> </a:t>
            </a:r>
            <a:r>
              <a:rPr lang="ro-RO" dirty="0" err="1"/>
              <a:t>mîndruleanu</a:t>
            </a:r>
            <a:endParaRPr lang="ro-RO" dirty="0"/>
          </a:p>
          <a:p>
            <a:r>
              <a:rPr lang="ro-RO" dirty="0"/>
              <a:t>Grupa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Descrierea aplicației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half" idx="1"/>
          </p:nvPr>
        </p:nvSpPr>
        <p:spPr>
          <a:xfrm>
            <a:off x="1218883" y="3200400"/>
            <a:ext cx="4875525" cy="1828800"/>
          </a:xfrm>
        </p:spPr>
        <p:txBody>
          <a:bodyPr>
            <a:normAutofit/>
          </a:bodyPr>
          <a:lstStyle/>
          <a:p>
            <a:r>
              <a:rPr lang="en-US" dirty="0" err="1"/>
              <a:t>notele</a:t>
            </a:r>
            <a:r>
              <a:rPr lang="en-US" dirty="0"/>
              <a:t> </a:t>
            </a:r>
            <a:r>
              <a:rPr lang="en-US" dirty="0" err="1"/>
              <a:t>obținute</a:t>
            </a:r>
            <a:endParaRPr lang="ro-RO" dirty="0"/>
          </a:p>
          <a:p>
            <a:r>
              <a:rPr lang="en-US" dirty="0" err="1"/>
              <a:t>procentul</a:t>
            </a:r>
            <a:r>
              <a:rPr lang="en-US" dirty="0"/>
              <a:t> de </a:t>
            </a:r>
            <a:r>
              <a:rPr lang="en-US" dirty="0" err="1"/>
              <a:t>prezență</a:t>
            </a:r>
            <a:endParaRPr lang="ro-RO" dirty="0"/>
          </a:p>
          <a:p>
            <a:r>
              <a:rPr lang="en-US" dirty="0"/>
              <a:t>bonus</a:t>
            </a:r>
            <a:r>
              <a:rPr lang="ro-RO" dirty="0" err="1"/>
              <a:t>ul</a:t>
            </a:r>
            <a:r>
              <a:rPr lang="en-US" dirty="0"/>
              <a:t> de </a:t>
            </a:r>
            <a:r>
              <a:rPr lang="en-US" dirty="0" err="1"/>
              <a:t>activitate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61565E-B152-4942-BC95-F2909B9CEA3D}"/>
              </a:ext>
            </a:extLst>
          </p:cNvPr>
          <p:cNvSpPr txBox="1"/>
          <p:nvPr/>
        </p:nvSpPr>
        <p:spPr>
          <a:xfrm>
            <a:off x="1218883" y="1828800"/>
            <a:ext cx="487552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 err="1"/>
              <a:t>CheckGrade</a:t>
            </a:r>
            <a:r>
              <a:rPr lang="ro-RO" dirty="0"/>
              <a:t> </a:t>
            </a:r>
            <a:r>
              <a:rPr lang="en-US" dirty="0" err="1"/>
              <a:t>este</a:t>
            </a:r>
            <a:r>
              <a:rPr lang="en-US" dirty="0"/>
              <a:t> un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simplificat</a:t>
            </a:r>
            <a:r>
              <a:rPr lang="en-US" dirty="0"/>
              <a:t> care </a:t>
            </a:r>
            <a:r>
              <a:rPr lang="en-US" dirty="0" err="1"/>
              <a:t>determină</a:t>
            </a:r>
            <a:r>
              <a:rPr lang="en-US" dirty="0"/>
              <a:t> </a:t>
            </a:r>
            <a:r>
              <a:rPr lang="en-US" dirty="0" err="1"/>
              <a:t>situația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student </a:t>
            </a:r>
            <a:br>
              <a:rPr lang="en-US" dirty="0"/>
            </a:br>
            <a:r>
              <a:rPr lang="en-US" dirty="0"/>
              <a:t>pe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următorilor</a:t>
            </a:r>
            <a:r>
              <a:rPr lang="en-US" dirty="0"/>
              <a:t> </a:t>
            </a:r>
            <a:r>
              <a:rPr lang="en-US" dirty="0" err="1"/>
              <a:t>parametri</a:t>
            </a:r>
            <a:r>
              <a:rPr lang="en-US" dirty="0"/>
              <a:t>:</a:t>
            </a:r>
          </a:p>
        </p:txBody>
      </p:sp>
      <p:sp>
        <p:nvSpPr>
          <p:cNvPr id="7" name="Content Placeholder 13">
            <a:extLst>
              <a:ext uri="{FF2B5EF4-FFF2-40B4-BE49-F238E27FC236}">
                <a16:creationId xmlns:a16="http://schemas.microsoft.com/office/drawing/2014/main" id="{FC19E34A-CFAF-4434-BA59-DC0D710D11E1}"/>
              </a:ext>
            </a:extLst>
          </p:cNvPr>
          <p:cNvSpPr txBox="1">
            <a:spLocks/>
          </p:cNvSpPr>
          <p:nvPr/>
        </p:nvSpPr>
        <p:spPr>
          <a:xfrm>
            <a:off x="6399213" y="3200400"/>
            <a:ext cx="4619888" cy="1828800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o-RO" dirty="0"/>
              <a:t>picat</a:t>
            </a:r>
          </a:p>
          <a:p>
            <a:r>
              <a:rPr lang="ro-RO" dirty="0"/>
              <a:t>trecut</a:t>
            </a:r>
          </a:p>
          <a:p>
            <a:r>
              <a:rPr lang="ro-RO" dirty="0" err="1"/>
              <a:t>burs</a:t>
            </a:r>
            <a:r>
              <a:rPr lang="en-US" dirty="0" err="1"/>
              <a:t>ier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8A8185-9165-4D07-8BF1-86F5C3A82819}"/>
              </a:ext>
            </a:extLst>
          </p:cNvPr>
          <p:cNvSpPr txBox="1"/>
          <p:nvPr/>
        </p:nvSpPr>
        <p:spPr>
          <a:xfrm>
            <a:off x="6399212" y="1828800"/>
            <a:ext cx="461988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Programul</a:t>
            </a:r>
            <a:r>
              <a:rPr lang="en-US" dirty="0"/>
              <a:t> </a:t>
            </a:r>
            <a:r>
              <a:rPr lang="en-US" dirty="0" err="1"/>
              <a:t>calculează</a:t>
            </a:r>
            <a:r>
              <a:rPr lang="en-US" dirty="0"/>
              <a:t> media </a:t>
            </a:r>
            <a:r>
              <a:rPr lang="en-US" dirty="0" err="1"/>
              <a:t>aritmetică</a:t>
            </a:r>
            <a:r>
              <a:rPr lang="en-US" dirty="0"/>
              <a:t> a </a:t>
            </a:r>
            <a:r>
              <a:rPr lang="en-US" dirty="0" err="1"/>
              <a:t>notelor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decide </a:t>
            </a:r>
            <a:r>
              <a:rPr lang="en-US" dirty="0" err="1"/>
              <a:t>dacă</a:t>
            </a:r>
            <a:r>
              <a:rPr lang="en-US" dirty="0"/>
              <a:t> </a:t>
            </a:r>
            <a:r>
              <a:rPr lang="en-US" dirty="0" err="1"/>
              <a:t>studentul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: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1F648CB-4901-4523-8B32-79E1E9614846}"/>
              </a:ext>
            </a:extLst>
          </p:cNvPr>
          <p:cNvCxnSpPr>
            <a:cxnSpLocks/>
          </p:cNvCxnSpPr>
          <p:nvPr/>
        </p:nvCxnSpPr>
        <p:spPr>
          <a:xfrm>
            <a:off x="6170612" y="1752600"/>
            <a:ext cx="0" cy="32766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F4ACEFD-99E4-466E-9936-36E0B7A4B037}"/>
              </a:ext>
            </a:extLst>
          </p:cNvPr>
          <p:cNvSpPr txBox="1"/>
          <p:nvPr/>
        </p:nvSpPr>
        <p:spPr>
          <a:xfrm>
            <a:off x="1218883" y="5200471"/>
            <a:ext cx="922018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Aplicația</a:t>
            </a:r>
            <a:r>
              <a:rPr lang="en-US" dirty="0"/>
              <a:t> </a:t>
            </a:r>
            <a:r>
              <a:rPr lang="en-US" dirty="0" err="1"/>
              <a:t>permite</a:t>
            </a:r>
            <a:r>
              <a:rPr lang="en-US" dirty="0"/>
              <a:t> </a:t>
            </a:r>
            <a:r>
              <a:rPr lang="en-US" dirty="0" err="1"/>
              <a:t>rularea</a:t>
            </a:r>
            <a:r>
              <a:rPr lang="en-US" dirty="0"/>
              <a:t> </a:t>
            </a:r>
            <a:r>
              <a:rPr lang="en-US" dirty="0" err="1"/>
              <a:t>repetată</a:t>
            </a:r>
            <a:r>
              <a:rPr lang="en-US" dirty="0"/>
              <a:t> </a:t>
            </a:r>
            <a:r>
              <a:rPr lang="en-US" dirty="0" err="1"/>
              <a:t>folosind</a:t>
            </a:r>
            <a:r>
              <a:rPr lang="en-US" dirty="0"/>
              <a:t> o </a:t>
            </a:r>
            <a:r>
              <a:rPr lang="en-US" dirty="0" err="1"/>
              <a:t>buclă</a:t>
            </a:r>
            <a:r>
              <a:rPr lang="en-US" dirty="0"/>
              <a:t> do-while, </a:t>
            </a:r>
            <a:br>
              <a:rPr lang="en-US" dirty="0"/>
            </a:br>
            <a:r>
              <a:rPr lang="en-US" dirty="0" err="1"/>
              <a:t>atât</a:t>
            </a:r>
            <a:r>
              <a:rPr lang="en-US" dirty="0"/>
              <a:t> </a:t>
            </a:r>
            <a:r>
              <a:rPr lang="en-US" dirty="0" err="1"/>
              <a:t>timp</a:t>
            </a:r>
            <a:r>
              <a:rPr lang="en-US" dirty="0"/>
              <a:t> </a:t>
            </a:r>
            <a:r>
              <a:rPr lang="en-US" dirty="0" err="1"/>
              <a:t>cât</a:t>
            </a:r>
            <a:r>
              <a:rPr lang="en-US" dirty="0"/>
              <a:t> </a:t>
            </a:r>
            <a:r>
              <a:rPr lang="en-US" dirty="0" err="1"/>
              <a:t>utilizatorul</a:t>
            </a:r>
            <a:r>
              <a:rPr lang="en-US" dirty="0"/>
              <a:t> introduce 'y' </a:t>
            </a:r>
            <a:r>
              <a:rPr lang="en-US" dirty="0" err="1"/>
              <a:t>sau</a:t>
            </a:r>
            <a:r>
              <a:rPr lang="en-US" dirty="0"/>
              <a:t> 'Y'.</a:t>
            </a:r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Aplicația</a:t>
            </a:r>
            <a:r>
              <a:rPr lang="en-US" dirty="0"/>
              <a:t> – </a:t>
            </a:r>
            <a:r>
              <a:rPr lang="en-US" dirty="0" err="1"/>
              <a:t>parametri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ro-RO" dirty="0"/>
              <a:t> / ieșire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61565E-B152-4942-BC95-F2909B9CEA3D}"/>
              </a:ext>
            </a:extLst>
          </p:cNvPr>
          <p:cNvSpPr txBox="1"/>
          <p:nvPr/>
        </p:nvSpPr>
        <p:spPr>
          <a:xfrm>
            <a:off x="1218883" y="1828800"/>
            <a:ext cx="48755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dirty="0"/>
              <a:t>INPUT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8A8185-9165-4D07-8BF1-86F5C3A82819}"/>
              </a:ext>
            </a:extLst>
          </p:cNvPr>
          <p:cNvSpPr txBox="1"/>
          <p:nvPr/>
        </p:nvSpPr>
        <p:spPr>
          <a:xfrm>
            <a:off x="6399212" y="1828800"/>
            <a:ext cx="461988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dirty="0"/>
              <a:t>OUTPUT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1F648CB-4901-4523-8B32-79E1E9614846}"/>
              </a:ext>
            </a:extLst>
          </p:cNvPr>
          <p:cNvCxnSpPr>
            <a:cxnSpLocks/>
          </p:cNvCxnSpPr>
          <p:nvPr/>
        </p:nvCxnSpPr>
        <p:spPr>
          <a:xfrm>
            <a:off x="6170612" y="1752600"/>
            <a:ext cx="0" cy="32766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717E351B-3B88-4C12-9D91-D78306ACD476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923837424"/>
              </p:ext>
            </p:extLst>
          </p:nvPr>
        </p:nvGraphicFramePr>
        <p:xfrm>
          <a:off x="1142685" y="2321805"/>
          <a:ext cx="487552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176">
                  <a:extLst>
                    <a:ext uri="{9D8B030D-6E8A-4147-A177-3AD203B41FA5}">
                      <a16:colId xmlns:a16="http://schemas.microsoft.com/office/drawing/2014/main" val="3888773500"/>
                    </a:ext>
                  </a:extLst>
                </a:gridCol>
                <a:gridCol w="1624438">
                  <a:extLst>
                    <a:ext uri="{9D8B030D-6E8A-4147-A177-3AD203B41FA5}">
                      <a16:colId xmlns:a16="http://schemas.microsoft.com/office/drawing/2014/main" val="82308529"/>
                    </a:ext>
                  </a:extLst>
                </a:gridCol>
                <a:gridCol w="1625914">
                  <a:extLst>
                    <a:ext uri="{9D8B030D-6E8A-4147-A177-3AD203B41FA5}">
                      <a16:colId xmlns:a16="http://schemas.microsoft.com/office/drawing/2014/main" val="3226347067"/>
                    </a:ext>
                  </a:extLst>
                </a:gridCol>
              </a:tblGrid>
              <a:tr h="445372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Param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Tip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 err="1"/>
                        <a:t>Desc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808284"/>
                  </a:ext>
                </a:extLst>
              </a:tr>
              <a:tr h="445372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 err="1"/>
                        <a:t>int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nr note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090811"/>
                  </a:ext>
                </a:extLst>
              </a:tr>
              <a:tr h="44537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grades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int[]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note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3171995"/>
                  </a:ext>
                </a:extLst>
              </a:tr>
              <a:tr h="44537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attendance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prezență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181173"/>
                  </a:ext>
                </a:extLst>
              </a:tr>
              <a:tr h="44537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bonus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boolean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activitate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6111474"/>
                  </a:ext>
                </a:extLst>
              </a:tr>
              <a:tr h="44537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response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char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repetare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9600178"/>
                  </a:ext>
                </a:extLst>
              </a:tr>
            </a:tbl>
          </a:graphicData>
        </a:graphic>
      </p:graphicFrame>
      <p:graphicFrame>
        <p:nvGraphicFramePr>
          <p:cNvPr id="18" name="Table 8">
            <a:extLst>
              <a:ext uri="{FF2B5EF4-FFF2-40B4-BE49-F238E27FC236}">
                <a16:creationId xmlns:a16="http://schemas.microsoft.com/office/drawing/2014/main" id="{619A10D6-0798-440C-9030-B3DBE83A5B0E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051704217"/>
              </p:ext>
            </p:extLst>
          </p:nvPr>
        </p:nvGraphicFramePr>
        <p:xfrm>
          <a:off x="6355291" y="2324332"/>
          <a:ext cx="5078412" cy="26725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521">
                  <a:extLst>
                    <a:ext uri="{9D8B030D-6E8A-4147-A177-3AD203B41FA5}">
                      <a16:colId xmlns:a16="http://schemas.microsoft.com/office/drawing/2014/main" val="3883131268"/>
                    </a:ext>
                  </a:extLst>
                </a:gridCol>
                <a:gridCol w="3662891">
                  <a:extLst>
                    <a:ext uri="{9D8B030D-6E8A-4147-A177-3AD203B41FA5}">
                      <a16:colId xmlns:a16="http://schemas.microsoft.com/office/drawing/2014/main" val="507524148"/>
                    </a:ext>
                  </a:extLst>
                </a:gridCol>
              </a:tblGrid>
              <a:tr h="657167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Valoare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Semnificație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4429109"/>
                  </a:ext>
                </a:extLst>
              </a:tr>
              <a:tr h="657167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PICAT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2000" dirty="0"/>
                        <a:t>Medie &lt; 5 sau prezență &lt; 50%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834891"/>
                  </a:ext>
                </a:extLst>
              </a:tr>
              <a:tr h="657167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TRECUT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Medie</a:t>
                      </a:r>
                      <a:r>
                        <a:rPr lang="en-US" sz="2000" dirty="0"/>
                        <a:t> ≥ 5 </a:t>
                      </a:r>
                      <a:r>
                        <a:rPr lang="en-US" sz="2000" dirty="0" err="1"/>
                        <a:t>și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prezență</a:t>
                      </a:r>
                      <a:r>
                        <a:rPr lang="en-US" sz="2000" dirty="0"/>
                        <a:t> ≥ 50%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576218"/>
                  </a:ext>
                </a:extLst>
              </a:tr>
              <a:tr h="657167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BURSA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Medie</a:t>
                      </a:r>
                      <a:r>
                        <a:rPr lang="en-US" sz="2000" dirty="0"/>
                        <a:t> ≥ 9.5, </a:t>
                      </a:r>
                      <a:r>
                        <a:rPr lang="en-US" sz="2000" dirty="0" err="1"/>
                        <a:t>prezență</a:t>
                      </a:r>
                      <a:r>
                        <a:rPr lang="en-US" sz="2000" dirty="0"/>
                        <a:t> ≥ 90% </a:t>
                      </a:r>
                      <a:r>
                        <a:rPr lang="en-US" sz="2000" dirty="0" err="1"/>
                        <a:t>și</a:t>
                      </a:r>
                      <a:r>
                        <a:rPr lang="en-US" sz="2000" dirty="0"/>
                        <a:t> bonus </a:t>
                      </a:r>
                      <a:r>
                        <a:rPr lang="en-US" sz="2000" dirty="0" err="1"/>
                        <a:t>activ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70279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2552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213D1D8-42B4-45F6-ABC8-02B7904DF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Decizii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condiții</a:t>
            </a:r>
            <a:endParaRPr lang="en-US" dirty="0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882C2C0E-399E-4A15-B5A6-78445660F9C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7130518"/>
              </p:ext>
            </p:extLst>
          </p:nvPr>
        </p:nvGraphicFramePr>
        <p:xfrm>
          <a:off x="1219360" y="1752600"/>
          <a:ext cx="10360024" cy="291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452">
                  <a:extLst>
                    <a:ext uri="{9D8B030D-6E8A-4147-A177-3AD203B41FA5}">
                      <a16:colId xmlns:a16="http://schemas.microsoft.com/office/drawing/2014/main" val="2755793659"/>
                    </a:ext>
                  </a:extLst>
                </a:gridCol>
                <a:gridCol w="3962560">
                  <a:extLst>
                    <a:ext uri="{9D8B030D-6E8A-4147-A177-3AD203B41FA5}">
                      <a16:colId xmlns:a16="http://schemas.microsoft.com/office/drawing/2014/main" val="2222565226"/>
                    </a:ext>
                  </a:extLst>
                </a:gridCol>
                <a:gridCol w="1295240">
                  <a:extLst>
                    <a:ext uri="{9D8B030D-6E8A-4147-A177-3AD203B41FA5}">
                      <a16:colId xmlns:a16="http://schemas.microsoft.com/office/drawing/2014/main" val="3334826681"/>
                    </a:ext>
                  </a:extLst>
                </a:gridCol>
                <a:gridCol w="3884772">
                  <a:extLst>
                    <a:ext uri="{9D8B030D-6E8A-4147-A177-3AD203B41FA5}">
                      <a16:colId xmlns:a16="http://schemas.microsoft.com/office/drawing/2014/main" val="216225948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err="1"/>
                        <a:t>Decizie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err="1"/>
                        <a:t>Expresie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dirty="0"/>
                        <a:t>Operator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err="1"/>
                        <a:t>Condiții</a:t>
                      </a:r>
                      <a:r>
                        <a:rPr lang="en-US" sz="2300" dirty="0"/>
                        <a:t> </a:t>
                      </a:r>
                      <a:r>
                        <a:rPr lang="en-US" sz="2300" dirty="0" err="1"/>
                        <a:t>individuale</a:t>
                      </a:r>
                      <a:endParaRPr lang="en-US" sz="2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8450064"/>
                  </a:ext>
                </a:extLst>
              </a:tr>
              <a:tr h="7264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average &lt; 5 || attendance &lt; 50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C1: average &lt; 5</a:t>
                      </a:r>
                      <a:br>
                        <a:rPr lang="ro-RO" sz="2000" dirty="0"/>
                      </a:br>
                      <a:r>
                        <a:rPr lang="en-US" sz="2000" dirty="0"/>
                        <a:t>C2: attendance &lt; 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535065"/>
                  </a:ext>
                </a:extLst>
              </a:tr>
              <a:tr h="7264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</a:t>
                      </a:r>
                      <a:r>
                        <a:rPr lang="ro-RO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2000" dirty="0" err="1"/>
                        <a:t>average</a:t>
                      </a:r>
                      <a:r>
                        <a:rPr lang="fr-FR" sz="2000" dirty="0"/>
                        <a:t> &gt;= 9.5 &amp;&amp; </a:t>
                      </a:r>
                      <a:r>
                        <a:rPr lang="fr-FR" sz="2000" dirty="0" err="1"/>
                        <a:t>attendance</a:t>
                      </a:r>
                      <a:r>
                        <a:rPr lang="fr-FR" sz="2000" dirty="0"/>
                        <a:t> &gt;= 90 &amp;&amp; bonus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AND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21898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C3: average &gt;= 9.5</a:t>
                      </a:r>
                      <a:br>
                        <a:rPr lang="ro-RO" sz="2000" dirty="0"/>
                      </a:br>
                      <a:r>
                        <a:rPr lang="en-US" sz="2000" dirty="0"/>
                        <a:t>C4: attendance &gt;= 90</a:t>
                      </a:r>
                      <a:endParaRPr lang="ro-RO" sz="2000" dirty="0"/>
                    </a:p>
                    <a:p>
                      <a:pPr marL="0" marR="0" lvl="0" indent="0" algn="l" defTabSz="121898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o-RO" sz="2000" dirty="0"/>
                        <a:t>C</a:t>
                      </a:r>
                      <a:r>
                        <a:rPr lang="en-US" sz="2000" dirty="0"/>
                        <a:t>5: bonus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27784"/>
                  </a:ext>
                </a:extLst>
              </a:tr>
              <a:tr h="7264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D</a:t>
                      </a:r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response == 'y' || response == 'Y'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OR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21898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C6: response == 'y'</a:t>
                      </a:r>
                      <a:br>
                        <a:rPr lang="ro-RO" sz="2000" dirty="0"/>
                      </a:br>
                      <a:r>
                        <a:rPr lang="en-US" sz="2000" dirty="0"/>
                        <a:t>C7: response == 'Y'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5726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6003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C638145E-881D-4B2A-98D1-AD40E69D41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976" y="537368"/>
            <a:ext cx="9626872" cy="5783263"/>
          </a:xfrm>
        </p:spPr>
      </p:pic>
    </p:spTree>
    <p:extLst>
      <p:ext uri="{BB962C8B-B14F-4D97-AF65-F5344CB8AC3E}">
        <p14:creationId xmlns:p14="http://schemas.microsoft.com/office/powerpoint/2010/main" val="3528623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AFA62-ACB5-4847-817D-62EE4076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Legendă Teste</a:t>
            </a:r>
            <a:endParaRPr lang="en-US" dirty="0"/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B080E07D-A424-4EA6-B75E-3E089D9E5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79926350"/>
              </p:ext>
            </p:extLst>
          </p:nvPr>
        </p:nvGraphicFramePr>
        <p:xfrm>
          <a:off x="1219200" y="1701800"/>
          <a:ext cx="9904411" cy="4548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916">
                  <a:extLst>
                    <a:ext uri="{9D8B030D-6E8A-4147-A177-3AD203B41FA5}">
                      <a16:colId xmlns:a16="http://schemas.microsoft.com/office/drawing/2014/main" val="2707336578"/>
                    </a:ext>
                  </a:extLst>
                </a:gridCol>
                <a:gridCol w="831257">
                  <a:extLst>
                    <a:ext uri="{9D8B030D-6E8A-4147-A177-3AD203B41FA5}">
                      <a16:colId xmlns:a16="http://schemas.microsoft.com/office/drawing/2014/main" val="3935501225"/>
                    </a:ext>
                  </a:extLst>
                </a:gridCol>
                <a:gridCol w="1581861">
                  <a:extLst>
                    <a:ext uri="{9D8B030D-6E8A-4147-A177-3AD203B41FA5}">
                      <a16:colId xmlns:a16="http://schemas.microsoft.com/office/drawing/2014/main" val="170040987"/>
                    </a:ext>
                  </a:extLst>
                </a:gridCol>
                <a:gridCol w="1914885">
                  <a:extLst>
                    <a:ext uri="{9D8B030D-6E8A-4147-A177-3AD203B41FA5}">
                      <a16:colId xmlns:a16="http://schemas.microsoft.com/office/drawing/2014/main" val="414415758"/>
                    </a:ext>
                  </a:extLst>
                </a:gridCol>
                <a:gridCol w="1165582">
                  <a:extLst>
                    <a:ext uri="{9D8B030D-6E8A-4147-A177-3AD203B41FA5}">
                      <a16:colId xmlns:a16="http://schemas.microsoft.com/office/drawing/2014/main" val="60134469"/>
                    </a:ext>
                  </a:extLst>
                </a:gridCol>
                <a:gridCol w="1580994">
                  <a:extLst>
                    <a:ext uri="{9D8B030D-6E8A-4147-A177-3AD203B41FA5}">
                      <a16:colId xmlns:a16="http://schemas.microsoft.com/office/drawing/2014/main" val="3860888097"/>
                    </a:ext>
                  </a:extLst>
                </a:gridCol>
                <a:gridCol w="1414916">
                  <a:extLst>
                    <a:ext uri="{9D8B030D-6E8A-4147-A177-3AD203B41FA5}">
                      <a16:colId xmlns:a16="http://schemas.microsoft.com/office/drawing/2014/main" val="705535215"/>
                    </a:ext>
                  </a:extLst>
                </a:gridCol>
              </a:tblGrid>
              <a:tr h="52189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attendance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bonus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rezultat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346167"/>
                  </a:ext>
                </a:extLst>
              </a:tr>
              <a:tr h="50336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3, 4, 5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PICAT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307617"/>
                  </a:ext>
                </a:extLst>
              </a:tr>
              <a:tr h="50336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10, 10, 9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BURSA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052296"/>
                  </a:ext>
                </a:extLst>
              </a:tr>
              <a:tr h="50336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6, 7, 8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TRECUT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099412"/>
                  </a:ext>
                </a:extLst>
              </a:tr>
              <a:tr h="50336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6, 7, 8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 -&gt;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TRECUT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099783"/>
                  </a:ext>
                </a:extLst>
              </a:tr>
              <a:tr h="50336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  <a:r>
                        <a:rPr lang="ro-RO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5, </a:t>
                      </a:r>
                      <a:r>
                        <a:rPr lang="en-US" dirty="0"/>
                        <a:t>5</a:t>
                      </a:r>
                      <a:r>
                        <a:rPr lang="ro-RO" dirty="0"/>
                        <a:t>, </a:t>
                      </a:r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66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Y</a:t>
                      </a:r>
                      <a:r>
                        <a:rPr lang="en-US" dirty="0"/>
                        <a:t> -&gt;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TRECUT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2641093"/>
                  </a:ext>
                </a:extLst>
              </a:tr>
              <a:tr h="50336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5, </a:t>
                      </a:r>
                      <a:r>
                        <a:rPr lang="en-US" dirty="0"/>
                        <a:t>6</a:t>
                      </a:r>
                      <a:r>
                        <a:rPr lang="ro-RO" dirty="0"/>
                        <a:t>, </a:t>
                      </a:r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PICAT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5768039"/>
                  </a:ext>
                </a:extLst>
              </a:tr>
              <a:tr h="50336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10, 10, 10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TRECUT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268542"/>
                  </a:ext>
                </a:extLst>
              </a:tr>
              <a:tr h="50336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  <a:r>
                        <a:rPr lang="ro-RO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10, 10, 10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 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TRECUT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1104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632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AFA62-ACB5-4847-817D-62EE4076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Coverage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B080E07D-A424-4EA6-B75E-3E089D9E5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1128330"/>
              </p:ext>
            </p:extLst>
          </p:nvPr>
        </p:nvGraphicFramePr>
        <p:xfrm>
          <a:off x="1219200" y="1701800"/>
          <a:ext cx="10360024" cy="3204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003">
                  <a:extLst>
                    <a:ext uri="{9D8B030D-6E8A-4147-A177-3AD203B41FA5}">
                      <a16:colId xmlns:a16="http://schemas.microsoft.com/office/drawing/2014/main" val="2707336578"/>
                    </a:ext>
                  </a:extLst>
                </a:gridCol>
                <a:gridCol w="760809">
                  <a:extLst>
                    <a:ext uri="{9D8B030D-6E8A-4147-A177-3AD203B41FA5}">
                      <a16:colId xmlns:a16="http://schemas.microsoft.com/office/drawing/2014/main" val="3935501225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17004098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14415758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60134469"/>
                    </a:ext>
                  </a:extLst>
                </a:gridCol>
                <a:gridCol w="1447006">
                  <a:extLst>
                    <a:ext uri="{9D8B030D-6E8A-4147-A177-3AD203B41FA5}">
                      <a16:colId xmlns:a16="http://schemas.microsoft.com/office/drawing/2014/main" val="3860888097"/>
                    </a:ext>
                  </a:extLst>
                </a:gridCol>
                <a:gridCol w="1295003">
                  <a:extLst>
                    <a:ext uri="{9D8B030D-6E8A-4147-A177-3AD203B41FA5}">
                      <a16:colId xmlns:a16="http://schemas.microsoft.com/office/drawing/2014/main" val="705535215"/>
                    </a:ext>
                  </a:extLst>
                </a:gridCol>
                <a:gridCol w="1295003">
                  <a:extLst>
                    <a:ext uri="{9D8B030D-6E8A-4147-A177-3AD203B41FA5}">
                      <a16:colId xmlns:a16="http://schemas.microsoft.com/office/drawing/2014/main" val="3124764958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attendance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bonus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rezultat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noduri</a:t>
                      </a:r>
                      <a:r>
                        <a:rPr lang="en-US" dirty="0"/>
                        <a:t> </a:t>
                      </a:r>
                    </a:p>
                    <a:p>
                      <a:pPr algn="ctr"/>
                      <a:r>
                        <a:rPr lang="en-US" dirty="0" err="1"/>
                        <a:t>neatinse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346167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3, 4, 5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PICAT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N14, N15, N16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307617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10, 10, 9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BURSA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N13, N16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052296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6, 7, 8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TRECUT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N13, N15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09941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C4C0D90-CA9F-4501-BD95-31F2272B00C8}"/>
              </a:ext>
            </a:extLst>
          </p:cNvPr>
          <p:cNvSpPr txBox="1"/>
          <p:nvPr/>
        </p:nvSpPr>
        <p:spPr>
          <a:xfrm>
            <a:off x="4379833" y="5156200"/>
            <a:ext cx="4038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=&gt; Statement Coverage = 100%</a:t>
            </a:r>
          </a:p>
        </p:txBody>
      </p:sp>
    </p:spTree>
    <p:extLst>
      <p:ext uri="{BB962C8B-B14F-4D97-AF65-F5344CB8AC3E}">
        <p14:creationId xmlns:p14="http://schemas.microsoft.com/office/powerpoint/2010/main" val="3946546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AFA62-ACB5-4847-817D-62EE4076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Coverage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B080E07D-A424-4EA6-B75E-3E089D9E5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96700353"/>
              </p:ext>
            </p:extLst>
          </p:nvPr>
        </p:nvGraphicFramePr>
        <p:xfrm>
          <a:off x="1218882" y="1548285"/>
          <a:ext cx="9447212" cy="1880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602">
                  <a:extLst>
                    <a:ext uri="{9D8B030D-6E8A-4147-A177-3AD203B41FA5}">
                      <a16:colId xmlns:a16="http://schemas.microsoft.com/office/drawing/2014/main" val="2707336578"/>
                    </a:ext>
                  </a:extLst>
                </a:gridCol>
                <a:gridCol w="792886">
                  <a:extLst>
                    <a:ext uri="{9D8B030D-6E8A-4147-A177-3AD203B41FA5}">
                      <a16:colId xmlns:a16="http://schemas.microsoft.com/office/drawing/2014/main" val="3935501225"/>
                    </a:ext>
                  </a:extLst>
                </a:gridCol>
                <a:gridCol w="1508841">
                  <a:extLst>
                    <a:ext uri="{9D8B030D-6E8A-4147-A177-3AD203B41FA5}">
                      <a16:colId xmlns:a16="http://schemas.microsoft.com/office/drawing/2014/main" val="170040987"/>
                    </a:ext>
                  </a:extLst>
                </a:gridCol>
                <a:gridCol w="1826491">
                  <a:extLst>
                    <a:ext uri="{9D8B030D-6E8A-4147-A177-3AD203B41FA5}">
                      <a16:colId xmlns:a16="http://schemas.microsoft.com/office/drawing/2014/main" val="414415758"/>
                    </a:ext>
                  </a:extLst>
                </a:gridCol>
                <a:gridCol w="1111777">
                  <a:extLst>
                    <a:ext uri="{9D8B030D-6E8A-4147-A177-3AD203B41FA5}">
                      <a16:colId xmlns:a16="http://schemas.microsoft.com/office/drawing/2014/main" val="60134469"/>
                    </a:ext>
                  </a:extLst>
                </a:gridCol>
                <a:gridCol w="1508013">
                  <a:extLst>
                    <a:ext uri="{9D8B030D-6E8A-4147-A177-3AD203B41FA5}">
                      <a16:colId xmlns:a16="http://schemas.microsoft.com/office/drawing/2014/main" val="3860888097"/>
                    </a:ext>
                  </a:extLst>
                </a:gridCol>
                <a:gridCol w="1349602">
                  <a:extLst>
                    <a:ext uri="{9D8B030D-6E8A-4147-A177-3AD203B41FA5}">
                      <a16:colId xmlns:a16="http://schemas.microsoft.com/office/drawing/2014/main" val="705535215"/>
                    </a:ext>
                  </a:extLst>
                </a:gridCol>
              </a:tblGrid>
              <a:tr h="30368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attendance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bonus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rezultat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346167"/>
                  </a:ext>
                </a:extLst>
              </a:tr>
              <a:tr h="4745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3, 4, 5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PICAT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307617"/>
                  </a:ext>
                </a:extLst>
              </a:tr>
              <a:tr h="4745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10, 10, 9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BURSA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052296"/>
                  </a:ext>
                </a:extLst>
              </a:tr>
              <a:tr h="4745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6, 7, 8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 -&gt;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TRECUT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099412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37488F61-046C-4775-93CC-3C53945FC9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5553679"/>
              </p:ext>
            </p:extLst>
          </p:nvPr>
        </p:nvGraphicFramePr>
        <p:xfrm>
          <a:off x="1218882" y="3581400"/>
          <a:ext cx="94472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1803">
                  <a:extLst>
                    <a:ext uri="{9D8B030D-6E8A-4147-A177-3AD203B41FA5}">
                      <a16:colId xmlns:a16="http://schemas.microsoft.com/office/drawing/2014/main" val="50114735"/>
                    </a:ext>
                  </a:extLst>
                </a:gridCol>
                <a:gridCol w="2361803">
                  <a:extLst>
                    <a:ext uri="{9D8B030D-6E8A-4147-A177-3AD203B41FA5}">
                      <a16:colId xmlns:a16="http://schemas.microsoft.com/office/drawing/2014/main" val="2348603782"/>
                    </a:ext>
                  </a:extLst>
                </a:gridCol>
                <a:gridCol w="2361803">
                  <a:extLst>
                    <a:ext uri="{9D8B030D-6E8A-4147-A177-3AD203B41FA5}">
                      <a16:colId xmlns:a16="http://schemas.microsoft.com/office/drawing/2014/main" val="418641420"/>
                    </a:ext>
                  </a:extLst>
                </a:gridCol>
                <a:gridCol w="2361803">
                  <a:extLst>
                    <a:ext uri="{9D8B030D-6E8A-4147-A177-3AD203B41FA5}">
                      <a16:colId xmlns:a16="http://schemas.microsoft.com/office/drawing/2014/main" val="2867311229"/>
                    </a:ext>
                  </a:extLst>
                </a:gridCol>
              </a:tblGrid>
              <a:tr h="3761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070034"/>
                  </a:ext>
                </a:extLst>
              </a:tr>
              <a:tr h="3761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1603821"/>
                  </a:ext>
                </a:extLst>
              </a:tr>
              <a:tr h="3761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5374"/>
                  </a:ext>
                </a:extLst>
              </a:tr>
              <a:tr h="3761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 / 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41925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1F73009-8689-4CB1-9CEA-0E4520EF0B7E}"/>
              </a:ext>
            </a:extLst>
          </p:cNvPr>
          <p:cNvSpPr txBox="1"/>
          <p:nvPr/>
        </p:nvSpPr>
        <p:spPr>
          <a:xfrm>
            <a:off x="1225761" y="5410200"/>
            <a:ext cx="94472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T4 </a:t>
            </a:r>
            <a:r>
              <a:rPr lang="en-US" sz="1600" dirty="0" err="1"/>
              <a:t>este</a:t>
            </a:r>
            <a:r>
              <a:rPr lang="en-US" sz="1600" dirty="0"/>
              <a:t> </a:t>
            </a:r>
            <a:r>
              <a:rPr lang="en-US" sz="1600" dirty="0" err="1"/>
              <a:t>necesar</a:t>
            </a:r>
            <a:r>
              <a:rPr lang="en-US" sz="1600" dirty="0"/>
              <a:t> </a:t>
            </a:r>
            <a:r>
              <a:rPr lang="en-US" sz="1600" dirty="0" err="1"/>
              <a:t>pentru</a:t>
            </a:r>
            <a:r>
              <a:rPr lang="en-US" sz="1600" dirty="0"/>
              <a:t> a </a:t>
            </a:r>
            <a:r>
              <a:rPr lang="en-US" sz="1600" dirty="0" err="1"/>
              <a:t>acoperi</a:t>
            </a:r>
            <a:r>
              <a:rPr lang="en-US" sz="1600" dirty="0"/>
              <a:t> </a:t>
            </a:r>
            <a:r>
              <a:rPr lang="en-US" sz="1600" dirty="0" err="1"/>
              <a:t>ramura</a:t>
            </a:r>
            <a:r>
              <a:rPr lang="en-US" sz="1600" dirty="0"/>
              <a:t> TRUE a </a:t>
            </a:r>
            <a:r>
              <a:rPr lang="en-US" sz="1600" dirty="0" err="1"/>
              <a:t>deciziei</a:t>
            </a:r>
            <a:r>
              <a:rPr lang="en-US" sz="1600" dirty="0"/>
              <a:t> D3 (</a:t>
            </a:r>
            <a:r>
              <a:rPr lang="en-US" sz="1600" dirty="0" err="1"/>
              <a:t>bucla</a:t>
            </a:r>
            <a:r>
              <a:rPr lang="en-US" sz="1600" dirty="0"/>
              <a:t> do-while),</a:t>
            </a:r>
            <a:br>
              <a:rPr lang="en-US" sz="1600" dirty="0"/>
            </a:br>
            <a:r>
              <a:rPr lang="en-US" sz="1600" dirty="0"/>
              <a:t>care nu </a:t>
            </a:r>
            <a:r>
              <a:rPr lang="en-US" sz="1600" dirty="0" err="1"/>
              <a:t>este</a:t>
            </a:r>
            <a:r>
              <a:rPr lang="en-US" sz="1600" dirty="0"/>
              <a:t> </a:t>
            </a:r>
            <a:r>
              <a:rPr lang="en-US" sz="1600" dirty="0" err="1"/>
              <a:t>acoperită</a:t>
            </a:r>
            <a:r>
              <a:rPr lang="en-US" sz="1600" dirty="0"/>
              <a:t> </a:t>
            </a:r>
            <a:r>
              <a:rPr lang="en-US" sz="1600" dirty="0" err="1"/>
              <a:t>în</a:t>
            </a:r>
            <a:r>
              <a:rPr lang="en-US" sz="1600" dirty="0"/>
              <a:t> T1, T2 </a:t>
            </a:r>
            <a:r>
              <a:rPr lang="ro-RO" sz="1600" dirty="0"/>
              <a:t>și T3</a:t>
            </a:r>
            <a:r>
              <a:rPr lang="en-US" sz="1600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D36C4E-1C33-497F-9AF3-4C0EFE36F129}"/>
              </a:ext>
            </a:extLst>
          </p:cNvPr>
          <p:cNvSpPr txBox="1"/>
          <p:nvPr/>
        </p:nvSpPr>
        <p:spPr>
          <a:xfrm>
            <a:off x="4189412" y="5943600"/>
            <a:ext cx="381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=&gt; Decision Coverage = 100%</a:t>
            </a:r>
          </a:p>
        </p:txBody>
      </p:sp>
    </p:spTree>
    <p:extLst>
      <p:ext uri="{BB962C8B-B14F-4D97-AF65-F5344CB8AC3E}">
        <p14:creationId xmlns:p14="http://schemas.microsoft.com/office/powerpoint/2010/main" val="2714152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B7F56-FF98-472A-8830-32E7CE39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 Coverage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9680A112-0D39-4540-ACBE-7FA834C3B6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8625582"/>
              </p:ext>
            </p:extLst>
          </p:nvPr>
        </p:nvGraphicFramePr>
        <p:xfrm>
          <a:off x="1218882" y="1548285"/>
          <a:ext cx="944721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602">
                  <a:extLst>
                    <a:ext uri="{9D8B030D-6E8A-4147-A177-3AD203B41FA5}">
                      <a16:colId xmlns:a16="http://schemas.microsoft.com/office/drawing/2014/main" val="2707336578"/>
                    </a:ext>
                  </a:extLst>
                </a:gridCol>
                <a:gridCol w="792886">
                  <a:extLst>
                    <a:ext uri="{9D8B030D-6E8A-4147-A177-3AD203B41FA5}">
                      <a16:colId xmlns:a16="http://schemas.microsoft.com/office/drawing/2014/main" val="3935501225"/>
                    </a:ext>
                  </a:extLst>
                </a:gridCol>
                <a:gridCol w="1508841">
                  <a:extLst>
                    <a:ext uri="{9D8B030D-6E8A-4147-A177-3AD203B41FA5}">
                      <a16:colId xmlns:a16="http://schemas.microsoft.com/office/drawing/2014/main" val="170040987"/>
                    </a:ext>
                  </a:extLst>
                </a:gridCol>
                <a:gridCol w="1826491">
                  <a:extLst>
                    <a:ext uri="{9D8B030D-6E8A-4147-A177-3AD203B41FA5}">
                      <a16:colId xmlns:a16="http://schemas.microsoft.com/office/drawing/2014/main" val="414415758"/>
                    </a:ext>
                  </a:extLst>
                </a:gridCol>
                <a:gridCol w="1111777">
                  <a:extLst>
                    <a:ext uri="{9D8B030D-6E8A-4147-A177-3AD203B41FA5}">
                      <a16:colId xmlns:a16="http://schemas.microsoft.com/office/drawing/2014/main" val="60134469"/>
                    </a:ext>
                  </a:extLst>
                </a:gridCol>
                <a:gridCol w="1508013">
                  <a:extLst>
                    <a:ext uri="{9D8B030D-6E8A-4147-A177-3AD203B41FA5}">
                      <a16:colId xmlns:a16="http://schemas.microsoft.com/office/drawing/2014/main" val="3860888097"/>
                    </a:ext>
                  </a:extLst>
                </a:gridCol>
                <a:gridCol w="1349602">
                  <a:extLst>
                    <a:ext uri="{9D8B030D-6E8A-4147-A177-3AD203B41FA5}">
                      <a16:colId xmlns:a16="http://schemas.microsoft.com/office/drawing/2014/main" val="70553521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attendance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bonus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rezultat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34616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  <a:r>
                        <a:rPr lang="ro-RO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5, </a:t>
                      </a:r>
                      <a:r>
                        <a:rPr lang="en-US" dirty="0"/>
                        <a:t>5</a:t>
                      </a:r>
                      <a:r>
                        <a:rPr lang="ro-RO" dirty="0"/>
                        <a:t>, </a:t>
                      </a:r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66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Y</a:t>
                      </a:r>
                      <a:r>
                        <a:rPr lang="en-US" dirty="0"/>
                        <a:t> -&gt;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TRECUT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7265434"/>
                  </a:ext>
                </a:extLst>
              </a:tr>
            </a:tbl>
          </a:graphicData>
        </a:graphic>
      </p:graphicFrame>
      <p:graphicFrame>
        <p:nvGraphicFramePr>
          <p:cNvPr id="12" name="Table 12">
            <a:extLst>
              <a:ext uri="{FF2B5EF4-FFF2-40B4-BE49-F238E27FC236}">
                <a16:creationId xmlns:a16="http://schemas.microsoft.com/office/drawing/2014/main" id="{8109411C-D5A6-4F65-97A8-FC1F3ED18C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96427630"/>
              </p:ext>
            </p:extLst>
          </p:nvPr>
        </p:nvGraphicFramePr>
        <p:xfrm>
          <a:off x="1218882" y="2595563"/>
          <a:ext cx="944721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0902">
                  <a:extLst>
                    <a:ext uri="{9D8B030D-6E8A-4147-A177-3AD203B41FA5}">
                      <a16:colId xmlns:a16="http://schemas.microsoft.com/office/drawing/2014/main" val="2602964012"/>
                    </a:ext>
                  </a:extLst>
                </a:gridCol>
                <a:gridCol w="1180902">
                  <a:extLst>
                    <a:ext uri="{9D8B030D-6E8A-4147-A177-3AD203B41FA5}">
                      <a16:colId xmlns:a16="http://schemas.microsoft.com/office/drawing/2014/main" val="4171115477"/>
                    </a:ext>
                  </a:extLst>
                </a:gridCol>
                <a:gridCol w="1180902">
                  <a:extLst>
                    <a:ext uri="{9D8B030D-6E8A-4147-A177-3AD203B41FA5}">
                      <a16:colId xmlns:a16="http://schemas.microsoft.com/office/drawing/2014/main" val="3537982907"/>
                    </a:ext>
                  </a:extLst>
                </a:gridCol>
                <a:gridCol w="1180902">
                  <a:extLst>
                    <a:ext uri="{9D8B030D-6E8A-4147-A177-3AD203B41FA5}">
                      <a16:colId xmlns:a16="http://schemas.microsoft.com/office/drawing/2014/main" val="2234112421"/>
                    </a:ext>
                  </a:extLst>
                </a:gridCol>
                <a:gridCol w="1180902">
                  <a:extLst>
                    <a:ext uri="{9D8B030D-6E8A-4147-A177-3AD203B41FA5}">
                      <a16:colId xmlns:a16="http://schemas.microsoft.com/office/drawing/2014/main" val="2092754729"/>
                    </a:ext>
                  </a:extLst>
                </a:gridCol>
                <a:gridCol w="1180902">
                  <a:extLst>
                    <a:ext uri="{9D8B030D-6E8A-4147-A177-3AD203B41FA5}">
                      <a16:colId xmlns:a16="http://schemas.microsoft.com/office/drawing/2014/main" val="2277815301"/>
                    </a:ext>
                  </a:extLst>
                </a:gridCol>
                <a:gridCol w="1180902">
                  <a:extLst>
                    <a:ext uri="{9D8B030D-6E8A-4147-A177-3AD203B41FA5}">
                      <a16:colId xmlns:a16="http://schemas.microsoft.com/office/drawing/2014/main" val="3651106338"/>
                    </a:ext>
                  </a:extLst>
                </a:gridCol>
                <a:gridCol w="1180902">
                  <a:extLst>
                    <a:ext uri="{9D8B030D-6E8A-4147-A177-3AD203B41FA5}">
                      <a16:colId xmlns:a16="http://schemas.microsoft.com/office/drawing/2014/main" val="272811003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TEST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22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-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-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9622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0543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9056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55465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23DC503-0AF1-4B2D-8225-212D2BCCC20C}"/>
              </a:ext>
            </a:extLst>
          </p:cNvPr>
          <p:cNvSpPr txBox="1"/>
          <p:nvPr/>
        </p:nvSpPr>
        <p:spPr>
          <a:xfrm>
            <a:off x="1218882" y="4964756"/>
            <a:ext cx="94472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 err="1"/>
              <a:t>Testele</a:t>
            </a:r>
            <a:r>
              <a:rPr lang="en-US" sz="1200" dirty="0"/>
              <a:t> T1–T4 nu </a:t>
            </a:r>
            <a:r>
              <a:rPr lang="en-US" sz="1200" dirty="0" err="1"/>
              <a:t>acoperă</a:t>
            </a:r>
            <a:r>
              <a:rPr lang="en-US" sz="1200" dirty="0"/>
              <a:t> </a:t>
            </a:r>
            <a:r>
              <a:rPr lang="en-US" sz="1200" dirty="0" err="1"/>
              <a:t>condiția</a:t>
            </a:r>
            <a:r>
              <a:rPr lang="en-US" sz="1200" dirty="0"/>
              <a:t> C7 (response == </a:t>
            </a:r>
            <a:r>
              <a:rPr lang="en-US" sz="1050" dirty="0"/>
              <a:t>'Y'</a:t>
            </a:r>
            <a:r>
              <a:rPr lang="en-US" sz="1200" dirty="0"/>
              <a:t>),</a:t>
            </a:r>
            <a:r>
              <a:rPr lang="ro-RO" sz="1200" dirty="0"/>
              <a:t> </a:t>
            </a:r>
            <a:r>
              <a:rPr lang="en-US" sz="1200" dirty="0"/>
              <a:t>de </a:t>
            </a:r>
            <a:r>
              <a:rPr lang="en-US" sz="1200" dirty="0" err="1"/>
              <a:t>aceea</a:t>
            </a:r>
            <a:r>
              <a:rPr lang="en-US" sz="1200" dirty="0"/>
              <a:t> a </a:t>
            </a:r>
            <a:r>
              <a:rPr lang="en-US" sz="1200" dirty="0" err="1"/>
              <a:t>fost</a:t>
            </a:r>
            <a:r>
              <a:rPr lang="en-US" sz="1200" dirty="0"/>
              <a:t> </a:t>
            </a:r>
            <a:r>
              <a:rPr lang="en-US" sz="1200" dirty="0" err="1"/>
              <a:t>introdus</a:t>
            </a:r>
            <a:r>
              <a:rPr lang="en-US" sz="1200" dirty="0"/>
              <a:t> </a:t>
            </a:r>
            <a:r>
              <a:rPr lang="en-US" sz="1200" dirty="0" err="1"/>
              <a:t>testul</a:t>
            </a:r>
            <a:r>
              <a:rPr lang="en-US" sz="1200" dirty="0"/>
              <a:t> T5.</a:t>
            </a:r>
            <a:br>
              <a:rPr lang="en-US" sz="1200" dirty="0"/>
            </a:br>
            <a:r>
              <a:rPr lang="en-US" sz="1200" dirty="0" err="1"/>
              <a:t>Astfel</a:t>
            </a:r>
            <a:r>
              <a:rPr lang="en-US" sz="1200" dirty="0"/>
              <a:t>, </a:t>
            </a:r>
            <a:r>
              <a:rPr lang="en-US" sz="1200" dirty="0" err="1"/>
              <a:t>fiecare</a:t>
            </a:r>
            <a:r>
              <a:rPr lang="en-US" sz="1200" dirty="0"/>
              <a:t> </a:t>
            </a:r>
            <a:r>
              <a:rPr lang="en-US" sz="1200" dirty="0" err="1"/>
              <a:t>condiție</a:t>
            </a:r>
            <a:r>
              <a:rPr lang="en-US" sz="1200" dirty="0"/>
              <a:t> </a:t>
            </a:r>
            <a:r>
              <a:rPr lang="en-US" sz="1200" dirty="0" err="1"/>
              <a:t>este</a:t>
            </a:r>
            <a:r>
              <a:rPr lang="en-US" sz="1200" dirty="0"/>
              <a:t> </a:t>
            </a:r>
            <a:r>
              <a:rPr lang="en-US" sz="1200" dirty="0" err="1"/>
              <a:t>evaluată</a:t>
            </a:r>
            <a:r>
              <a:rPr lang="en-US" sz="1200" dirty="0"/>
              <a:t> </a:t>
            </a:r>
            <a:r>
              <a:rPr lang="en-US" sz="1200" dirty="0" err="1"/>
              <a:t>atât</a:t>
            </a:r>
            <a:r>
              <a:rPr lang="en-US" sz="1200" dirty="0"/>
              <a:t> TRUE </a:t>
            </a:r>
            <a:r>
              <a:rPr lang="en-US" sz="1200" dirty="0" err="1"/>
              <a:t>cât</a:t>
            </a:r>
            <a:r>
              <a:rPr lang="en-US" sz="1200" dirty="0"/>
              <a:t> </a:t>
            </a:r>
            <a:r>
              <a:rPr lang="en-US" sz="1200" dirty="0" err="1"/>
              <a:t>și</a:t>
            </a:r>
            <a:r>
              <a:rPr lang="en-US" sz="1200" dirty="0"/>
              <a:t> FALSE.</a:t>
            </a:r>
            <a:endParaRPr 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90C33A-7A11-45D5-B45C-9F63E506ECEE}"/>
              </a:ext>
            </a:extLst>
          </p:cNvPr>
          <p:cNvSpPr txBox="1"/>
          <p:nvPr/>
        </p:nvSpPr>
        <p:spPr>
          <a:xfrm>
            <a:off x="4037012" y="5509614"/>
            <a:ext cx="4114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=&gt; Condition Coverage</a:t>
            </a:r>
            <a:r>
              <a:rPr lang="ro-RO" dirty="0"/>
              <a:t> </a:t>
            </a:r>
            <a:r>
              <a:rPr lang="en-US" dirty="0"/>
              <a:t>= 100%</a:t>
            </a:r>
          </a:p>
        </p:txBody>
      </p:sp>
    </p:spTree>
    <p:extLst>
      <p:ext uri="{BB962C8B-B14F-4D97-AF65-F5344CB8AC3E}">
        <p14:creationId xmlns:p14="http://schemas.microsoft.com/office/powerpoint/2010/main" val="3003956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B7F56-FF98-472A-8830-32E7CE39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MC/DC Coverage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9680A112-0D39-4540-ACBE-7FA834C3B6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21073632"/>
              </p:ext>
            </p:extLst>
          </p:nvPr>
        </p:nvGraphicFramePr>
        <p:xfrm>
          <a:off x="1218883" y="2438400"/>
          <a:ext cx="94472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602">
                  <a:extLst>
                    <a:ext uri="{9D8B030D-6E8A-4147-A177-3AD203B41FA5}">
                      <a16:colId xmlns:a16="http://schemas.microsoft.com/office/drawing/2014/main" val="2707336578"/>
                    </a:ext>
                  </a:extLst>
                </a:gridCol>
                <a:gridCol w="792886">
                  <a:extLst>
                    <a:ext uri="{9D8B030D-6E8A-4147-A177-3AD203B41FA5}">
                      <a16:colId xmlns:a16="http://schemas.microsoft.com/office/drawing/2014/main" val="3935501225"/>
                    </a:ext>
                  </a:extLst>
                </a:gridCol>
                <a:gridCol w="1508841">
                  <a:extLst>
                    <a:ext uri="{9D8B030D-6E8A-4147-A177-3AD203B41FA5}">
                      <a16:colId xmlns:a16="http://schemas.microsoft.com/office/drawing/2014/main" val="170040987"/>
                    </a:ext>
                  </a:extLst>
                </a:gridCol>
                <a:gridCol w="1826491">
                  <a:extLst>
                    <a:ext uri="{9D8B030D-6E8A-4147-A177-3AD203B41FA5}">
                      <a16:colId xmlns:a16="http://schemas.microsoft.com/office/drawing/2014/main" val="414415758"/>
                    </a:ext>
                  </a:extLst>
                </a:gridCol>
                <a:gridCol w="1111777">
                  <a:extLst>
                    <a:ext uri="{9D8B030D-6E8A-4147-A177-3AD203B41FA5}">
                      <a16:colId xmlns:a16="http://schemas.microsoft.com/office/drawing/2014/main" val="60134469"/>
                    </a:ext>
                  </a:extLst>
                </a:gridCol>
                <a:gridCol w="1508013">
                  <a:extLst>
                    <a:ext uri="{9D8B030D-6E8A-4147-A177-3AD203B41FA5}">
                      <a16:colId xmlns:a16="http://schemas.microsoft.com/office/drawing/2014/main" val="3860888097"/>
                    </a:ext>
                  </a:extLst>
                </a:gridCol>
                <a:gridCol w="1349602">
                  <a:extLst>
                    <a:ext uri="{9D8B030D-6E8A-4147-A177-3AD203B41FA5}">
                      <a16:colId xmlns:a16="http://schemas.microsoft.com/office/drawing/2014/main" val="70553521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attendance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bonus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rezultat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34616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5, </a:t>
                      </a:r>
                      <a:r>
                        <a:rPr lang="en-US" dirty="0"/>
                        <a:t>6</a:t>
                      </a:r>
                      <a:r>
                        <a:rPr lang="ro-RO" dirty="0"/>
                        <a:t>, </a:t>
                      </a:r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PICAT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726543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10, 10, 10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TRECUT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6494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  <a:r>
                        <a:rPr lang="ro-RO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10, 10, 10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 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TRECUT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206894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58855512-4D95-416E-AF28-05C1EF6E60F8}"/>
              </a:ext>
            </a:extLst>
          </p:cNvPr>
          <p:cNvSpPr txBox="1"/>
          <p:nvPr/>
        </p:nvSpPr>
        <p:spPr>
          <a:xfrm>
            <a:off x="1183428" y="1976735"/>
            <a:ext cx="6108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Teste </a:t>
            </a:r>
            <a:r>
              <a:rPr lang="en-US" dirty="0" err="1"/>
              <a:t>noi</a:t>
            </a:r>
            <a:r>
              <a:rPr lang="en-US" dirty="0"/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2E146B-F596-4606-BC98-EA03099ABD05}"/>
              </a:ext>
            </a:extLst>
          </p:cNvPr>
          <p:cNvSpPr txBox="1"/>
          <p:nvPr/>
        </p:nvSpPr>
        <p:spPr>
          <a:xfrm>
            <a:off x="1065211" y="4394201"/>
            <a:ext cx="960088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 err="1"/>
              <a:t>Pentru</a:t>
            </a:r>
            <a:r>
              <a:rPr lang="en-US" sz="1800" dirty="0"/>
              <a:t> MC/DC, </a:t>
            </a:r>
            <a:r>
              <a:rPr lang="en-US" sz="1800" dirty="0" err="1"/>
              <a:t>fiecare</a:t>
            </a:r>
            <a:r>
              <a:rPr lang="en-US" sz="1800" dirty="0"/>
              <a:t> </a:t>
            </a:r>
            <a:r>
              <a:rPr lang="en-US" sz="1800" dirty="0" err="1"/>
              <a:t>condiție</a:t>
            </a:r>
            <a:r>
              <a:rPr lang="en-US" sz="1800" dirty="0"/>
              <a:t> </a:t>
            </a:r>
            <a:r>
              <a:rPr lang="en-US" sz="1800" dirty="0" err="1"/>
              <a:t>trebuie</a:t>
            </a:r>
            <a:r>
              <a:rPr lang="en-US" sz="1800" dirty="0"/>
              <a:t> </a:t>
            </a:r>
            <a:r>
              <a:rPr lang="en-US" sz="1800" dirty="0" err="1"/>
              <a:t>să</a:t>
            </a:r>
            <a:r>
              <a:rPr lang="en-US" sz="1800" dirty="0"/>
              <a:t> </a:t>
            </a:r>
            <a:r>
              <a:rPr lang="en-US" sz="1800" dirty="0" err="1"/>
              <a:t>influențeze</a:t>
            </a:r>
            <a:r>
              <a:rPr lang="en-US" sz="1800" dirty="0"/>
              <a:t> independent </a:t>
            </a:r>
            <a:r>
              <a:rPr lang="en-US" sz="1800" dirty="0" err="1"/>
              <a:t>rezultatul</a:t>
            </a:r>
            <a:r>
              <a:rPr lang="en-US" sz="1800" dirty="0"/>
              <a:t> </a:t>
            </a:r>
            <a:r>
              <a:rPr lang="en-US" sz="1800" dirty="0" err="1"/>
              <a:t>deciziei</a:t>
            </a:r>
            <a:r>
              <a:rPr lang="en-US" sz="1800" dirty="0"/>
              <a:t>.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 err="1"/>
              <a:t>Pentru</a:t>
            </a:r>
            <a:r>
              <a:rPr lang="en-US" sz="1800" dirty="0"/>
              <a:t> </a:t>
            </a:r>
            <a:r>
              <a:rPr lang="en-US" sz="1800" dirty="0" err="1"/>
              <a:t>aceasta</a:t>
            </a:r>
            <a:r>
              <a:rPr lang="en-US" sz="1800" dirty="0"/>
              <a:t>, am </a:t>
            </a:r>
            <a:r>
              <a:rPr lang="en-US" sz="1800" dirty="0" err="1"/>
              <a:t>introdus</a:t>
            </a:r>
            <a:r>
              <a:rPr lang="en-US" sz="1800" dirty="0"/>
              <a:t> teste </a:t>
            </a:r>
            <a:r>
              <a:rPr lang="en-US" sz="1800" dirty="0" err="1"/>
              <a:t>suplimentare</a:t>
            </a:r>
            <a:r>
              <a:rPr lang="en-US" sz="1800" dirty="0"/>
              <a:t> (T6, T7, T8), </a:t>
            </a:r>
            <a:r>
              <a:rPr lang="en-US" sz="1800" dirty="0" err="1"/>
              <a:t>astfel</a:t>
            </a:r>
            <a:r>
              <a:rPr lang="en-US" sz="1800" dirty="0"/>
              <a:t> </a:t>
            </a:r>
            <a:r>
              <a:rPr lang="en-US" sz="1800" dirty="0" err="1"/>
              <a:t>încât</a:t>
            </a:r>
            <a:r>
              <a:rPr lang="en-US" sz="1800" dirty="0"/>
              <a:t> </a:t>
            </a:r>
            <a:r>
              <a:rPr lang="en-US" sz="1800" dirty="0" err="1"/>
              <a:t>să</a:t>
            </a:r>
            <a:r>
              <a:rPr lang="en-US" sz="1800" dirty="0"/>
              <a:t> </a:t>
            </a:r>
            <a:r>
              <a:rPr lang="en-US" sz="1800" dirty="0" err="1"/>
              <a:t>putem</a:t>
            </a:r>
            <a:r>
              <a:rPr lang="en-US" sz="1800" dirty="0"/>
              <a:t> </a:t>
            </a:r>
            <a:r>
              <a:rPr lang="en-US" sz="1800" dirty="0" err="1"/>
              <a:t>modifica</a:t>
            </a:r>
            <a:r>
              <a:rPr lang="en-US" sz="1800" dirty="0"/>
              <a:t> o </a:t>
            </a:r>
            <a:r>
              <a:rPr lang="en-US" sz="1800" dirty="0" err="1"/>
              <a:t>singură</a:t>
            </a:r>
            <a:r>
              <a:rPr lang="en-US" sz="1800" dirty="0"/>
              <a:t> </a:t>
            </a:r>
            <a:r>
              <a:rPr lang="en-US" sz="1800" dirty="0" err="1"/>
              <a:t>condiție</a:t>
            </a:r>
            <a:r>
              <a:rPr lang="en-US" sz="1800" dirty="0"/>
              <a:t> </a:t>
            </a:r>
            <a:r>
              <a:rPr lang="en-US" sz="1800" dirty="0" err="1"/>
              <a:t>și</a:t>
            </a:r>
            <a:r>
              <a:rPr lang="en-US" sz="1800" dirty="0"/>
              <a:t> </a:t>
            </a:r>
            <a:r>
              <a:rPr lang="en-US" sz="1800" dirty="0" err="1"/>
              <a:t>să</a:t>
            </a:r>
            <a:r>
              <a:rPr lang="en-US" sz="1800" dirty="0"/>
              <a:t> </a:t>
            </a:r>
            <a:r>
              <a:rPr lang="en-US" sz="1800" dirty="0" err="1"/>
              <a:t>observăm</a:t>
            </a:r>
            <a:r>
              <a:rPr lang="en-US" sz="1800" dirty="0"/>
              <a:t> </a:t>
            </a:r>
            <a:r>
              <a:rPr lang="en-US" sz="1800" dirty="0" err="1"/>
              <a:t>schimbarea</a:t>
            </a:r>
            <a:r>
              <a:rPr lang="en-US" sz="1800" dirty="0"/>
              <a:t> </a:t>
            </a:r>
            <a:r>
              <a:rPr lang="en-US" sz="1800" dirty="0" err="1"/>
              <a:t>rezultatului</a:t>
            </a:r>
            <a:r>
              <a:rPr lang="en-US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3217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B7F56-FF98-472A-8830-32E7CE39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MC/DC Coverage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F0290183-DC93-45C8-8870-341281C9DE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1578118"/>
              </p:ext>
            </p:extLst>
          </p:nvPr>
        </p:nvGraphicFramePr>
        <p:xfrm>
          <a:off x="1219200" y="1701800"/>
          <a:ext cx="10360024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006">
                  <a:extLst>
                    <a:ext uri="{9D8B030D-6E8A-4147-A177-3AD203B41FA5}">
                      <a16:colId xmlns:a16="http://schemas.microsoft.com/office/drawing/2014/main" val="228316442"/>
                    </a:ext>
                  </a:extLst>
                </a:gridCol>
                <a:gridCol w="2590006">
                  <a:extLst>
                    <a:ext uri="{9D8B030D-6E8A-4147-A177-3AD203B41FA5}">
                      <a16:colId xmlns:a16="http://schemas.microsoft.com/office/drawing/2014/main" val="2269083151"/>
                    </a:ext>
                  </a:extLst>
                </a:gridCol>
                <a:gridCol w="2590006">
                  <a:extLst>
                    <a:ext uri="{9D8B030D-6E8A-4147-A177-3AD203B41FA5}">
                      <a16:colId xmlns:a16="http://schemas.microsoft.com/office/drawing/2014/main" val="213448093"/>
                    </a:ext>
                  </a:extLst>
                </a:gridCol>
                <a:gridCol w="2590006">
                  <a:extLst>
                    <a:ext uri="{9D8B030D-6E8A-4147-A177-3AD203B41FA5}">
                      <a16:colId xmlns:a16="http://schemas.microsoft.com/office/drawing/2014/main" val="3528486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Decizie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Condi</a:t>
                      </a:r>
                      <a:r>
                        <a:rPr lang="ro-RO" dirty="0"/>
                        <a:t>ție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Teste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Rezultat Diferit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7321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T1 vs 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0531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  <a:r>
                        <a:rPr lang="ro-RO" dirty="0"/>
                        <a:t>3</a:t>
                      </a:r>
                      <a:r>
                        <a:rPr lang="en-US" dirty="0"/>
                        <a:t> vs T</a:t>
                      </a:r>
                      <a:r>
                        <a:rPr lang="ro-RO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7221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D2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T2 vs 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9671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D2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T2 vs 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5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D2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T2 vs T8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6352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D3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T4 vs 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258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D3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T5 vs 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305228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7888F42-10FA-4516-8915-49A5C2FDD541}"/>
              </a:ext>
            </a:extLst>
          </p:cNvPr>
          <p:cNvSpPr txBox="1"/>
          <p:nvPr/>
        </p:nvSpPr>
        <p:spPr>
          <a:xfrm>
            <a:off x="4561602" y="5562600"/>
            <a:ext cx="36750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=&gt; MC/DC Coverage = 100%</a:t>
            </a:r>
          </a:p>
        </p:txBody>
      </p:sp>
    </p:spTree>
    <p:extLst>
      <p:ext uri="{BB962C8B-B14F-4D97-AF65-F5344CB8AC3E}">
        <p14:creationId xmlns:p14="http://schemas.microsoft.com/office/powerpoint/2010/main" val="1793297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76BC1-0EE6-4BC9-9A77-665D25AE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Testare</a:t>
            </a:r>
            <a:r>
              <a:rPr lang="en-US" dirty="0"/>
              <a:t> </a:t>
            </a:r>
            <a:r>
              <a:rPr lang="en-US" dirty="0" err="1"/>
              <a:t>automată</a:t>
            </a:r>
            <a:r>
              <a:rPr lang="en-US" dirty="0"/>
              <a:t> – JUnit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8C50D46-976C-4490-AED7-7667E6FC3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 err="1"/>
              <a:t>Testele</a:t>
            </a:r>
            <a:r>
              <a:rPr lang="en-US" sz="2000" dirty="0"/>
              <a:t> definite </a:t>
            </a:r>
            <a:r>
              <a:rPr lang="en-US" sz="2000" dirty="0" err="1"/>
              <a:t>în</a:t>
            </a:r>
            <a:r>
              <a:rPr lang="en-US" sz="2000" dirty="0"/>
              <a:t> </a:t>
            </a:r>
            <a:r>
              <a:rPr lang="en-US" sz="2000" dirty="0" err="1"/>
              <a:t>proiect</a:t>
            </a:r>
            <a:r>
              <a:rPr lang="en-US" sz="2000" dirty="0"/>
              <a:t> (T1–T8) au </a:t>
            </a:r>
            <a:r>
              <a:rPr lang="en-US" sz="2000" dirty="0" err="1"/>
              <a:t>fost</a:t>
            </a:r>
            <a:r>
              <a:rPr lang="en-US" sz="2000" dirty="0"/>
              <a:t> </a:t>
            </a:r>
            <a:r>
              <a:rPr lang="en-US" sz="2000" dirty="0" err="1"/>
              <a:t>implementate</a:t>
            </a:r>
            <a:r>
              <a:rPr lang="en-US" sz="2000" dirty="0"/>
              <a:t> </a:t>
            </a:r>
            <a:r>
              <a:rPr lang="en-US" sz="2000" dirty="0" err="1"/>
              <a:t>folosind</a:t>
            </a:r>
            <a:r>
              <a:rPr lang="en-US" sz="2000" dirty="0"/>
              <a:t> JUnit.</a:t>
            </a:r>
          </a:p>
          <a:p>
            <a:pPr marL="0" indent="0">
              <a:buNone/>
            </a:pPr>
            <a:br>
              <a:rPr lang="en-US" sz="2000" dirty="0"/>
            </a:br>
            <a:r>
              <a:rPr lang="en-US" sz="2000" dirty="0"/>
              <a:t>Au </a:t>
            </a:r>
            <a:r>
              <a:rPr lang="en-US" sz="2000" dirty="0" err="1"/>
              <a:t>fost</a:t>
            </a:r>
            <a:r>
              <a:rPr lang="en-US" sz="2000" dirty="0"/>
              <a:t> testate:</a:t>
            </a:r>
            <a:br>
              <a:rPr lang="en-US" sz="2000" dirty="0"/>
            </a:br>
            <a:r>
              <a:rPr lang="en-US" sz="2000" dirty="0"/>
              <a:t>- </a:t>
            </a:r>
            <a:r>
              <a:rPr lang="en-US" sz="2000" dirty="0" err="1"/>
              <a:t>logica</a:t>
            </a:r>
            <a:r>
              <a:rPr lang="en-US" sz="2000" dirty="0"/>
              <a:t> </a:t>
            </a:r>
            <a:r>
              <a:rPr lang="en-US" sz="2000" dirty="0" err="1"/>
              <a:t>principală</a:t>
            </a:r>
            <a:r>
              <a:rPr lang="en-US" sz="2000" dirty="0"/>
              <a:t> (</a:t>
            </a:r>
            <a:r>
              <a:rPr lang="en-US" sz="2000" dirty="0" err="1"/>
              <a:t>evaluateStudent</a:t>
            </a:r>
            <a:r>
              <a:rPr lang="en-US" sz="2000" dirty="0"/>
              <a:t>)</a:t>
            </a:r>
            <a:br>
              <a:rPr lang="en-US" sz="2000" dirty="0"/>
            </a:br>
            <a:r>
              <a:rPr lang="en-US" sz="2000" dirty="0"/>
              <a:t>- </a:t>
            </a:r>
            <a:r>
              <a:rPr lang="en-US" sz="2000" dirty="0" err="1"/>
              <a:t>condiția</a:t>
            </a:r>
            <a:r>
              <a:rPr lang="en-US" sz="2000" dirty="0"/>
              <a:t> de </a:t>
            </a:r>
            <a:r>
              <a:rPr lang="en-US" sz="2000" dirty="0" err="1"/>
              <a:t>continuare</a:t>
            </a:r>
            <a:r>
              <a:rPr lang="en-US" sz="2000" dirty="0"/>
              <a:t> a </a:t>
            </a:r>
            <a:r>
              <a:rPr lang="en-US" sz="2000" dirty="0" err="1"/>
              <a:t>aplicației</a:t>
            </a:r>
            <a:r>
              <a:rPr lang="en-US" sz="2000" dirty="0"/>
              <a:t> (</a:t>
            </a:r>
            <a:r>
              <a:rPr lang="en-US" sz="2000" dirty="0" err="1"/>
              <a:t>shouldContinue</a:t>
            </a:r>
            <a:r>
              <a:rPr lang="en-US" sz="2000" dirty="0"/>
              <a:t>)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 err="1"/>
              <a:t>Testele</a:t>
            </a:r>
            <a:r>
              <a:rPr lang="en-US" sz="2000" dirty="0"/>
              <a:t> </a:t>
            </a:r>
            <a:r>
              <a:rPr lang="en-US" sz="2000" dirty="0" err="1"/>
              <a:t>verifică</a:t>
            </a:r>
            <a:r>
              <a:rPr lang="en-US" sz="2000" dirty="0"/>
              <a:t> automat </a:t>
            </a:r>
            <a:r>
              <a:rPr lang="en-US" sz="2000" dirty="0" err="1"/>
              <a:t>corectitudinea</a:t>
            </a:r>
            <a:r>
              <a:rPr lang="en-US" sz="2000" dirty="0"/>
              <a:t> </a:t>
            </a:r>
            <a:r>
              <a:rPr lang="en-US" sz="2000" dirty="0" err="1"/>
              <a:t>rezultatelor</a:t>
            </a:r>
            <a:r>
              <a:rPr lang="en-US" sz="2000" dirty="0"/>
              <a:t> </a:t>
            </a:r>
            <a:r>
              <a:rPr lang="en-US" sz="2000" dirty="0" err="1"/>
              <a:t>folosind</a:t>
            </a:r>
            <a:r>
              <a:rPr lang="en-US" sz="2000" dirty="0"/>
              <a:t> </a:t>
            </a:r>
            <a:r>
              <a:rPr lang="en-US" sz="2000" dirty="0" err="1"/>
              <a:t>assertEquals</a:t>
            </a:r>
            <a:r>
              <a:rPr lang="en-US" sz="2000" dirty="0"/>
              <a:t> / </a:t>
            </a:r>
            <a:r>
              <a:rPr lang="en-US" sz="2000" dirty="0" err="1"/>
              <a:t>assertTrue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dirty="0"/>
              <a:t>Din </a:t>
            </a:r>
            <a:r>
              <a:rPr lang="en-US" sz="2000" dirty="0" err="1"/>
              <a:t>cauza</a:t>
            </a:r>
            <a:r>
              <a:rPr lang="en-US" sz="2000" dirty="0"/>
              <a:t> </a:t>
            </a:r>
            <a:r>
              <a:rPr lang="en-US" sz="2000" dirty="0" err="1"/>
              <a:t>naturii</a:t>
            </a:r>
            <a:r>
              <a:rPr lang="en-US" sz="2000" dirty="0"/>
              <a:t> interactive a </a:t>
            </a:r>
            <a:r>
              <a:rPr lang="en-US" sz="2000" dirty="0" err="1"/>
              <a:t>aplicației</a:t>
            </a:r>
            <a:r>
              <a:rPr lang="en-US" sz="2000" dirty="0"/>
              <a:t>, input-ul nu a </a:t>
            </a:r>
            <a:r>
              <a:rPr lang="en-US" sz="2000" dirty="0" err="1"/>
              <a:t>putut</a:t>
            </a:r>
            <a:r>
              <a:rPr lang="en-US" sz="2000" dirty="0"/>
              <a:t> fi </a:t>
            </a:r>
            <a:r>
              <a:rPr lang="en-US" sz="2000" dirty="0" err="1"/>
              <a:t>furnizat</a:t>
            </a:r>
            <a:r>
              <a:rPr lang="en-US" sz="2000" dirty="0"/>
              <a:t> </a:t>
            </a:r>
            <a:r>
              <a:rPr lang="en-US" sz="2000" dirty="0" err="1"/>
              <a:t>în</a:t>
            </a:r>
            <a:r>
              <a:rPr lang="en-US" sz="2000" dirty="0"/>
              <a:t> </a:t>
            </a:r>
            <a:r>
              <a:rPr lang="en-US" sz="2000" dirty="0" err="1"/>
              <a:t>aceeași</a:t>
            </a:r>
            <a:r>
              <a:rPr lang="en-US" sz="2000" dirty="0"/>
              <a:t> </a:t>
            </a:r>
            <a:r>
              <a:rPr lang="en-US" sz="2000" dirty="0" err="1"/>
              <a:t>formă</a:t>
            </a:r>
            <a:r>
              <a:rPr lang="en-US" sz="2000" dirty="0"/>
              <a:t> ca </a:t>
            </a:r>
            <a:r>
              <a:rPr lang="en-US" sz="2000" dirty="0" err="1"/>
              <a:t>în</a:t>
            </a:r>
            <a:r>
              <a:rPr lang="en-US" sz="2000" dirty="0"/>
              <a:t> </a:t>
            </a:r>
            <a:r>
              <a:rPr lang="en-US" sz="2000" dirty="0" err="1"/>
              <a:t>prezentarea</a:t>
            </a:r>
            <a:r>
              <a:rPr lang="en-US" sz="2000" dirty="0"/>
              <a:t> </a:t>
            </a:r>
            <a:r>
              <a:rPr lang="en-US" sz="2000" dirty="0" err="1"/>
              <a:t>teoretică</a:t>
            </a:r>
            <a:r>
              <a:rPr lang="en-US" sz="2000" dirty="0"/>
              <a:t> (n, note, attendance, bonus, response). </a:t>
            </a:r>
            <a:endParaRPr lang="ro-RO" sz="2000" dirty="0"/>
          </a:p>
          <a:p>
            <a:pPr marL="0" indent="0">
              <a:buNone/>
            </a:pPr>
            <a:r>
              <a:rPr lang="ro-RO" sz="2000" dirty="0"/>
              <a:t>Prin urmare, componentele aplicației au fost testate separat, fiecare metodă fiind validată individual, păstrând aceeași logică definită în testele T1–T8.</a:t>
            </a:r>
          </a:p>
          <a:p>
            <a:pPr marL="0" indent="0">
              <a:buNone/>
            </a:pPr>
            <a:r>
              <a:rPr lang="ro-RO" sz="2000" dirty="0"/>
              <a:t>Testele se află în fișierele </a:t>
            </a:r>
            <a:r>
              <a:rPr lang="ro-RO" sz="2000" dirty="0" err="1"/>
              <a:t>MainTest</a:t>
            </a:r>
            <a:r>
              <a:rPr lang="ro-RO" sz="2000" dirty="0"/>
              <a:t> și </a:t>
            </a:r>
            <a:r>
              <a:rPr lang="ro-RO" sz="2000" dirty="0" err="1"/>
              <a:t>GradeCheckTest</a:t>
            </a:r>
            <a:r>
              <a:rPr lang="ro-RO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40176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0E28C-D504-4A22-8C80-E94451DAE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3ED6B-70CB-414D-88FF-4F1FFE58F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Mutanții</a:t>
            </a:r>
            <a:r>
              <a:rPr lang="en-US" dirty="0"/>
              <a:t>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crea</a:t>
            </a:r>
            <a:r>
              <a:rPr lang="ro-RO" dirty="0"/>
              <a:t>ți</a:t>
            </a:r>
            <a:r>
              <a:rPr lang="en-US" dirty="0"/>
              <a:t> pe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metodei</a:t>
            </a:r>
            <a:r>
              <a:rPr lang="en-US" dirty="0"/>
              <a:t> </a:t>
            </a:r>
            <a:r>
              <a:rPr lang="en-US" dirty="0" err="1"/>
              <a:t>evaluateStudent</a:t>
            </a:r>
            <a:r>
              <a:rPr lang="en-US" dirty="0"/>
              <a:t> din </a:t>
            </a:r>
            <a:r>
              <a:rPr lang="en-US" dirty="0" err="1"/>
              <a:t>clasa</a:t>
            </a:r>
            <a:r>
              <a:rPr lang="en-US" dirty="0"/>
              <a:t> </a:t>
            </a:r>
            <a:r>
              <a:rPr lang="en-US" dirty="0" err="1"/>
              <a:t>GradeCheck</a:t>
            </a:r>
            <a:r>
              <a:rPr lang="en-US" dirty="0"/>
              <a:t>.</a:t>
            </a:r>
          </a:p>
          <a:p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modificările</a:t>
            </a:r>
            <a:r>
              <a:rPr lang="en-US" dirty="0"/>
              <a:t>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realizate</a:t>
            </a:r>
            <a:r>
              <a:rPr lang="en-US" dirty="0"/>
              <a:t> </a:t>
            </a:r>
            <a:r>
              <a:rPr lang="en-US" dirty="0" err="1"/>
              <a:t>asupra</a:t>
            </a:r>
            <a:r>
              <a:rPr lang="en-US" dirty="0"/>
              <a:t> </a:t>
            </a:r>
            <a:r>
              <a:rPr lang="en-US" dirty="0" err="1"/>
              <a:t>condiției</a:t>
            </a:r>
            <a:r>
              <a:rPr lang="en-US" dirty="0"/>
              <a:t> care </a:t>
            </a:r>
            <a:r>
              <a:rPr lang="en-US" dirty="0" err="1"/>
              <a:t>determină</a:t>
            </a:r>
            <a:r>
              <a:rPr lang="en-US" dirty="0"/>
              <a:t> </a:t>
            </a:r>
            <a:r>
              <a:rPr lang="en-US" dirty="0" err="1"/>
              <a:t>rezultatul</a:t>
            </a:r>
            <a:r>
              <a:rPr lang="en-US" dirty="0"/>
              <a:t> "PICAT".</a:t>
            </a:r>
            <a:endParaRPr lang="ro-RO" dirty="0"/>
          </a:p>
          <a:p>
            <a:r>
              <a:rPr lang="en-US" dirty="0"/>
              <a:t>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analizați</a:t>
            </a:r>
            <a:r>
              <a:rPr lang="en-US" dirty="0"/>
              <a:t> </a:t>
            </a:r>
            <a:r>
              <a:rPr lang="en-US" dirty="0" err="1"/>
              <a:t>trei</a:t>
            </a:r>
            <a:r>
              <a:rPr lang="en-US" dirty="0"/>
              <a:t> </a:t>
            </a:r>
            <a:r>
              <a:rPr lang="en-US" dirty="0" err="1"/>
              <a:t>tipuri</a:t>
            </a:r>
            <a:r>
              <a:rPr lang="en-US" dirty="0"/>
              <a:t> de </a:t>
            </a:r>
            <a:r>
              <a:rPr lang="en-US" dirty="0" err="1"/>
              <a:t>mutanți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- KILLED (</a:t>
            </a:r>
            <a:r>
              <a:rPr lang="en-US" dirty="0" err="1"/>
              <a:t>detectați</a:t>
            </a:r>
            <a:r>
              <a:rPr lang="en-US" dirty="0"/>
              <a:t> de teste)</a:t>
            </a:r>
            <a:br>
              <a:rPr lang="en-US" dirty="0"/>
            </a:br>
            <a:r>
              <a:rPr lang="en-US" dirty="0"/>
              <a:t>- </a:t>
            </a:r>
            <a:r>
              <a:rPr lang="ro-RO" dirty="0"/>
              <a:t>SURVIVED </a:t>
            </a:r>
            <a:r>
              <a:rPr lang="en-US" dirty="0"/>
              <a:t>(</a:t>
            </a:r>
            <a:r>
              <a:rPr lang="en-US" dirty="0" err="1"/>
              <a:t>nedetectați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- EQUIVALENT (</a:t>
            </a:r>
            <a:r>
              <a:rPr lang="en-US" dirty="0" err="1"/>
              <a:t>comportament</a:t>
            </a:r>
            <a:r>
              <a:rPr lang="en-US" dirty="0"/>
              <a:t> identic)</a:t>
            </a:r>
            <a:endParaRPr lang="ro-RO" dirty="0"/>
          </a:p>
          <a:p>
            <a:r>
              <a:rPr lang="en-US" dirty="0" err="1"/>
              <a:t>Scopul</a:t>
            </a:r>
            <a:r>
              <a:rPr lang="en-US" dirty="0"/>
              <a:t> a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evaluarea</a:t>
            </a:r>
            <a:r>
              <a:rPr lang="en-US" dirty="0"/>
              <a:t> </a:t>
            </a:r>
            <a:r>
              <a:rPr lang="en-US" dirty="0" err="1"/>
              <a:t>eficienței</a:t>
            </a:r>
            <a:r>
              <a:rPr lang="en-US" dirty="0"/>
              <a:t> </a:t>
            </a:r>
            <a:r>
              <a:rPr lang="en-US" dirty="0" err="1"/>
              <a:t>setului</a:t>
            </a:r>
            <a:r>
              <a:rPr lang="en-US" dirty="0"/>
              <a:t> de teste</a:t>
            </a:r>
            <a:r>
              <a:rPr lang="ro-RO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identificarea</a:t>
            </a:r>
            <a:r>
              <a:rPr lang="en-US" dirty="0"/>
              <a:t> </a:t>
            </a:r>
            <a:r>
              <a:rPr lang="en-US" dirty="0" err="1"/>
              <a:t>eventualelor</a:t>
            </a:r>
            <a:r>
              <a:rPr lang="en-US" dirty="0"/>
              <a:t> </a:t>
            </a:r>
            <a:r>
              <a:rPr lang="en-US" dirty="0" err="1"/>
              <a:t>puncte</a:t>
            </a:r>
            <a:r>
              <a:rPr lang="en-US" dirty="0"/>
              <a:t> </a:t>
            </a:r>
            <a:r>
              <a:rPr lang="en-US" dirty="0" err="1"/>
              <a:t>slabe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793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39475-A829-4B64-AF16-91699C33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 err="1"/>
              <a:t>GradeCheckMutantKilled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8A5CC3-8D86-4BDD-BD6E-21C9CD6FEB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47748" y="1706879"/>
            <a:ext cx="4723128" cy="122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err="1"/>
              <a:t>Operatorul</a:t>
            </a:r>
            <a:r>
              <a:rPr lang="en-US" sz="2000" dirty="0"/>
              <a:t> logic a </a:t>
            </a:r>
            <a:r>
              <a:rPr lang="en-US" sz="2000" dirty="0" err="1"/>
              <a:t>fost</a:t>
            </a:r>
            <a:r>
              <a:rPr lang="en-US" sz="2000" dirty="0"/>
              <a:t> </a:t>
            </a:r>
            <a:r>
              <a:rPr lang="en-US" sz="2000" dirty="0" err="1"/>
              <a:t>modificat</a:t>
            </a:r>
            <a:r>
              <a:rPr lang="en-US" sz="2000" dirty="0"/>
              <a:t> din OR </a:t>
            </a:r>
            <a:r>
              <a:rPr lang="en-US" sz="2000" dirty="0" err="1"/>
              <a:t>în</a:t>
            </a:r>
            <a:r>
              <a:rPr lang="en-US" sz="2000" dirty="0"/>
              <a:t> AND:</a:t>
            </a:r>
            <a:br>
              <a:rPr lang="en-US" sz="2000" dirty="0"/>
            </a:br>
            <a:r>
              <a:rPr lang="en-US" sz="2000" dirty="0"/>
              <a:t>(average &lt; 5 || attendance &lt; 50) → (average &lt; 5 &amp;&amp; attendance &lt; 50)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03D1ABD-5713-4017-BA52-E047629A330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447748" y="3122190"/>
            <a:ext cx="4646664" cy="2907991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F2A8F09-57DB-4FAE-BEA6-723523237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674" y="1842373"/>
            <a:ext cx="4458476" cy="21769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D54C3B9-9286-4AFA-8E73-507D5801928E}"/>
              </a:ext>
            </a:extLst>
          </p:cNvPr>
          <p:cNvSpPr txBox="1"/>
          <p:nvPr/>
        </p:nvSpPr>
        <p:spPr>
          <a:xfrm>
            <a:off x="7168674" y="4724400"/>
            <a:ext cx="435373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/>
              <a:t>Rulând</a:t>
            </a:r>
            <a:r>
              <a:rPr lang="en-US" sz="2000" dirty="0"/>
              <a:t> </a:t>
            </a:r>
            <a:r>
              <a:rPr lang="en-US" sz="2000" dirty="0" err="1"/>
              <a:t>același</a:t>
            </a:r>
            <a:r>
              <a:rPr lang="en-US" sz="2000" dirty="0"/>
              <a:t> set de teste </a:t>
            </a:r>
            <a:r>
              <a:rPr lang="en-US" sz="2000" dirty="0" err="1"/>
              <a:t>observăm</a:t>
            </a:r>
            <a:r>
              <a:rPr lang="en-US" sz="2000" dirty="0"/>
              <a:t> </a:t>
            </a:r>
            <a:r>
              <a:rPr lang="en-US" sz="2000" dirty="0" err="1"/>
              <a:t>că</a:t>
            </a:r>
            <a:r>
              <a:rPr lang="en-US" sz="2000" dirty="0"/>
              <a:t> </a:t>
            </a:r>
            <a:r>
              <a:rPr lang="en-US" sz="2000" dirty="0" err="1"/>
              <a:t>mutantul</a:t>
            </a:r>
            <a:r>
              <a:rPr lang="en-US" sz="2000" dirty="0"/>
              <a:t> </a:t>
            </a:r>
            <a:r>
              <a:rPr lang="en-US" sz="2000" dirty="0" err="1"/>
              <a:t>este</a:t>
            </a:r>
            <a:r>
              <a:rPr lang="en-US" sz="2000" dirty="0"/>
              <a:t> </a:t>
            </a:r>
            <a:r>
              <a:rPr lang="en-US" sz="2000" dirty="0" err="1"/>
              <a:t>eliminat</a:t>
            </a:r>
            <a:r>
              <a:rPr lang="en-US" sz="2000" dirty="0"/>
              <a:t>. 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4B5E215-83CF-4696-8243-08D2F6BB2EF6}"/>
              </a:ext>
            </a:extLst>
          </p:cNvPr>
          <p:cNvCxnSpPr>
            <a:cxnSpLocks/>
          </p:cNvCxnSpPr>
          <p:nvPr/>
        </p:nvCxnSpPr>
        <p:spPr>
          <a:xfrm>
            <a:off x="6704012" y="1643910"/>
            <a:ext cx="0" cy="422349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05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39475-A829-4B64-AF16-91699C33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 err="1"/>
              <a:t>GradeCheckMutantSurvived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8A5CC3-8D86-4BDD-BD6E-21C9CD6FEB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54682" y="1643910"/>
            <a:ext cx="5104127" cy="122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 err="1"/>
              <a:t>Operatorul</a:t>
            </a:r>
            <a:r>
              <a:rPr lang="en-US" sz="1400" dirty="0"/>
              <a:t> logic a </a:t>
            </a:r>
            <a:r>
              <a:rPr lang="en-US" sz="1400" dirty="0" err="1"/>
              <a:t>fost</a:t>
            </a:r>
            <a:r>
              <a:rPr lang="en-US" sz="1400" dirty="0"/>
              <a:t> </a:t>
            </a:r>
            <a:r>
              <a:rPr lang="en-US" sz="1400" dirty="0" err="1"/>
              <a:t>modificat</a:t>
            </a:r>
            <a:r>
              <a:rPr lang="en-US" sz="1400" dirty="0"/>
              <a:t> </a:t>
            </a:r>
            <a:r>
              <a:rPr lang="en-US" sz="1400" dirty="0" err="1"/>
              <a:t>astfel</a:t>
            </a:r>
            <a:r>
              <a:rPr lang="en-US" sz="1400" dirty="0"/>
              <a:t>:</a:t>
            </a:r>
            <a:br>
              <a:rPr lang="en-US" sz="1400" dirty="0"/>
            </a:br>
            <a:r>
              <a:rPr lang="en-US" sz="1400" dirty="0"/>
              <a:t>(attendance &lt; 50) → (attendance &lt; 51)</a:t>
            </a:r>
            <a:endParaRPr lang="ro-RO" sz="1400" dirty="0"/>
          </a:p>
          <a:p>
            <a:pPr marL="0" indent="0">
              <a:buNone/>
            </a:pPr>
            <a:r>
              <a:rPr lang="ro-RO" sz="1400" dirty="0"/>
              <a:t>Modificarea</a:t>
            </a:r>
            <a:r>
              <a:rPr lang="en-US" sz="1400" dirty="0"/>
              <a:t> </a:t>
            </a:r>
            <a:r>
              <a:rPr lang="en-US" sz="1400" dirty="0" err="1"/>
              <a:t>este</a:t>
            </a:r>
            <a:r>
              <a:rPr lang="en-US" sz="1400" dirty="0"/>
              <a:t> </a:t>
            </a:r>
            <a:r>
              <a:rPr lang="en-US" sz="1400" dirty="0" err="1"/>
              <a:t>minoră</a:t>
            </a:r>
            <a:r>
              <a:rPr lang="en-US" sz="1400" dirty="0"/>
              <a:t> </a:t>
            </a:r>
            <a:r>
              <a:rPr lang="en-US" sz="1400" dirty="0" err="1"/>
              <a:t>și</a:t>
            </a:r>
            <a:r>
              <a:rPr lang="en-US" sz="1400" dirty="0"/>
              <a:t> nu </a:t>
            </a:r>
            <a:r>
              <a:rPr lang="en-US" sz="1400" dirty="0" err="1"/>
              <a:t>afectează</a:t>
            </a:r>
            <a:r>
              <a:rPr lang="en-US" sz="1400" dirty="0"/>
              <a:t> </a:t>
            </a:r>
            <a:r>
              <a:rPr lang="en-US" sz="1400" dirty="0" err="1"/>
              <a:t>comportamentul</a:t>
            </a:r>
            <a:br>
              <a:rPr lang="en-US" sz="1400" dirty="0"/>
            </a:br>
            <a:r>
              <a:rPr lang="en-US" sz="1400" dirty="0" err="1"/>
              <a:t>pentru</a:t>
            </a:r>
            <a:r>
              <a:rPr lang="en-US" sz="1400" dirty="0"/>
              <a:t> </a:t>
            </a:r>
            <a:r>
              <a:rPr lang="en-US" sz="1400" dirty="0" err="1"/>
              <a:t>valorile</a:t>
            </a:r>
            <a:r>
              <a:rPr lang="en-US" sz="1400" dirty="0"/>
              <a:t> testate</a:t>
            </a:r>
            <a:r>
              <a:rPr lang="ro-RO" sz="1400" dirty="0"/>
              <a:t> întrucât niciun test nu are </a:t>
            </a:r>
            <a:r>
              <a:rPr lang="ro-RO" sz="1400" dirty="0" err="1"/>
              <a:t>attendance</a:t>
            </a:r>
            <a:r>
              <a:rPr lang="ro-RO" sz="1400" dirty="0"/>
              <a:t> =</a:t>
            </a:r>
            <a:r>
              <a:rPr lang="en-US" sz="1400" dirty="0"/>
              <a:t>=</a:t>
            </a:r>
            <a:r>
              <a:rPr lang="ro-RO" sz="1400" dirty="0"/>
              <a:t> 50.</a:t>
            </a:r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54C3B9-9286-4AFA-8E73-507D5801928E}"/>
              </a:ext>
            </a:extLst>
          </p:cNvPr>
          <p:cNvSpPr txBox="1"/>
          <p:nvPr/>
        </p:nvSpPr>
        <p:spPr>
          <a:xfrm>
            <a:off x="7192485" y="4648200"/>
            <a:ext cx="45407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/>
              <a:t>Rulând</a:t>
            </a:r>
            <a:r>
              <a:rPr lang="en-US" sz="1600" dirty="0"/>
              <a:t> </a:t>
            </a:r>
            <a:r>
              <a:rPr lang="en-US" sz="1600" dirty="0" err="1"/>
              <a:t>același</a:t>
            </a:r>
            <a:r>
              <a:rPr lang="en-US" sz="1600" dirty="0"/>
              <a:t> set de teste </a:t>
            </a:r>
            <a:r>
              <a:rPr lang="en-US" sz="1600" dirty="0" err="1"/>
              <a:t>observăm</a:t>
            </a:r>
            <a:r>
              <a:rPr lang="en-US" sz="1600" dirty="0"/>
              <a:t> </a:t>
            </a:r>
            <a:r>
              <a:rPr lang="en-US" sz="1600" dirty="0" err="1"/>
              <a:t>că</a:t>
            </a:r>
            <a:r>
              <a:rPr lang="en-US" sz="1600" dirty="0"/>
              <a:t> </a:t>
            </a:r>
            <a:r>
              <a:rPr lang="en-US" sz="1600" dirty="0" err="1"/>
              <a:t>toate</a:t>
            </a:r>
            <a:r>
              <a:rPr lang="en-US" sz="1600" dirty="0"/>
              <a:t> </a:t>
            </a:r>
            <a:r>
              <a:rPr lang="en-US" sz="1600" dirty="0" err="1"/>
              <a:t>testele</a:t>
            </a:r>
            <a:r>
              <a:rPr lang="en-US" sz="1600" dirty="0"/>
              <a:t> </a:t>
            </a:r>
            <a:r>
              <a:rPr lang="en-US" sz="1600" dirty="0" err="1"/>
              <a:t>trec</a:t>
            </a:r>
            <a:r>
              <a:rPr lang="en-US" sz="1600" dirty="0"/>
              <a:t> → </a:t>
            </a:r>
            <a:r>
              <a:rPr lang="en-US" sz="1600" dirty="0" err="1"/>
              <a:t>mutantul</a:t>
            </a:r>
            <a:r>
              <a:rPr lang="en-US" sz="1600" dirty="0"/>
              <a:t> </a:t>
            </a:r>
            <a:r>
              <a:rPr lang="en-US" sz="1600" dirty="0" err="1"/>
              <a:t>supraviețuiește</a:t>
            </a:r>
            <a:r>
              <a:rPr lang="en-US" sz="1600" dirty="0"/>
              <a:t>.</a:t>
            </a:r>
            <a:endParaRPr lang="en-US" sz="20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4B5E215-83CF-4696-8243-08D2F6BB2EF6}"/>
              </a:ext>
            </a:extLst>
          </p:cNvPr>
          <p:cNvCxnSpPr>
            <a:cxnSpLocks/>
          </p:cNvCxnSpPr>
          <p:nvPr/>
        </p:nvCxnSpPr>
        <p:spPr>
          <a:xfrm>
            <a:off x="6704012" y="1643910"/>
            <a:ext cx="0" cy="422349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36016C9F-9DA5-408B-87D8-C429A99FB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270" y="2930842"/>
            <a:ext cx="4638142" cy="298928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9EA2F9F-5627-4D27-BFD1-B6A21FE6C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486" y="1791511"/>
            <a:ext cx="4434522" cy="227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13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39475-A829-4B64-AF16-91699C33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 err="1"/>
              <a:t>GradeCheckMutant</a:t>
            </a:r>
            <a:r>
              <a:rPr lang="en-US" dirty="0"/>
              <a:t>Equivalent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8A5CC3-8D86-4BDD-BD6E-21C9CD6FEB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2643" y="1643910"/>
            <a:ext cx="4723128" cy="122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err="1"/>
              <a:t>Condiția</a:t>
            </a:r>
            <a:r>
              <a:rPr lang="en-US" sz="1600" dirty="0"/>
              <a:t> a </a:t>
            </a:r>
            <a:r>
              <a:rPr lang="en-US" sz="1600" dirty="0" err="1"/>
              <a:t>fost</a:t>
            </a:r>
            <a:r>
              <a:rPr lang="en-US" sz="1600" dirty="0"/>
              <a:t> </a:t>
            </a:r>
            <a:r>
              <a:rPr lang="en-US" sz="1600" dirty="0" err="1"/>
              <a:t>rescrisă</a:t>
            </a:r>
            <a:r>
              <a:rPr lang="en-US" sz="1600" dirty="0"/>
              <a:t> </a:t>
            </a:r>
            <a:r>
              <a:rPr lang="en-US" sz="1600" dirty="0" err="1"/>
              <a:t>într</a:t>
            </a:r>
            <a:r>
              <a:rPr lang="en-US" sz="1600" dirty="0"/>
              <a:t>-o </a:t>
            </a:r>
            <a:r>
              <a:rPr lang="en-US" sz="1600" dirty="0" err="1"/>
              <a:t>formă</a:t>
            </a:r>
            <a:r>
              <a:rPr lang="en-US" sz="1600" dirty="0"/>
              <a:t> logic </a:t>
            </a:r>
            <a:r>
              <a:rPr lang="en-US" sz="1600" dirty="0" err="1"/>
              <a:t>echivalentă</a:t>
            </a:r>
            <a:r>
              <a:rPr lang="en-US" sz="1600" dirty="0"/>
              <a:t>:</a:t>
            </a:r>
            <a:br>
              <a:rPr lang="en-US" sz="1600" dirty="0"/>
            </a:br>
            <a:r>
              <a:rPr lang="en-US" sz="1600" dirty="0"/>
              <a:t>(average &lt; 5) → !(average &gt;= 5)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 err="1"/>
              <a:t>Expresia</a:t>
            </a:r>
            <a:r>
              <a:rPr lang="en-US" sz="1600" dirty="0"/>
              <a:t> </a:t>
            </a:r>
            <a:r>
              <a:rPr lang="en-US" sz="1600" dirty="0" err="1"/>
              <a:t>este</a:t>
            </a:r>
            <a:r>
              <a:rPr lang="en-US" sz="1600" dirty="0"/>
              <a:t> </a:t>
            </a:r>
            <a:r>
              <a:rPr lang="en-US" sz="1600" dirty="0" err="1"/>
              <a:t>diferită</a:t>
            </a:r>
            <a:r>
              <a:rPr lang="en-US" sz="1600" dirty="0"/>
              <a:t> </a:t>
            </a:r>
            <a:r>
              <a:rPr lang="en-US" sz="1600" dirty="0" err="1"/>
              <a:t>sintactic</a:t>
            </a:r>
            <a:r>
              <a:rPr lang="en-US" sz="1600" dirty="0"/>
              <a:t>, </a:t>
            </a:r>
            <a:r>
              <a:rPr lang="en-US" sz="1600" dirty="0" err="1"/>
              <a:t>dar</a:t>
            </a:r>
            <a:r>
              <a:rPr lang="en-US" sz="1600" dirty="0"/>
              <a:t> </a:t>
            </a:r>
            <a:r>
              <a:rPr lang="en-US" sz="1600" dirty="0" err="1"/>
              <a:t>echivalentă</a:t>
            </a:r>
            <a:r>
              <a:rPr lang="en-US" sz="1600" dirty="0"/>
              <a:t> logic.</a:t>
            </a:r>
            <a:endParaRPr lang="en-US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54C3B9-9286-4AFA-8E73-507D5801928E}"/>
              </a:ext>
            </a:extLst>
          </p:cNvPr>
          <p:cNvSpPr txBox="1"/>
          <p:nvPr/>
        </p:nvSpPr>
        <p:spPr>
          <a:xfrm>
            <a:off x="7123736" y="4458571"/>
            <a:ext cx="45034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/>
              <a:t>Rulând</a:t>
            </a:r>
            <a:r>
              <a:rPr lang="en-US" sz="1600" dirty="0"/>
              <a:t> </a:t>
            </a:r>
            <a:r>
              <a:rPr lang="en-US" sz="1600" dirty="0" err="1"/>
              <a:t>același</a:t>
            </a:r>
            <a:r>
              <a:rPr lang="en-US" sz="1600" dirty="0"/>
              <a:t> set de teste </a:t>
            </a:r>
            <a:r>
              <a:rPr lang="en-US" sz="1600" dirty="0" err="1"/>
              <a:t>observăm</a:t>
            </a:r>
            <a:r>
              <a:rPr lang="en-US" sz="1600" dirty="0"/>
              <a:t> </a:t>
            </a:r>
            <a:r>
              <a:rPr lang="en-US" sz="1600" dirty="0" err="1"/>
              <a:t>că</a:t>
            </a:r>
            <a:r>
              <a:rPr lang="en-US" sz="1600" dirty="0"/>
              <a:t> </a:t>
            </a:r>
            <a:r>
              <a:rPr lang="en-US" sz="1600" dirty="0" err="1"/>
              <a:t>rezultatele</a:t>
            </a:r>
            <a:r>
              <a:rPr lang="en-US" sz="1600" dirty="0"/>
              <a:t> </a:t>
            </a:r>
            <a:r>
              <a:rPr lang="en-US" sz="1600" dirty="0" err="1"/>
              <a:t>rămân</a:t>
            </a:r>
            <a:r>
              <a:rPr lang="en-US" sz="1600" dirty="0"/>
              <a:t> </a:t>
            </a:r>
            <a:r>
              <a:rPr lang="en-US" sz="1600" dirty="0" err="1"/>
              <a:t>identice</a:t>
            </a:r>
            <a:r>
              <a:rPr lang="en-US" sz="1600" dirty="0"/>
              <a:t> </a:t>
            </a:r>
            <a:r>
              <a:rPr lang="ro-RO" sz="1600" dirty="0"/>
              <a:t>și știind că logica programului nu s-a schimbat </a:t>
            </a:r>
            <a:r>
              <a:rPr lang="en-US" sz="1600" dirty="0"/>
              <a:t>→ mutant </a:t>
            </a:r>
            <a:r>
              <a:rPr lang="en-US" sz="1600" dirty="0" err="1"/>
              <a:t>echivalent</a:t>
            </a:r>
            <a:endParaRPr lang="en-US" sz="16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4B5E215-83CF-4696-8243-08D2F6BB2EF6}"/>
              </a:ext>
            </a:extLst>
          </p:cNvPr>
          <p:cNvCxnSpPr>
            <a:cxnSpLocks/>
          </p:cNvCxnSpPr>
          <p:nvPr/>
        </p:nvCxnSpPr>
        <p:spPr>
          <a:xfrm>
            <a:off x="6704012" y="1643910"/>
            <a:ext cx="0" cy="422349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83F3A582-9DC5-4E19-A6BF-A299C048D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643" y="2971800"/>
            <a:ext cx="4735329" cy="304501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F69C398-60B3-4900-8573-7621CF64B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737" y="1842372"/>
            <a:ext cx="4503413" cy="2272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898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EA93-9A85-4513-B217-77546698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Concluzii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63E69-A84F-4BE3-83F3-FA72ACF94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Aplicația</a:t>
            </a:r>
            <a:r>
              <a:rPr lang="en-US" dirty="0"/>
              <a:t> a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modelată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analizată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graf</a:t>
            </a:r>
            <a:r>
              <a:rPr lang="en-US" dirty="0"/>
              <a:t> de control</a:t>
            </a:r>
          </a:p>
          <a:p>
            <a:r>
              <a:rPr lang="fr-FR" dirty="0"/>
              <a:t>Au </a:t>
            </a:r>
            <a:r>
              <a:rPr lang="fr-FR" dirty="0" err="1"/>
              <a:t>fost</a:t>
            </a:r>
            <a:r>
              <a:rPr lang="fr-FR" dirty="0"/>
              <a:t> </a:t>
            </a:r>
            <a:r>
              <a:rPr lang="fr-FR" dirty="0" err="1"/>
              <a:t>aplicate</a:t>
            </a:r>
            <a:r>
              <a:rPr lang="fr-FR" dirty="0"/>
              <a:t> </a:t>
            </a:r>
            <a:r>
              <a:rPr lang="fr-FR" dirty="0" err="1"/>
              <a:t>toate</a:t>
            </a:r>
            <a:r>
              <a:rPr lang="fr-FR" dirty="0"/>
              <a:t> </a:t>
            </a:r>
            <a:r>
              <a:rPr lang="fr-FR" dirty="0" err="1"/>
              <a:t>criteriile</a:t>
            </a:r>
            <a:r>
              <a:rPr lang="fr-FR" dirty="0"/>
              <a:t> de </a:t>
            </a:r>
            <a:r>
              <a:rPr lang="fr-FR" dirty="0" err="1"/>
              <a:t>testare</a:t>
            </a:r>
            <a:r>
              <a:rPr lang="fr-FR" dirty="0"/>
              <a:t> </a:t>
            </a:r>
            <a:r>
              <a:rPr lang="fr-FR" dirty="0" err="1"/>
              <a:t>structurală</a:t>
            </a:r>
            <a:r>
              <a:rPr lang="fr-FR" dirty="0"/>
              <a:t>:</a:t>
            </a:r>
            <a:br>
              <a:rPr lang="fr-FR" dirty="0"/>
            </a:br>
            <a:r>
              <a:rPr lang="fr-FR" dirty="0" err="1"/>
              <a:t>Statement</a:t>
            </a:r>
            <a:r>
              <a:rPr lang="fr-FR" dirty="0"/>
              <a:t>, </a:t>
            </a:r>
            <a:r>
              <a:rPr lang="fr-FR" dirty="0" err="1"/>
              <a:t>Decision</a:t>
            </a:r>
            <a:r>
              <a:rPr lang="fr-FR" dirty="0"/>
              <a:t>, Condition </a:t>
            </a:r>
            <a:r>
              <a:rPr lang="fr-FR" dirty="0" err="1"/>
              <a:t>și</a:t>
            </a:r>
            <a:r>
              <a:rPr lang="fr-FR" dirty="0"/>
              <a:t> MC/DC (100%)</a:t>
            </a:r>
            <a:endParaRPr lang="en-US" dirty="0"/>
          </a:p>
          <a:p>
            <a:r>
              <a:rPr lang="en-US" dirty="0" err="1"/>
              <a:t>Testele</a:t>
            </a:r>
            <a:r>
              <a:rPr lang="en-US" dirty="0"/>
              <a:t>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implementate</a:t>
            </a:r>
            <a:r>
              <a:rPr lang="en-US" dirty="0"/>
              <a:t> </a:t>
            </a:r>
            <a:r>
              <a:rPr lang="en-US" dirty="0" err="1"/>
              <a:t>folosind</a:t>
            </a:r>
            <a:r>
              <a:rPr lang="en-US" dirty="0"/>
              <a:t> JUnit,</a:t>
            </a:r>
            <a:br>
              <a:rPr lang="en-US" dirty="0"/>
            </a:br>
            <a:r>
              <a:rPr lang="en-US" dirty="0" err="1"/>
              <a:t>validând</a:t>
            </a:r>
            <a:r>
              <a:rPr lang="en-US" dirty="0"/>
              <a:t> automat </a:t>
            </a:r>
            <a:r>
              <a:rPr lang="en-US" dirty="0" err="1"/>
              <a:t>corectitudinea</a:t>
            </a:r>
            <a:r>
              <a:rPr lang="en-US" dirty="0"/>
              <a:t> </a:t>
            </a:r>
            <a:r>
              <a:rPr lang="en-US" dirty="0" err="1"/>
              <a:t>logicii</a:t>
            </a:r>
            <a:r>
              <a:rPr lang="en-US" dirty="0"/>
              <a:t> </a:t>
            </a:r>
            <a:r>
              <a:rPr lang="en-US" dirty="0" err="1"/>
              <a:t>aplicației</a:t>
            </a:r>
            <a:endParaRPr lang="en-US" dirty="0"/>
          </a:p>
          <a:p>
            <a:r>
              <a:rPr lang="en-US" dirty="0"/>
              <a:t>Mutation testing a </a:t>
            </a:r>
            <a:r>
              <a:rPr lang="en-US" dirty="0" err="1"/>
              <a:t>confirmat</a:t>
            </a:r>
            <a:r>
              <a:rPr lang="en-US" dirty="0"/>
              <a:t> </a:t>
            </a:r>
            <a:r>
              <a:rPr lang="en-US" dirty="0" err="1"/>
              <a:t>eficiența</a:t>
            </a:r>
            <a:r>
              <a:rPr lang="en-US" dirty="0"/>
              <a:t> </a:t>
            </a:r>
            <a:r>
              <a:rPr lang="en-US" dirty="0" err="1"/>
              <a:t>testelor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 err="1"/>
              <a:t>evidențiind</a:t>
            </a:r>
            <a:r>
              <a:rPr lang="en-US" dirty="0"/>
              <a:t> </a:t>
            </a:r>
            <a:r>
              <a:rPr lang="en-US" dirty="0" err="1"/>
              <a:t>atât</a:t>
            </a:r>
            <a:r>
              <a:rPr lang="en-US" dirty="0"/>
              <a:t> </a:t>
            </a:r>
            <a:r>
              <a:rPr lang="en-US" dirty="0" err="1"/>
              <a:t>mutanți</a:t>
            </a:r>
            <a:r>
              <a:rPr lang="en-US" dirty="0"/>
              <a:t> </a:t>
            </a:r>
            <a:r>
              <a:rPr lang="en-US" dirty="0" err="1"/>
              <a:t>eliminați</a:t>
            </a:r>
            <a:r>
              <a:rPr lang="en-US" dirty="0"/>
              <a:t>, </a:t>
            </a:r>
            <a:r>
              <a:rPr lang="en-US" dirty="0" err="1"/>
              <a:t>cât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cazuri</a:t>
            </a:r>
            <a:r>
              <a:rPr lang="en-US" dirty="0"/>
              <a:t> </a:t>
            </a:r>
            <a:r>
              <a:rPr lang="en-US" dirty="0" err="1"/>
              <a:t>limită</a:t>
            </a:r>
            <a:r>
              <a:rPr lang="en-US" dirty="0"/>
              <a:t> </a:t>
            </a:r>
            <a:r>
              <a:rPr lang="en-US" dirty="0" err="1"/>
              <a:t>nedetectate</a:t>
            </a:r>
            <a:endParaRPr lang="en-US" dirty="0"/>
          </a:p>
          <a:p>
            <a:r>
              <a:rPr lang="en-US" dirty="0" err="1"/>
              <a:t>Soluția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corectă</a:t>
            </a:r>
            <a:r>
              <a:rPr lang="en-US" dirty="0"/>
              <a:t>, </a:t>
            </a:r>
            <a:r>
              <a:rPr lang="en-US" dirty="0" err="1"/>
              <a:t>completă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bine </a:t>
            </a:r>
            <a:r>
              <a:rPr lang="en-US" dirty="0" err="1"/>
              <a:t>acoperită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teste</a:t>
            </a:r>
          </a:p>
        </p:txBody>
      </p:sp>
    </p:spTree>
    <p:extLst>
      <p:ext uri="{BB962C8B-B14F-4D97-AF65-F5344CB8AC3E}">
        <p14:creationId xmlns:p14="http://schemas.microsoft.com/office/powerpoint/2010/main" val="1028961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637</TotalTime>
  <Words>1145</Words>
  <Application>Microsoft Office PowerPoint</Application>
  <PresentationFormat>Custom</PresentationFormat>
  <Paragraphs>355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Tech 16x9</vt:lpstr>
      <vt:lpstr>Topici Speciale în BDTS</vt:lpstr>
      <vt:lpstr>Descrierea aplicației</vt:lpstr>
      <vt:lpstr>Aplicația – parametri de intrare / ieșire</vt:lpstr>
      <vt:lpstr>Decizii și condiții</vt:lpstr>
      <vt:lpstr>PowerPoint Presentation</vt:lpstr>
      <vt:lpstr>Legendă Teste</vt:lpstr>
      <vt:lpstr>Statement Coverage</vt:lpstr>
      <vt:lpstr>Decision Coverage</vt:lpstr>
      <vt:lpstr>Condition Coverage</vt:lpstr>
      <vt:lpstr>MC/DC Coverage</vt:lpstr>
      <vt:lpstr>MC/DC Coverage</vt:lpstr>
      <vt:lpstr>Testare automată – JUnit</vt:lpstr>
      <vt:lpstr>Mutation Testing</vt:lpstr>
      <vt:lpstr>GradeCheckMutantKilled</vt:lpstr>
      <vt:lpstr>GradeCheckMutantSurvived</vt:lpstr>
      <vt:lpstr>GradeCheckMutantEquivalent</vt:lpstr>
      <vt:lpstr>Concluzii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Topici Speciale în BDTS</dc:title>
  <dc:creator>MATEI DANIEL MINDRULEANU</dc:creator>
  <cp:lastModifiedBy>MATEI DANIEL MINDRULEANU</cp:lastModifiedBy>
  <cp:revision>35</cp:revision>
  <dcterms:created xsi:type="dcterms:W3CDTF">2026-04-22T14:44:19Z</dcterms:created>
  <dcterms:modified xsi:type="dcterms:W3CDTF">2026-04-23T08:06:21Z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